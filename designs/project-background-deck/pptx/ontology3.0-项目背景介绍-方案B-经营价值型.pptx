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c5f64c89714385" /><Relationship Type="http://schemas.openxmlformats.org/officeDocument/2006/relationships/extended-properties" Target="/docProps/app.xml" Id="Ra7f90f41a5584288" /><Relationship Type="http://schemas.openxmlformats.org/officeDocument/2006/relationships/officeDocument" Target="/ppt/presentation.xml" Id="R2c77ac747dbd41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65c046ef454fd5"/>
  </p:sldMasterIdLst>
  <p:notesMasterIdLst>
    <p:notesMasterId xmlns:r="http://schemas.openxmlformats.org/officeDocument/2006/relationships" r:id="Rda0b34928d1f489a"/>
  </p:notesMasterIdLst>
  <p:sldIdLst>
    <p:sldId xmlns:r="http://schemas.openxmlformats.org/officeDocument/2006/relationships" id="256" r:id="R8abdf2baca5a4ea6"/>
    <p:sldId xmlns:r="http://schemas.openxmlformats.org/officeDocument/2006/relationships" id="257" r:id="Reaa51a955e4d4312"/>
    <p:sldId xmlns:r="http://schemas.openxmlformats.org/officeDocument/2006/relationships" id="258" r:id="R0ea5be4addd54ccb"/>
    <p:sldId xmlns:r="http://schemas.openxmlformats.org/officeDocument/2006/relationships" id="259" r:id="Ra65c35a28d064d85"/>
    <p:sldId xmlns:r="http://schemas.openxmlformats.org/officeDocument/2006/relationships" id="260" r:id="R566b7af6bd2a4207"/>
    <p:sldId xmlns:r="http://schemas.openxmlformats.org/officeDocument/2006/relationships" id="261" r:id="Rc9dc7786dc944fc1"/>
    <p:sldId xmlns:r="http://schemas.openxmlformats.org/officeDocument/2006/relationships" id="262" r:id="R3af0d5dfaf9d4d04"/>
    <p:sldId xmlns:r="http://schemas.openxmlformats.org/officeDocument/2006/relationships" id="263" r:id="R878e3219d6624f1c"/>
    <p:sldId xmlns:r="http://schemas.openxmlformats.org/officeDocument/2006/relationships" id="264" r:id="Rd59b85430a1c4aa3"/>
    <p:sldId xmlns:r="http://schemas.openxmlformats.org/officeDocument/2006/relationships" id="265" r:id="R392cbf6be4974bef"/>
    <p:sldId xmlns:r="http://schemas.openxmlformats.org/officeDocument/2006/relationships" id="266" r:id="R34ad975b99bd4019"/>
    <p:sldId xmlns:r="http://schemas.openxmlformats.org/officeDocument/2006/relationships" id="267" r:id="Rdb36adfc37c14b82"/>
    <p:sldId xmlns:r="http://schemas.openxmlformats.org/officeDocument/2006/relationships" id="268" r:id="R8f56a474d6394e66"/>
    <p:sldId xmlns:r="http://schemas.openxmlformats.org/officeDocument/2006/relationships" id="269" r:id="R9cbb6924d84e496a"/>
    <p:sldId xmlns:r="http://schemas.openxmlformats.org/officeDocument/2006/relationships" id="270" r:id="Rcd466d9da5874cc4"/>
    <p:sldId xmlns:r="http://schemas.openxmlformats.org/officeDocument/2006/relationships" id="271" r:id="R6ca4e58af3cd48c8"/>
    <p:sldId xmlns:r="http://schemas.openxmlformats.org/officeDocument/2006/relationships" id="272" r:id="R608cd0c9cfb44f41"/>
    <p:sldId xmlns:r="http://schemas.openxmlformats.org/officeDocument/2006/relationships" id="273" r:id="Rebdd3e8c29514c70"/>
    <p:sldId xmlns:r="http://schemas.openxmlformats.org/officeDocument/2006/relationships" id="274" r:id="R4f4d6ffc3b4b425f"/>
    <p:sldId xmlns:r="http://schemas.openxmlformats.org/officeDocument/2006/relationships" id="275" r:id="R30a9eb3fbbe44adb"/>
    <p:sldId xmlns:r="http://schemas.openxmlformats.org/officeDocument/2006/relationships" id="276" r:id="Rb33b2fa1cdc8434b"/>
    <p:sldId xmlns:r="http://schemas.openxmlformats.org/officeDocument/2006/relationships" id="277" r:id="Rba55f04acc5c4c58"/>
    <p:sldId xmlns:r="http://schemas.openxmlformats.org/officeDocument/2006/relationships" id="278" r:id="R382b291e2ed14b9e"/>
    <p:sldId xmlns:r="http://schemas.openxmlformats.org/officeDocument/2006/relationships" id="279" r:id="Rdbc260b419bb41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b4c0b40f2047ae" /><Relationship Type="http://schemas.openxmlformats.org/officeDocument/2006/relationships/slideMaster" Target="/ppt/slideMasters/slideMaster1.xml" Id="Rb865c046ef454fd5" /><Relationship Type="http://schemas.openxmlformats.org/officeDocument/2006/relationships/notesMaster" Target="/ppt/notesMasters/notesMaster1.xml" Id="Rda0b34928d1f489a" /><Relationship Type="http://schemas.openxmlformats.org/officeDocument/2006/relationships/presProps" Target="/ppt/presProps.xml" Id="R9de75a3f2bd24b56" /><Relationship Type="http://schemas.openxmlformats.org/officeDocument/2006/relationships/viewProps" Target="/ppt/viewProps.xml" Id="R9ca03a817fec427e" /><Relationship Type="http://schemas.openxmlformats.org/officeDocument/2006/relationships/tableStyles" Target="/ppt/tableStyles.xml" Id="R8f431a23728a430e" /><Relationship Type="http://schemas.openxmlformats.org/officeDocument/2006/relationships/slide" Target="/ppt/slides/slide1.xml" Id="R8abdf2baca5a4ea6" /><Relationship Type="http://schemas.openxmlformats.org/officeDocument/2006/relationships/slide" Target="/ppt/slides/slide2.xml" Id="Reaa51a955e4d4312" /><Relationship Type="http://schemas.openxmlformats.org/officeDocument/2006/relationships/slide" Target="/ppt/slides/slide3.xml" Id="R0ea5be4addd54ccb" /><Relationship Type="http://schemas.openxmlformats.org/officeDocument/2006/relationships/slide" Target="/ppt/slides/slide4.xml" Id="Ra65c35a28d064d85" /><Relationship Type="http://schemas.openxmlformats.org/officeDocument/2006/relationships/slide" Target="/ppt/slides/slide5.xml" Id="R566b7af6bd2a4207" /><Relationship Type="http://schemas.openxmlformats.org/officeDocument/2006/relationships/slide" Target="/ppt/slides/slide6.xml" Id="Rc9dc7786dc944fc1" /><Relationship Type="http://schemas.openxmlformats.org/officeDocument/2006/relationships/slide" Target="/ppt/slides/slide7.xml" Id="R3af0d5dfaf9d4d04" /><Relationship Type="http://schemas.openxmlformats.org/officeDocument/2006/relationships/slide" Target="/ppt/slides/slide8.xml" Id="R878e3219d6624f1c" /><Relationship Type="http://schemas.openxmlformats.org/officeDocument/2006/relationships/slide" Target="/ppt/slides/slide9.xml" Id="Rd59b85430a1c4aa3" /><Relationship Type="http://schemas.openxmlformats.org/officeDocument/2006/relationships/slide" Target="/ppt/slides/slide10.xml" Id="R392cbf6be4974bef" /><Relationship Type="http://schemas.openxmlformats.org/officeDocument/2006/relationships/slide" Target="/ppt/slides/slide11.xml" Id="R34ad975b99bd4019" /><Relationship Type="http://schemas.openxmlformats.org/officeDocument/2006/relationships/slide" Target="/ppt/slides/slide12.xml" Id="Rdb36adfc37c14b82" /><Relationship Type="http://schemas.openxmlformats.org/officeDocument/2006/relationships/slide" Target="/ppt/slides/slide13.xml" Id="R8f56a474d6394e66" /><Relationship Type="http://schemas.openxmlformats.org/officeDocument/2006/relationships/slide" Target="/ppt/slides/slide14.xml" Id="R9cbb6924d84e496a" /><Relationship Type="http://schemas.openxmlformats.org/officeDocument/2006/relationships/slide" Target="/ppt/slides/slide15.xml" Id="Rcd466d9da5874cc4" /><Relationship Type="http://schemas.openxmlformats.org/officeDocument/2006/relationships/slide" Target="/ppt/slides/slide16.xml" Id="R6ca4e58af3cd48c8" /><Relationship Type="http://schemas.openxmlformats.org/officeDocument/2006/relationships/slide" Target="/ppt/slides/slide17.xml" Id="R608cd0c9cfb44f41" /><Relationship Type="http://schemas.openxmlformats.org/officeDocument/2006/relationships/slide" Target="/ppt/slides/slide18.xml" Id="Rebdd3e8c29514c70" /><Relationship Type="http://schemas.openxmlformats.org/officeDocument/2006/relationships/slide" Target="/ppt/slides/slide19.xml" Id="R4f4d6ffc3b4b425f" /><Relationship Type="http://schemas.openxmlformats.org/officeDocument/2006/relationships/slide" Target="/ppt/slides/slide20.xml" Id="R30a9eb3fbbe44adb" /><Relationship Type="http://schemas.openxmlformats.org/officeDocument/2006/relationships/slide" Target="/ppt/slides/slide21.xml" Id="Rb33b2fa1cdc8434b" /><Relationship Type="http://schemas.openxmlformats.org/officeDocument/2006/relationships/slide" Target="/ppt/slides/slide22.xml" Id="Rba55f04acc5c4c58" /><Relationship Type="http://schemas.openxmlformats.org/officeDocument/2006/relationships/slide" Target="/ppt/slides/slide23.xml" Id="R382b291e2ed14b9e" /><Relationship Type="http://schemas.openxmlformats.org/officeDocument/2006/relationships/slide" Target="/ppt/slides/slide24.xml" Id="Rdbc260b419bb41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228b735e8245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12809dbb0a48ab" /><Relationship Type="http://schemas.openxmlformats.org/officeDocument/2006/relationships/notesMaster" Target="/ppt/notesMasters/notesMaster1.xml" Id="R2418bfa9108d4a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50b9b764cb4e95" /><Relationship Type="http://schemas.openxmlformats.org/officeDocument/2006/relationships/notesMaster" Target="/ppt/notesMasters/notesMaster1.xml" Id="Ra9f1e745f37e47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64ed23db164486" /><Relationship Type="http://schemas.openxmlformats.org/officeDocument/2006/relationships/notesMaster" Target="/ppt/notesMasters/notesMaster1.xml" Id="Rcc65532d0e3949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f44ebfb6c245b7" /><Relationship Type="http://schemas.openxmlformats.org/officeDocument/2006/relationships/notesMaster" Target="/ppt/notesMasters/notesMaster1.xml" Id="R015b99e8cc8742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fc83e349f940f4" /><Relationship Type="http://schemas.openxmlformats.org/officeDocument/2006/relationships/notesMaster" Target="/ppt/notesMasters/notesMaster1.xml" Id="R40e769eb7c5344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98fbb1fcf4732" /><Relationship Type="http://schemas.openxmlformats.org/officeDocument/2006/relationships/notesMaster" Target="/ppt/notesMasters/notesMaster1.xml" Id="R633c3880380540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bc3b267f014941" /><Relationship Type="http://schemas.openxmlformats.org/officeDocument/2006/relationships/notesMaster" Target="/ppt/notesMasters/notesMaster1.xml" Id="R02340581f69446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ff97dff6834452" /><Relationship Type="http://schemas.openxmlformats.org/officeDocument/2006/relationships/notesMaster" Target="/ppt/notesMasters/notesMaster1.xml" Id="R55a903a4361344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ffbe199cbf4cc9" /><Relationship Type="http://schemas.openxmlformats.org/officeDocument/2006/relationships/notesMaster" Target="/ppt/notesMasters/notesMaster1.xml" Id="R579bfa53a80e49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44769fc2b543a0" /><Relationship Type="http://schemas.openxmlformats.org/officeDocument/2006/relationships/notesMaster" Target="/ppt/notesMasters/notesMaster1.xml" Id="Rb71e6359db5242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84fe42b4894ade" /><Relationship Type="http://schemas.openxmlformats.org/officeDocument/2006/relationships/notesMaster" Target="/ppt/notesMasters/notesMaster1.xml" Id="R05018b40b7a74a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a73e19081c434c" /><Relationship Type="http://schemas.openxmlformats.org/officeDocument/2006/relationships/notesMaster" Target="/ppt/notesMasters/notesMaster1.xml" Id="Rbee6fd926d9c40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7b34267bc2490b" /><Relationship Type="http://schemas.openxmlformats.org/officeDocument/2006/relationships/notesMaster" Target="/ppt/notesMasters/notesMaster1.xml" Id="R8814a13ddbf64a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c5717e5f294b92" /><Relationship Type="http://schemas.openxmlformats.org/officeDocument/2006/relationships/notesMaster" Target="/ppt/notesMasters/notesMaster1.xml" Id="R06b2ce8495ae4a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d0bfbf0af243b5" /><Relationship Type="http://schemas.openxmlformats.org/officeDocument/2006/relationships/notesMaster" Target="/ppt/notesMasters/notesMaster1.xml" Id="R56105eb560e749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7b8befdefc486e" /><Relationship Type="http://schemas.openxmlformats.org/officeDocument/2006/relationships/notesMaster" Target="/ppt/notesMasters/notesMaster1.xml" Id="R2b88636b34d243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99535ce1b1408d" /><Relationship Type="http://schemas.openxmlformats.org/officeDocument/2006/relationships/notesMaster" Target="/ppt/notesMasters/notesMaster1.xml" Id="R28fde02b811e42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903216ed494e06" /><Relationship Type="http://schemas.openxmlformats.org/officeDocument/2006/relationships/notesMaster" Target="/ppt/notesMasters/notesMaster1.xml" Id="R34aeacddd4ff4e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6633fbd3244d16" /><Relationship Type="http://schemas.openxmlformats.org/officeDocument/2006/relationships/notesMaster" Target="/ppt/notesMasters/notesMaster1.xml" Id="R41e3adeda35449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b6de3ab9dc4cfb" /><Relationship Type="http://schemas.openxmlformats.org/officeDocument/2006/relationships/notesMaster" Target="/ppt/notesMasters/notesMaster1.xml" Id="R0c356448fda043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9e893d3e9794fa9" /><Relationship Type="http://schemas.openxmlformats.org/officeDocument/2006/relationships/notesMaster" Target="/ppt/notesMasters/notesMaster1.xml" Id="Re15336e429614b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a5cc72e83ed4e44" /><Relationship Type="http://schemas.openxmlformats.org/officeDocument/2006/relationships/notesMaster" Target="/ppt/notesMasters/notesMaster1.xml" Id="Rf689499822274c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14845b1ae74619" /><Relationship Type="http://schemas.openxmlformats.org/officeDocument/2006/relationships/notesMaster" Target="/ppt/notesMasters/notesMaster1.xml" Id="Rf6bdee98cdf947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8a51221a6e74ab6" /><Relationship Type="http://schemas.openxmlformats.org/officeDocument/2006/relationships/notesMaster" Target="/ppt/notesMasters/notesMaster1.xml" Id="R8a097e84b28c4d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团队姓名、部门和分工来自用户本轮提供的信息；正式参赛前建议团队复核一次。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/Users/domi/Public/Vibecoding/ontology3.0/deliverables/新项目功能设计-阶段4决策中心-v0.1.md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- /Users/domi/Public/Vibecoding/ontology3.0/deliverables/新项目功能设计-阶段5Agent应用-v0.1.md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/Users/domi/Public/Vibecoding/ontology3.0/deliverables/新项目功能设计-阶段6报告中心-v0.1.md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/Users/domi/Public/Vibecoding/ontology3.0/deliverables/新项目功能设计-阶段4决策中心-v0.1.md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/Users/domi/Public/Vibecoding/ontology3.0/deliverables/新项目功能设计-阶段5Agent应用-v0.1.md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606f2dffd44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8dbcf25414b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15fbd4aa54a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d2bfb6bbd46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6cb0ecf0f49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49dab4c11403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c988b997946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80b0da5ec47e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50c0280b144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4d87e5fb549f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31073bee64cd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004C9C-142E-459E-B4E9-2790129A7B8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067DC78-783A-460D-9961-4DCE061CE5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2A4F6C6-FE0C-452E-853B-2FE044DE2E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BCC8A3C-646D-4DD3-A4C0-4349BC6C9F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6E8F1BD-B305-4BDC-8E0C-786A12A3681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86F544-1432-4DDF-A30A-7D5E54347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E08C6CF-7B25-485B-AC08-9B5583EC80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704CACE-F242-43D7-9EDD-29CC9CC176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A5836DC-78D0-4F6D-8D79-108D1EB754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FC3B779-F4B3-4094-8CA3-AA21C64FA7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8318C2-0A95-4907-88A9-963D662AF9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B872AB8-1C7F-412A-8DC2-E166621B56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141DCC-8002-4767-95BA-9B6A01DFF3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8F1EAD-508C-462A-B48C-1A5F9FDE4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C9740B-F9CC-47CE-A672-9A7675A609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073D0C-8716-47A3-B64E-2F371EB56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EDC51E1-E574-425C-83C1-2F7FF7D3C5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428DA73-8A59-4967-9784-981A7F29B1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4D7DFA9-3A89-4003-9D7B-15941B8AF6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E104E83-DCAD-4A49-81AA-805D7BE81D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EC65D0-8835-47F3-A03F-8C3251028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366590-A93C-42A3-8FA0-1C7C068782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5ABD36-F478-4E54-BE5F-F85148118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96661D4-E41F-4D09-AA92-90C20C8315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2BAE448-3A41-4251-898C-397391AA9FD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AC4466-48A7-4E36-B876-BF746D34DE8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79B426B-3B0A-487D-B745-CC8FD1F99C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97241D4-AE37-4DB1-B803-9F61BB41A3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6A297BA-CE7A-4EF3-8912-9778A12CEE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88C6D97-1698-40F3-A235-A4BAE8AE4A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E55BF1F-D9DF-42A8-84C2-496B121A4E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0321BEF-2604-45F4-8CEB-9ED357B011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94635F7-23FE-4099-A41C-4E51067FF0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AD71A98-5078-4A1D-A16F-DC7257B0C6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588766D-819C-4E7B-A164-91FB4F1FEF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95D1D7F-4BEF-4864-97B3-E8A628E1B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386D34-6B67-4E92-9C3E-3B6B3F8965A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1F11C9A-5DC9-4374-9651-183D61552C3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D3F5943-0628-43B9-BDED-D418740D59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855F929-8BF6-4BD7-8B7B-733C8783F1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B76B3C9-A1FF-43DE-ABF7-48D4633156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AE77B1C-4F91-44E8-9010-CB4CB32260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89C605C-6B20-4AE4-85C6-0C4DED66B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3B755D2-6AFE-4807-BC4B-8D2ED784DB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D8ECFC-4A0A-48DC-905B-C41CC297DD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B8FF409-E56D-49FB-8C08-5D5897A9B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F7EC054-FD24-47BC-9BC4-F323ACD952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F0BB129-1682-448F-8564-760B9E633A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DA64B4F-AA45-4250-808A-E3972F5B5E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9C25DE9-B0E3-4845-BAB5-752F99FCE8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65325217-204B-4EC2-8AD8-23E25EAC0D04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AECF964-6766-4FF9-A2AB-DD09C109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384" y="6257290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 sz="900"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3C9FEF7-0B10-4E72-ABAC-B04ADD7C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" y="6340475"/>
            <a:ext cx="4064000" cy="1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 b="1">
                <a:solidFill>
                  <a:srgbClr val="009FE8"/>
                </a:solidFill>
                <a:latin typeface="微软雅黑"/>
                <a:ea typeface="微软雅黑"/>
                <a:cs typeface="微软雅黑"/>
              </a:rPr>
              <a:t>安全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B5B5B6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7FBE25"/>
                </a:solidFill>
                <a:latin typeface="微软雅黑"/>
                <a:ea typeface="微软雅黑"/>
                <a:cs typeface="微软雅黑"/>
              </a:rPr>
              <a:t>绿色</a:t>
            </a:r>
            <a:r>
              <a:rPr sz="700" b="1">
                <a:solidFill>
                  <a:srgbClr val="7FBE2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B5B5B6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459946"/>
                </a:solidFill>
                <a:latin typeface="微软雅黑"/>
                <a:ea typeface="微软雅黑"/>
                <a:cs typeface="微软雅黑"/>
              </a:rPr>
              <a:t>创新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B5B5B6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EC6D00"/>
                </a:solidFill>
                <a:latin typeface="微软雅黑"/>
                <a:ea typeface="微软雅黑"/>
                <a:cs typeface="微软雅黑"/>
              </a:rPr>
              <a:t>担当</a:t>
            </a:r>
            <a:endParaRPr sz="700" b="1">
              <a:solidFill>
                <a:srgbClr val="EC6D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af513a11f34371" /><Relationship Type="http://schemas.openxmlformats.org/officeDocument/2006/relationships/slideLayout" Target="/ppt/slideLayouts/slideLayout1.xml" Id="Ra086b3332e904be1" /><Relationship Type="http://schemas.openxmlformats.org/officeDocument/2006/relationships/slideLayout" Target="/ppt/slideLayouts/slideLayout2.xml" Id="Rdaeee881fa2b49f5" /><Relationship Type="http://schemas.openxmlformats.org/officeDocument/2006/relationships/slideLayout" Target="/ppt/slideLayouts/slideLayout3.xml" Id="R34674bb932984317" /><Relationship Type="http://schemas.openxmlformats.org/officeDocument/2006/relationships/slideLayout" Target="/ppt/slideLayouts/slideLayout4.xml" Id="R265dbee5f77a4109" /><Relationship Type="http://schemas.openxmlformats.org/officeDocument/2006/relationships/slideLayout" Target="/ppt/slideLayouts/slideLayout5.xml" Id="Rab9ca309db38492a" /><Relationship Type="http://schemas.openxmlformats.org/officeDocument/2006/relationships/slideLayout" Target="/ppt/slideLayouts/slideLayout6.xml" Id="R1c9b70a969734e77" /><Relationship Type="http://schemas.openxmlformats.org/officeDocument/2006/relationships/slideLayout" Target="/ppt/slideLayouts/slideLayout7.xml" Id="R4ff1fdf250da4fdf" /><Relationship Type="http://schemas.openxmlformats.org/officeDocument/2006/relationships/slideLayout" Target="/ppt/slideLayouts/slideLayout8.xml" Id="R416aca6440ad4292" /><Relationship Type="http://schemas.openxmlformats.org/officeDocument/2006/relationships/slideLayout" Target="/ppt/slideLayouts/slideLayout9.xml" Id="R6b71a1577a7d452e" /><Relationship Type="http://schemas.openxmlformats.org/officeDocument/2006/relationships/slideLayout" Target="/ppt/slideLayouts/slideLayout10.xml" Id="Rfb6d9e1e99374ac9" /><Relationship Type="http://schemas.openxmlformats.org/officeDocument/2006/relationships/slideLayout" Target="/ppt/slideLayouts/slideLayout11.xml" Id="R1b3cba3f632b48c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00EA75B-5F2A-4291-A55B-930ED3A10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E1FF062-3050-433A-9368-7F3955B54C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F2D20C6-FBF3-4F56-BC99-67FEBD72205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0AEED80-ACCD-4FBF-B660-8E9AC3A18F7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C62529D-25DB-4217-BAD5-E175BE07999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86b3332e904be1"/>
    <p:sldLayoutId xmlns:r="http://schemas.openxmlformats.org/officeDocument/2006/relationships" id="2147483650" r:id="Rdaeee881fa2b49f5"/>
    <p:sldLayoutId xmlns:r="http://schemas.openxmlformats.org/officeDocument/2006/relationships" id="2147483651" r:id="R34674bb932984317"/>
    <p:sldLayoutId xmlns:r="http://schemas.openxmlformats.org/officeDocument/2006/relationships" id="2147483652" r:id="R265dbee5f77a4109"/>
    <p:sldLayoutId xmlns:r="http://schemas.openxmlformats.org/officeDocument/2006/relationships" id="2147483653" r:id="Rab9ca309db38492a"/>
    <p:sldLayoutId xmlns:r="http://schemas.openxmlformats.org/officeDocument/2006/relationships" id="2147483654" r:id="R1c9b70a969734e77"/>
    <p:sldLayoutId xmlns:r="http://schemas.openxmlformats.org/officeDocument/2006/relationships" id="2147483655" r:id="R4ff1fdf250da4fdf"/>
    <p:sldLayoutId xmlns:r="http://schemas.openxmlformats.org/officeDocument/2006/relationships" id="2147483656" r:id="R416aca6440ad4292"/>
    <p:sldLayoutId xmlns:r="http://schemas.openxmlformats.org/officeDocument/2006/relationships" id="2147483657" r:id="R6b71a1577a7d452e"/>
    <p:sldLayoutId xmlns:r="http://schemas.openxmlformats.org/officeDocument/2006/relationships" id="2147483658" r:id="Rfb6d9e1e99374ac9"/>
    <p:sldLayoutId xmlns:r="http://schemas.openxmlformats.org/officeDocument/2006/relationships" id="2147483659" r:id="R1b3cba3f632b48c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9229b09c04d74" /><Relationship Type="http://schemas.openxmlformats.org/officeDocument/2006/relationships/image" Target="/ppt/media/image.jpeg" Id="R18e8cea4ef3f4a63" /><Relationship Type="http://schemas.openxmlformats.org/officeDocument/2006/relationships/notesSlide" Target="/ppt/notesSlides/notesSlide1.xml" Id="Rc8960323234249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839e9cee22e4563" /><Relationship Type="http://schemas.openxmlformats.org/officeDocument/2006/relationships/image" Target="/ppt/media/image.png" Id="Ra2314df8dcd14b96" /><Relationship Type="http://schemas.openxmlformats.org/officeDocument/2006/relationships/image" Target="/ppt/media/image2.png" Id="Rebc3dfc98d724fd2" /><Relationship Type="http://schemas.openxmlformats.org/officeDocument/2006/relationships/notesSlide" Target="/ppt/notesSlides/notesSlide2.xml" Id="R211ce518c7c746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3eadd6e03bd4523" /><Relationship Type="http://schemas.openxmlformats.org/officeDocument/2006/relationships/image" Target="/ppt/media/image.png" Id="Rc77f406faca64b7c" /><Relationship Type="http://schemas.openxmlformats.org/officeDocument/2006/relationships/image" Target="/ppt/media/image2.png" Id="Rb56553af174747b2" /><Relationship Type="http://schemas.openxmlformats.org/officeDocument/2006/relationships/notesSlide" Target="/ppt/notesSlides/notesSlide3.xml" Id="Racb0e06c7e5b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541bad17a974aa9" /><Relationship Type="http://schemas.openxmlformats.org/officeDocument/2006/relationships/image" Target="/ppt/media/image.png" Id="R164a76ad07734f76" /><Relationship Type="http://schemas.openxmlformats.org/officeDocument/2006/relationships/image" Target="/ppt/media/image2.png" Id="R601367556eb8485e" /><Relationship Type="http://schemas.openxmlformats.org/officeDocument/2006/relationships/notesSlide" Target="/ppt/notesSlides/notesSlide4.xml" Id="Rced96831c1d94c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450c5a8cc4b4396" /><Relationship Type="http://schemas.openxmlformats.org/officeDocument/2006/relationships/image" Target="/ppt/media/image.png" Id="R1a10411a2ac9423f" /><Relationship Type="http://schemas.openxmlformats.org/officeDocument/2006/relationships/image" Target="/ppt/media/image2.png" Id="Rb256967c1758498a" /><Relationship Type="http://schemas.openxmlformats.org/officeDocument/2006/relationships/notesSlide" Target="/ppt/notesSlides/notesSlide5.xml" Id="R4f5aa7ade17e4d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db3a088c0534a0c" /><Relationship Type="http://schemas.openxmlformats.org/officeDocument/2006/relationships/image" Target="/ppt/media/image.png" Id="R3f5abe77bbb6446f" /><Relationship Type="http://schemas.openxmlformats.org/officeDocument/2006/relationships/image" Target="/ppt/media/image2.png" Id="R6ad41387f98d4271" /><Relationship Type="http://schemas.openxmlformats.org/officeDocument/2006/relationships/notesSlide" Target="/ppt/notesSlides/notesSlide6.xml" Id="Rc4c7cf786ee247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829ca94c61b49fa" /><Relationship Type="http://schemas.openxmlformats.org/officeDocument/2006/relationships/image" Target="/ppt/media/image.png" Id="Rfab2c4fd5af546e2" /><Relationship Type="http://schemas.openxmlformats.org/officeDocument/2006/relationships/image" Target="/ppt/media/image2.png" Id="R157f3c5381a14697" /><Relationship Type="http://schemas.openxmlformats.org/officeDocument/2006/relationships/notesSlide" Target="/ppt/notesSlides/notesSlide7.xml" Id="Rf470af7a367548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c903f7396a74cf2" /><Relationship Type="http://schemas.openxmlformats.org/officeDocument/2006/relationships/image" Target="/ppt/media/image.png" Id="Rb83151db192840c0" /><Relationship Type="http://schemas.openxmlformats.org/officeDocument/2006/relationships/image" Target="/ppt/media/image2.png" Id="R85b14dbc7a7948cc" /><Relationship Type="http://schemas.openxmlformats.org/officeDocument/2006/relationships/notesSlide" Target="/ppt/notesSlides/notesSlide8.xml" Id="Rb8d777a1c91345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5081e171a844e91" /><Relationship Type="http://schemas.openxmlformats.org/officeDocument/2006/relationships/image" Target="/ppt/media/image.png" Id="R0e1a0abee7e84b79" /><Relationship Type="http://schemas.openxmlformats.org/officeDocument/2006/relationships/image" Target="/ppt/media/image2.png" Id="Rcace761f7be748c2" /><Relationship Type="http://schemas.openxmlformats.org/officeDocument/2006/relationships/notesSlide" Target="/ppt/notesSlides/notesSlide9.xml" Id="Rb1735d88500743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ced49af147442b8" /><Relationship Type="http://schemas.openxmlformats.org/officeDocument/2006/relationships/image" Target="/ppt/media/image.png" Id="R82045166d4ea47f3" /><Relationship Type="http://schemas.openxmlformats.org/officeDocument/2006/relationships/image" Target="/ppt/media/image2.png" Id="R9b69adbf18fb44eb" /><Relationship Type="http://schemas.openxmlformats.org/officeDocument/2006/relationships/notesSlide" Target="/ppt/notesSlides/notesSlide10.xml" Id="Rbabfd6c23ea348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ee3574c674a4fb5" /><Relationship Type="http://schemas.openxmlformats.org/officeDocument/2006/relationships/image" Target="/ppt/media/image.png" Id="R67871d33d5fd41f5" /><Relationship Type="http://schemas.openxmlformats.org/officeDocument/2006/relationships/image" Target="/ppt/media/image2.png" Id="R4a66881594b6445b" /><Relationship Type="http://schemas.openxmlformats.org/officeDocument/2006/relationships/notesSlide" Target="/ppt/notesSlides/notesSlide11.xml" Id="Rf40be8d8f5f148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8a2ba0f19ef42f1" /><Relationship Type="http://schemas.openxmlformats.org/officeDocument/2006/relationships/image" Target="/ppt/media/image.png" Id="R495c7a4221db404f" /><Relationship Type="http://schemas.openxmlformats.org/officeDocument/2006/relationships/image" Target="/ppt/media/image2.png" Id="Rd0d47cf5b0b34268" /><Relationship Type="http://schemas.openxmlformats.org/officeDocument/2006/relationships/notesSlide" Target="/ppt/notesSlides/notesSlide12.xml" Id="R0b70754efd1d4b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4485fc58d0241f7" /><Relationship Type="http://schemas.openxmlformats.org/officeDocument/2006/relationships/image" Target="/ppt/media/image.png" Id="Rbf9660e1beb04aa8" /><Relationship Type="http://schemas.openxmlformats.org/officeDocument/2006/relationships/image" Target="/ppt/media/image2.png" Id="R5b1ce2cb1ea446b3" /><Relationship Type="http://schemas.openxmlformats.org/officeDocument/2006/relationships/notesSlide" Target="/ppt/notesSlides/notesSlide13.xml" Id="R9b92625fca6040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9d4975aac1843f9" /><Relationship Type="http://schemas.openxmlformats.org/officeDocument/2006/relationships/image" Target="/ppt/media/image.png" Id="Raafde0796a2349a3" /><Relationship Type="http://schemas.openxmlformats.org/officeDocument/2006/relationships/image" Target="/ppt/media/image2.png" Id="R03258072851940bb" /><Relationship Type="http://schemas.openxmlformats.org/officeDocument/2006/relationships/notesSlide" Target="/ppt/notesSlides/notesSlide14.xml" Id="Rbc6c11bfefe242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e144b8796a04ce6" /><Relationship Type="http://schemas.openxmlformats.org/officeDocument/2006/relationships/image" Target="/ppt/media/image.png" Id="Ra268420633944575" /><Relationship Type="http://schemas.openxmlformats.org/officeDocument/2006/relationships/image" Target="/ppt/media/image2.png" Id="R024ae941382a493c" /><Relationship Type="http://schemas.openxmlformats.org/officeDocument/2006/relationships/notesSlide" Target="/ppt/notesSlides/notesSlide15.xml" Id="Rbccd14c2a28844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1acbb5cbc804955" /><Relationship Type="http://schemas.openxmlformats.org/officeDocument/2006/relationships/image" Target="/ppt/media/image.png" Id="R8b6dedf3e9a54a9f" /><Relationship Type="http://schemas.openxmlformats.org/officeDocument/2006/relationships/image" Target="/ppt/media/image2.png" Id="R6d7eb2da9c0744bf" /><Relationship Type="http://schemas.openxmlformats.org/officeDocument/2006/relationships/notesSlide" Target="/ppt/notesSlides/notesSlide16.xml" Id="R5863e054157944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49407e5edf845fc" /><Relationship Type="http://schemas.openxmlformats.org/officeDocument/2006/relationships/image" Target="/ppt/media/image.png" Id="R97e68d7b4aba4fa8" /><Relationship Type="http://schemas.openxmlformats.org/officeDocument/2006/relationships/image" Target="/ppt/media/image2.png" Id="Rbde85716c20f417d" /><Relationship Type="http://schemas.openxmlformats.org/officeDocument/2006/relationships/notesSlide" Target="/ppt/notesSlides/notesSlide17.xml" Id="Rd2bc6440b5e94d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fb3606f9d084e72" /><Relationship Type="http://schemas.openxmlformats.org/officeDocument/2006/relationships/image" Target="/ppt/media/image.png" Id="R8b2cc8ca5e6d423f" /><Relationship Type="http://schemas.openxmlformats.org/officeDocument/2006/relationships/image" Target="/ppt/media/image2.png" Id="Rf27d047a3a3d442b" /><Relationship Type="http://schemas.openxmlformats.org/officeDocument/2006/relationships/notesSlide" Target="/ppt/notesSlides/notesSlide18.xml" Id="R8ecbae89238b44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2134c558d0b4773" /><Relationship Type="http://schemas.openxmlformats.org/officeDocument/2006/relationships/image" Target="/ppt/media/image.png" Id="Rf49aec8e9a974cc7" /><Relationship Type="http://schemas.openxmlformats.org/officeDocument/2006/relationships/image" Target="/ppt/media/image2.png" Id="Rd8f19538115b4b1e" /><Relationship Type="http://schemas.openxmlformats.org/officeDocument/2006/relationships/notesSlide" Target="/ppt/notesSlides/notesSlide19.xml" Id="R688a82eb622842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a6a9d1df7f74ba0" /><Relationship Type="http://schemas.openxmlformats.org/officeDocument/2006/relationships/image" Target="/ppt/media/image.png" Id="R5760b42d12b4480c" /><Relationship Type="http://schemas.openxmlformats.org/officeDocument/2006/relationships/image" Target="/ppt/media/image2.png" Id="R9b0d6868dcc24c61" /><Relationship Type="http://schemas.openxmlformats.org/officeDocument/2006/relationships/notesSlide" Target="/ppt/notesSlides/notesSlide20.xml" Id="Re9e7ab07018540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309804f0d4d4abd" /><Relationship Type="http://schemas.openxmlformats.org/officeDocument/2006/relationships/image" Target="/ppt/media/image.png" Id="R5bc9181195e24b89" /><Relationship Type="http://schemas.openxmlformats.org/officeDocument/2006/relationships/image" Target="/ppt/media/image2.png" Id="Rf056e96161544abe" /><Relationship Type="http://schemas.openxmlformats.org/officeDocument/2006/relationships/notesSlide" Target="/ppt/notesSlides/notesSlide21.xml" Id="R7a75e972e17d40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5f5a7eb202444b3" /><Relationship Type="http://schemas.openxmlformats.org/officeDocument/2006/relationships/image" Target="/ppt/media/image.png" Id="Re285253262624828" /><Relationship Type="http://schemas.openxmlformats.org/officeDocument/2006/relationships/image" Target="/ppt/media/image2.png" Id="R833b96846e474585" /><Relationship Type="http://schemas.openxmlformats.org/officeDocument/2006/relationships/notesSlide" Target="/ppt/notesSlides/notesSlide22.xml" Id="R467858ce346f4d7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a4bfb2b84ec41d5" /><Relationship Type="http://schemas.openxmlformats.org/officeDocument/2006/relationships/image" Target="/ppt/media/image.png" Id="Rbd19752bf1374c56" /><Relationship Type="http://schemas.openxmlformats.org/officeDocument/2006/relationships/image" Target="/ppt/media/image2.png" Id="Rd4c10450988c4f0a" /><Relationship Type="http://schemas.openxmlformats.org/officeDocument/2006/relationships/notesSlide" Target="/ppt/notesSlides/notesSlide23.xml" Id="R11b7e12175004f6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71c50511c524248" /><Relationship Type="http://schemas.openxmlformats.org/officeDocument/2006/relationships/image" Target="/ppt/media/image.png" Id="R0ce997aad3dc493d" /><Relationship Type="http://schemas.openxmlformats.org/officeDocument/2006/relationships/image" Target="/ppt/media/image2.png" Id="Rc87162893ad241af" /><Relationship Type="http://schemas.openxmlformats.org/officeDocument/2006/relationships/notesSlide" Target="/ppt/notesSlides/notesSlide24.xml" Id="R8d5a8750bda34c2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8e8cea4ef3f4a63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F05F12B-0CBF-4A6F-AC57-BA95B4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57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B｜经营价值型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5E73553-EDC3-452D-8C09-F5A958EA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经营事实如何进入组织决策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A1F825F-3FBE-41FD-B4AF-184F0AF6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A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EAF5FF"/>
                </a:solidFill>
                <a:latin typeface="微软雅黑"/>
                <a:ea typeface="微软雅黑"/>
                <a:cs typeface="微软雅黑"/>
              </a:rPr>
              <a:t>ontology3.0｜把发生了什么、为什么、怎么办和谁负责连成一条链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A368B6BF-18D1-4F65-8C13-442BF5D5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BB0D4297-0F8B-4AFF-A41B-D0C5433C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6F0F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E6F0F8"/>
                </a:solidFill>
                <a:latin typeface="微软雅黑"/>
                <a:ea typeface="微软雅黑"/>
                <a:cs typeface="微软雅黑"/>
              </a:rPr>
              <a:t>项目背景介绍｜2026</a:t>
            </a:r>
          </a:p>
        </p:txBody>
      </p:sp>
    </p:spTree>
    <p:extLst>
      <p:ext uri="{BB962C8B-B14F-4D97-AF65-F5344CB8AC3E}">
        <p14:creationId xmlns:p14="http://schemas.microsoft.com/office/powerpoint/2010/main" val="17447635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14df8dcd14b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3dfc98d72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0ABCEA97-AD56-4EBC-BE3B-5A3020D8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团队介绍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A508C1C5-7611-4AE3-AD3F-6009715D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四类专业分工支撑平台与三个业务场景</a:t>
            </a:r>
          </a:p>
        </p:txBody>
      </p:sp>
      <p:sp>
        <p:nvSpPr>
          <p:cNvPr id="5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F636943F-3957-485B-8AF0-37BFAC0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team-card-1">
            <a:extLst xmlns:a="http://schemas.openxmlformats.org/drawingml/2006/main">
              <a:ext uri="{FF2B5EF4-FFF2-40B4-BE49-F238E27FC236}">
                <a16:creationId xmlns:a16="http://schemas.microsoft.com/office/drawing/2014/main" id="{56C6B5D8-10B4-46EE-AFDA-F4AE5203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7" name="photo-placeholder-1">
            <a:extLst xmlns:a="http://schemas.openxmlformats.org/drawingml/2006/main">
              <a:ext uri="{FF2B5EF4-FFF2-40B4-BE49-F238E27FC236}">
                <a16:creationId xmlns:a16="http://schemas.microsoft.com/office/drawing/2014/main" id="{CABA3C87-0F2C-4E35-9AA9-991D7666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8" name="photo-head-1">
            <a:extLst xmlns:a="http://schemas.openxmlformats.org/drawingml/2006/main">
              <a:ext uri="{FF2B5EF4-FFF2-40B4-BE49-F238E27FC236}">
                <a16:creationId xmlns:a16="http://schemas.microsoft.com/office/drawing/2014/main" id="{3AFF498E-C851-4EE8-BC45-3808CF2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9" name="photo-body-1">
            <a:extLst xmlns:a="http://schemas.openxmlformats.org/drawingml/2006/main">
              <a:ext uri="{FF2B5EF4-FFF2-40B4-BE49-F238E27FC236}">
                <a16:creationId xmlns:a16="http://schemas.microsoft.com/office/drawing/2014/main" id="{32DA2736-AC2F-409D-AD99-75345AC2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0" name="photo-label-1">
            <a:extLst xmlns:a="http://schemas.openxmlformats.org/drawingml/2006/main">
              <a:ext uri="{FF2B5EF4-FFF2-40B4-BE49-F238E27FC236}">
                <a16:creationId xmlns:a16="http://schemas.microsoft.com/office/drawing/2014/main" id="{15854BC2-E3DD-4276-9D90-256D23D1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11" name="team-role-1">
            <a:extLst xmlns:a="http://schemas.openxmlformats.org/drawingml/2006/main">
              <a:ext uri="{FF2B5EF4-FFF2-40B4-BE49-F238E27FC236}">
                <a16:creationId xmlns:a16="http://schemas.microsoft.com/office/drawing/2014/main" id="{5731EE76-86D7-4B3F-B0EC-5CC07C1D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组长</a:t>
            </a:r>
          </a:p>
        </p:txBody>
      </p:sp>
      <p:sp>
        <p:nvSpPr>
          <p:cNvPr id="12" name="team-name-1">
            <a:extLst xmlns:a="http://schemas.openxmlformats.org/drawingml/2006/main">
              <a:ext uri="{FF2B5EF4-FFF2-40B4-BE49-F238E27FC236}">
                <a16:creationId xmlns:a16="http://schemas.microsoft.com/office/drawing/2014/main" id="{AAE33F47-8CA8-43D9-9DBB-8E31D42D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张栋</a:t>
            </a:r>
          </a:p>
        </p:txBody>
      </p:sp>
      <p:sp>
        <p:nvSpPr>
          <p:cNvPr id="13" name="team-dept-1">
            <a:extLst xmlns:a="http://schemas.openxmlformats.org/drawingml/2006/main">
              <a:ext uri="{FF2B5EF4-FFF2-40B4-BE49-F238E27FC236}">
                <a16:creationId xmlns:a16="http://schemas.microsoft.com/office/drawing/2014/main" id="{692CECD7-EFDF-4F5E-BD14-6309A2E4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财务公司规划财务部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C1810-E894-489A-ACDF-B3E9B504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5" name="team-duty-1">
            <a:extLst xmlns:a="http://schemas.openxmlformats.org/drawingml/2006/main">
              <a:ext uri="{FF2B5EF4-FFF2-40B4-BE49-F238E27FC236}">
                <a16:creationId xmlns:a16="http://schemas.microsoft.com/office/drawing/2014/main" id="{3E212C75-6DC3-4FB6-A526-DC266F6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平台架构和功能建设</a:t>
            </a:r>
          </a:p>
        </p:txBody>
      </p:sp>
      <p:sp>
        <p:nvSpPr>
          <p:cNvPr id="16" name="team-card-2">
            <a:extLst xmlns:a="http://schemas.openxmlformats.org/drawingml/2006/main">
              <a:ext uri="{FF2B5EF4-FFF2-40B4-BE49-F238E27FC236}">
                <a16:creationId xmlns:a16="http://schemas.microsoft.com/office/drawing/2014/main" id="{DB70129A-CF62-40B7-833C-69EC002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7" name="photo-placeholder-2">
            <a:extLst xmlns:a="http://schemas.openxmlformats.org/drawingml/2006/main">
              <a:ext uri="{FF2B5EF4-FFF2-40B4-BE49-F238E27FC236}">
                <a16:creationId xmlns:a16="http://schemas.microsoft.com/office/drawing/2014/main" id="{046BBABC-EDA6-444F-BD8C-346E29D1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8" name="photo-head-2">
            <a:extLst xmlns:a="http://schemas.openxmlformats.org/drawingml/2006/main">
              <a:ext uri="{FF2B5EF4-FFF2-40B4-BE49-F238E27FC236}">
                <a16:creationId xmlns:a16="http://schemas.microsoft.com/office/drawing/2014/main" id="{DC78A019-0AEF-4759-ADD4-5DD1472A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9" name="photo-body-2">
            <a:extLst xmlns:a="http://schemas.openxmlformats.org/drawingml/2006/main">
              <a:ext uri="{FF2B5EF4-FFF2-40B4-BE49-F238E27FC236}">
                <a16:creationId xmlns:a16="http://schemas.microsoft.com/office/drawing/2014/main" id="{4DA0222D-4E46-4D6D-8264-45C2D082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0" name="photo-label-2">
            <a:extLst xmlns:a="http://schemas.openxmlformats.org/drawingml/2006/main">
              <a:ext uri="{FF2B5EF4-FFF2-40B4-BE49-F238E27FC236}">
                <a16:creationId xmlns:a16="http://schemas.microsoft.com/office/drawing/2014/main" id="{BD4BE2BE-C92A-4E79-9648-5D6C032C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21" name="team-role-2">
            <a:extLst xmlns:a="http://schemas.openxmlformats.org/drawingml/2006/main">
              <a:ext uri="{FF2B5EF4-FFF2-40B4-BE49-F238E27FC236}">
                <a16:creationId xmlns:a16="http://schemas.microsoft.com/office/drawing/2014/main" id="{27B0D94F-2BE6-4701-A84F-A9D701BF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组员</a:t>
            </a:r>
          </a:p>
        </p:txBody>
      </p:sp>
      <p:sp>
        <p:nvSpPr>
          <p:cNvPr id="22" name="team-name-2">
            <a:extLst xmlns:a="http://schemas.openxmlformats.org/drawingml/2006/main">
              <a:ext uri="{FF2B5EF4-FFF2-40B4-BE49-F238E27FC236}">
                <a16:creationId xmlns:a16="http://schemas.microsoft.com/office/drawing/2014/main" id="{F3D928CD-09F4-497A-9EE8-F934A3C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谢航雨</a:t>
            </a:r>
          </a:p>
        </p:txBody>
      </p:sp>
      <p:sp>
        <p:nvSpPr>
          <p:cNvPr id="23" name="team-dept-2">
            <a:extLst xmlns:a="http://schemas.openxmlformats.org/drawingml/2006/main">
              <a:ext uri="{FF2B5EF4-FFF2-40B4-BE49-F238E27FC236}">
                <a16:creationId xmlns:a16="http://schemas.microsoft.com/office/drawing/2014/main" id="{F1BE8B65-BBFA-4150-89E3-CA7BCC7F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财务公司信贷融资部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D6CD8-DF1D-45A8-801D-26C80B26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5" name="team-duty-2">
            <a:extLst xmlns:a="http://schemas.openxmlformats.org/drawingml/2006/main">
              <a:ext uri="{FF2B5EF4-FFF2-40B4-BE49-F238E27FC236}">
                <a16:creationId xmlns:a16="http://schemas.microsoft.com/office/drawing/2014/main" id="{D6E9139E-453C-4997-8E9B-EB68F20C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集团债务风险监控场景开发</a:t>
            </a:r>
          </a:p>
        </p:txBody>
      </p:sp>
      <p:sp>
        <p:nvSpPr>
          <p:cNvPr id="26" name="team-card-3">
            <a:extLst xmlns:a="http://schemas.openxmlformats.org/drawingml/2006/main">
              <a:ext uri="{FF2B5EF4-FFF2-40B4-BE49-F238E27FC236}">
                <a16:creationId xmlns:a16="http://schemas.microsoft.com/office/drawing/2014/main" id="{695E0152-BF95-414D-8753-79F07E87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7" name="photo-placeholder-3">
            <a:extLst xmlns:a="http://schemas.openxmlformats.org/drawingml/2006/main">
              <a:ext uri="{FF2B5EF4-FFF2-40B4-BE49-F238E27FC236}">
                <a16:creationId xmlns:a16="http://schemas.microsoft.com/office/drawing/2014/main" id="{4D1BC7DE-25BC-4856-BAB9-66BD05B9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8" name="photo-head-3">
            <a:extLst xmlns:a="http://schemas.openxmlformats.org/drawingml/2006/main">
              <a:ext uri="{FF2B5EF4-FFF2-40B4-BE49-F238E27FC236}">
                <a16:creationId xmlns:a16="http://schemas.microsoft.com/office/drawing/2014/main" id="{84AA1826-3277-480A-9D68-03A62887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9" name="photo-body-3">
            <a:extLst xmlns:a="http://schemas.openxmlformats.org/drawingml/2006/main">
              <a:ext uri="{FF2B5EF4-FFF2-40B4-BE49-F238E27FC236}">
                <a16:creationId xmlns:a16="http://schemas.microsoft.com/office/drawing/2014/main" id="{1EA7472F-A9D3-49AD-8326-90BF1B06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0" name="photo-label-3">
            <a:extLst xmlns:a="http://schemas.openxmlformats.org/drawingml/2006/main">
              <a:ext uri="{FF2B5EF4-FFF2-40B4-BE49-F238E27FC236}">
                <a16:creationId xmlns:a16="http://schemas.microsoft.com/office/drawing/2014/main" id="{167C5CB0-687C-46B7-9B13-01CDE011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31" name="team-role-3">
            <a:extLst xmlns:a="http://schemas.openxmlformats.org/drawingml/2006/main">
              <a:ext uri="{FF2B5EF4-FFF2-40B4-BE49-F238E27FC236}">
                <a16:creationId xmlns:a16="http://schemas.microsoft.com/office/drawing/2014/main" id="{01BFEA65-B1DA-4449-9239-8C17162B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组员</a:t>
            </a:r>
          </a:p>
        </p:txBody>
      </p:sp>
      <p:sp>
        <p:nvSpPr>
          <p:cNvPr id="32" name="team-name-3">
            <a:extLst xmlns:a="http://schemas.openxmlformats.org/drawingml/2006/main">
              <a:ext uri="{FF2B5EF4-FFF2-40B4-BE49-F238E27FC236}">
                <a16:creationId xmlns:a16="http://schemas.microsoft.com/office/drawing/2014/main" id="{93017C9E-747D-420E-B387-25DDED4F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刘明明</a:t>
            </a:r>
          </a:p>
        </p:txBody>
      </p:sp>
      <p:sp>
        <p:nvSpPr>
          <p:cNvPr id="33" name="team-dept-3">
            <a:extLst xmlns:a="http://schemas.openxmlformats.org/drawingml/2006/main">
              <a:ext uri="{FF2B5EF4-FFF2-40B4-BE49-F238E27FC236}">
                <a16:creationId xmlns:a16="http://schemas.microsoft.com/office/drawing/2014/main" id="{554A8DB8-6725-47CA-8E3A-44FA47A4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财务公司信贷融资部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B1B1F2-26B0-4758-9AF0-D98896D1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5" name="team-duty-3">
            <a:extLst xmlns:a="http://schemas.openxmlformats.org/drawingml/2006/main">
              <a:ext uri="{FF2B5EF4-FFF2-40B4-BE49-F238E27FC236}">
                <a16:creationId xmlns:a16="http://schemas.microsoft.com/office/drawing/2014/main" id="{40D6FF04-75E2-422F-B21E-F57FA4BD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财务公司贷前报告场景开发</a:t>
            </a:r>
          </a:p>
        </p:txBody>
      </p:sp>
      <p:sp>
        <p:nvSpPr>
          <p:cNvPr id="36" name="team-card-4">
            <a:extLst xmlns:a="http://schemas.openxmlformats.org/drawingml/2006/main">
              <a:ext uri="{FF2B5EF4-FFF2-40B4-BE49-F238E27FC236}">
                <a16:creationId xmlns:a16="http://schemas.microsoft.com/office/drawing/2014/main" id="{860D275D-5F8B-4BDB-BDD8-AA114BD8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7" name="photo-placeholder-4">
            <a:extLst xmlns:a="http://schemas.openxmlformats.org/drawingml/2006/main">
              <a:ext uri="{FF2B5EF4-FFF2-40B4-BE49-F238E27FC236}">
                <a16:creationId xmlns:a16="http://schemas.microsoft.com/office/drawing/2014/main" id="{CD461825-C06B-437B-87F1-BACC8CDD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8" name="photo-head-4">
            <a:extLst xmlns:a="http://schemas.openxmlformats.org/drawingml/2006/main">
              <a:ext uri="{FF2B5EF4-FFF2-40B4-BE49-F238E27FC236}">
                <a16:creationId xmlns:a16="http://schemas.microsoft.com/office/drawing/2014/main" id="{CBD66120-C049-4B5A-A3E5-88192FC7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9" name="photo-body-4">
            <a:extLst xmlns:a="http://schemas.openxmlformats.org/drawingml/2006/main">
              <a:ext uri="{FF2B5EF4-FFF2-40B4-BE49-F238E27FC236}">
                <a16:creationId xmlns:a16="http://schemas.microsoft.com/office/drawing/2014/main" id="{B3963F52-FC3C-4C72-A69B-F2A8DECF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40" name="photo-label-4">
            <a:extLst xmlns:a="http://schemas.openxmlformats.org/drawingml/2006/main">
              <a:ext uri="{FF2B5EF4-FFF2-40B4-BE49-F238E27FC236}">
                <a16:creationId xmlns:a16="http://schemas.microsoft.com/office/drawing/2014/main" id="{C809EFF1-58AB-4714-A1BC-FEA0773D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41" name="team-role-4">
            <a:extLst xmlns:a="http://schemas.openxmlformats.org/drawingml/2006/main">
              <a:ext uri="{FF2B5EF4-FFF2-40B4-BE49-F238E27FC236}">
                <a16:creationId xmlns:a16="http://schemas.microsoft.com/office/drawing/2014/main" id="{0DB12423-50CF-4930-9886-46D13893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组员</a:t>
            </a:r>
          </a:p>
        </p:txBody>
      </p:sp>
      <p:sp>
        <p:nvSpPr>
          <p:cNvPr id="42" name="team-name-4">
            <a:extLst xmlns:a="http://schemas.openxmlformats.org/drawingml/2006/main">
              <a:ext uri="{FF2B5EF4-FFF2-40B4-BE49-F238E27FC236}">
                <a16:creationId xmlns:a16="http://schemas.microsoft.com/office/drawing/2014/main" id="{2BE140C4-BBF6-4FC2-ABF5-2607321C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林擎妍</a:t>
            </a:r>
          </a:p>
        </p:txBody>
      </p:sp>
      <p:sp>
        <p:nvSpPr>
          <p:cNvPr id="43" name="team-dept-4">
            <a:extLst xmlns:a="http://schemas.openxmlformats.org/drawingml/2006/main">
              <a:ext uri="{FF2B5EF4-FFF2-40B4-BE49-F238E27FC236}">
                <a16:creationId xmlns:a16="http://schemas.microsoft.com/office/drawing/2014/main" id="{A6134B73-72DD-4821-AFB7-A6504EB8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苏州院财务部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7581BE-B132-456C-B64C-930437EC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45" name="team-duty-4">
            <a:extLst xmlns:a="http://schemas.openxmlformats.org/drawingml/2006/main">
              <a:ext uri="{FF2B5EF4-FFF2-40B4-BE49-F238E27FC236}">
                <a16:creationId xmlns:a16="http://schemas.microsoft.com/office/drawing/2014/main" id="{2072EA3D-BB70-4B69-8E67-2BD035C1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预算管理监督场景开发</a:t>
            </a:r>
          </a:p>
        </p:txBody>
      </p:sp>
      <p:sp>
        <p:nvSpPr>
          <p:cNvPr id="46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21C56D6A-6EC5-4712-8D00-52E70484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平台建设团队｜架构与三类业务场景</a:t>
            </a:r>
          </a:p>
        </p:txBody>
      </p:sp>
      <p:sp>
        <p:nvSpPr>
          <p:cNvPr id="4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8BCB3CD-5386-427D-8B7F-E0C9B282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f406faca64b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553af174747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B3F25CFD-B223-4553-BE10-FE24778A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经营问题与组织价值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8C74B7FE-7140-44C1-BF77-B268EA79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本项目围绕四个管理问题组织能力</a:t>
            </a:r>
          </a:p>
        </p:txBody>
      </p:sp>
      <p:sp>
        <p:nvSpPr>
          <p:cNvPr id="5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7C0A9D47-64FD-47F5-8169-8048CFCA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opening-edge-1">
            <a:extLst xmlns:a="http://schemas.openxmlformats.org/drawingml/2006/main">
              <a:ext uri="{FF2B5EF4-FFF2-40B4-BE49-F238E27FC236}">
                <a16:creationId xmlns:a16="http://schemas.microsoft.com/office/drawing/2014/main" id="{FF401330-80CD-4EBA-B1E0-A02C062D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337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opening-edge-1-arrowhead">
            <a:extLst xmlns:a="http://schemas.openxmlformats.org/drawingml/2006/main">
              <a:ext uri="{FF2B5EF4-FFF2-40B4-BE49-F238E27FC236}">
                <a16:creationId xmlns:a16="http://schemas.microsoft.com/office/drawing/2014/main" id="{21F0BC7F-B0C3-49D5-BE21-949BE896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861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opening-edge-2">
            <a:extLst xmlns:a="http://schemas.openxmlformats.org/drawingml/2006/main">
              <a:ext uri="{FF2B5EF4-FFF2-40B4-BE49-F238E27FC236}">
                <a16:creationId xmlns:a16="http://schemas.microsoft.com/office/drawing/2014/main" id="{8FA9FE7E-3682-4572-BD97-2C256EF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opening-edge-2-arrowhead">
            <a:extLst xmlns:a="http://schemas.openxmlformats.org/drawingml/2006/main">
              <a:ext uri="{FF2B5EF4-FFF2-40B4-BE49-F238E27FC236}">
                <a16:creationId xmlns:a16="http://schemas.microsoft.com/office/drawing/2014/main" id="{41FA803E-E3BE-4D3F-BC6C-7E876A68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7215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opening-edge-3">
            <a:extLst xmlns:a="http://schemas.openxmlformats.org/drawingml/2006/main">
              <a:ext uri="{FF2B5EF4-FFF2-40B4-BE49-F238E27FC236}">
                <a16:creationId xmlns:a16="http://schemas.microsoft.com/office/drawing/2014/main" id="{345552C9-13E3-4025-AFB1-E1A276FD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1" name="opening-edge-3-arrowhead">
            <a:extLst xmlns:a="http://schemas.openxmlformats.org/drawingml/2006/main">
              <a:ext uri="{FF2B5EF4-FFF2-40B4-BE49-F238E27FC236}">
                <a16:creationId xmlns:a16="http://schemas.microsoft.com/office/drawing/2014/main" id="{72F59E29-3B16-4373-B763-9A3707D4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582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opening-node-1">
            <a:extLst xmlns:a="http://schemas.openxmlformats.org/drawingml/2006/main">
              <a:ext uri="{FF2B5EF4-FFF2-40B4-BE49-F238E27FC236}">
                <a16:creationId xmlns:a16="http://schemas.microsoft.com/office/drawing/2014/main" id="{F1DFF2B2-4276-4101-BF11-D1440232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3" name="opening-index-1">
            <a:extLst xmlns:a="http://schemas.openxmlformats.org/drawingml/2006/main">
              <a:ext uri="{FF2B5EF4-FFF2-40B4-BE49-F238E27FC236}">
                <a16:creationId xmlns:a16="http://schemas.microsoft.com/office/drawing/2014/main" id="{14322104-3F90-4577-AC9C-1AB6D12A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opening-label-1">
            <a:extLst xmlns:a="http://schemas.openxmlformats.org/drawingml/2006/main">
              <a:ext uri="{FF2B5EF4-FFF2-40B4-BE49-F238E27FC236}">
                <a16:creationId xmlns:a16="http://schemas.microsoft.com/office/drawing/2014/main" id="{93BFD4FD-E2A2-4069-931C-543BD835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发生了什么</a:t>
            </a:r>
          </a:p>
        </p:txBody>
      </p:sp>
      <p:sp>
        <p:nvSpPr>
          <p:cNvPr id="15" name="opening-node-2">
            <a:extLst xmlns:a="http://schemas.openxmlformats.org/drawingml/2006/main">
              <a:ext uri="{FF2B5EF4-FFF2-40B4-BE49-F238E27FC236}">
                <a16:creationId xmlns:a16="http://schemas.microsoft.com/office/drawing/2014/main" id="{19DBCC9B-2366-40C8-8E66-D629A736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6" name="opening-index-2">
            <a:extLst xmlns:a="http://schemas.openxmlformats.org/drawingml/2006/main">
              <a:ext uri="{FF2B5EF4-FFF2-40B4-BE49-F238E27FC236}">
                <a16:creationId xmlns:a16="http://schemas.microsoft.com/office/drawing/2014/main" id="{B9827D90-7166-427F-93CE-D967CB36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opening-label-2">
            <a:extLst xmlns:a="http://schemas.openxmlformats.org/drawingml/2006/main">
              <a:ext uri="{FF2B5EF4-FFF2-40B4-BE49-F238E27FC236}">
                <a16:creationId xmlns:a16="http://schemas.microsoft.com/office/drawing/2014/main" id="{E25C4643-A90C-49DB-81DE-BF3B6004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为什么</a:t>
            </a:r>
          </a:p>
        </p:txBody>
      </p:sp>
      <p:sp>
        <p:nvSpPr>
          <p:cNvPr id="18" name="opening-node-3">
            <a:extLst xmlns:a="http://schemas.openxmlformats.org/drawingml/2006/main">
              <a:ext uri="{FF2B5EF4-FFF2-40B4-BE49-F238E27FC236}">
                <a16:creationId xmlns:a16="http://schemas.microsoft.com/office/drawing/2014/main" id="{FD9A48F5-2177-4327-9B31-697450D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9" name="opening-index-3">
            <a:extLst xmlns:a="http://schemas.openxmlformats.org/drawingml/2006/main">
              <a:ext uri="{FF2B5EF4-FFF2-40B4-BE49-F238E27FC236}">
                <a16:creationId xmlns:a16="http://schemas.microsoft.com/office/drawing/2014/main" id="{789E5E0E-8D1D-43CB-822D-9B8D96E8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opening-label-3">
            <a:extLst xmlns:a="http://schemas.openxmlformats.org/drawingml/2006/main">
              <a:ext uri="{FF2B5EF4-FFF2-40B4-BE49-F238E27FC236}">
                <a16:creationId xmlns:a16="http://schemas.microsoft.com/office/drawing/2014/main" id="{B3CFCB47-DE70-4822-AD1D-86A602B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是否行动</a:t>
            </a:r>
          </a:p>
        </p:txBody>
      </p:sp>
      <p:sp>
        <p:nvSpPr>
          <p:cNvPr id="21" name="opening-node-4">
            <a:extLst xmlns:a="http://schemas.openxmlformats.org/drawingml/2006/main">
              <a:ext uri="{FF2B5EF4-FFF2-40B4-BE49-F238E27FC236}">
                <a16:creationId xmlns:a16="http://schemas.microsoft.com/office/drawing/2014/main" id="{54D03BBE-6570-42C0-8C18-90F0BDC0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2" name="opening-index-4">
            <a:extLst xmlns:a="http://schemas.openxmlformats.org/drawingml/2006/main">
              <a:ext uri="{FF2B5EF4-FFF2-40B4-BE49-F238E27FC236}">
                <a16:creationId xmlns:a16="http://schemas.microsoft.com/office/drawing/2014/main" id="{2B8F7127-8B25-4850-9A17-A5917CAC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opening-label-4">
            <a:extLst xmlns:a="http://schemas.openxmlformats.org/drawingml/2006/main">
              <a:ext uri="{FF2B5EF4-FFF2-40B4-BE49-F238E27FC236}">
                <a16:creationId xmlns:a16="http://schemas.microsoft.com/office/drawing/2014/main" id="{8AF0849E-B3CF-452A-9742-E74F3281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谁来承接</a:t>
            </a:r>
          </a:p>
        </p:txBody>
      </p:sp>
      <p:sp>
        <p:nvSpPr>
          <p:cNvPr id="24" name="opening-summary">
            <a:extLst xmlns:a="http://schemas.openxmlformats.org/drawingml/2006/main">
              <a:ext uri="{FF2B5EF4-FFF2-40B4-BE49-F238E27FC236}">
                <a16:creationId xmlns:a16="http://schemas.microsoft.com/office/drawing/2014/main" id="{A23B311E-DD32-47DD-9E52-56D2699C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平台把控制点放在版本、定义、证据和人工确认上，而不是让每个应用各自解释数据。</a:t>
            </a:r>
          </a:p>
        </p:txBody>
      </p:sp>
      <p:sp>
        <p:nvSpPr>
          <p:cNvPr id="25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7416EA3C-3F02-4D27-83E6-9015F9A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一期目标链路｜真实运行、联调和验收证据待补齐</a:t>
            </a:r>
          </a:p>
        </p:txBody>
      </p:sp>
      <p:sp>
        <p:nvSpPr>
          <p:cNvPr id="2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B3509910-86BB-433A-8843-0647D507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a76ad07734f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367556eb848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EC4F6CBD-3AEA-449F-9C59-C4BA6EB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2ADD00D8-4822-4AA4-A4A5-419BD780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看见异常，不等于完成决策</a:t>
            </a:r>
          </a:p>
        </p:txBody>
      </p:sp>
      <p:sp>
        <p:nvSpPr>
          <p:cNvPr id="5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4667AB8F-28E1-4397-9A01-ACF89427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29DAC5F8-E377-4C73-BBE7-E6EDA097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B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AFF85A67-FBDF-4F80-93AD-8FC52536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8" name="pain-left-bar">
            <a:extLst xmlns:a="http://schemas.openxmlformats.org/drawingml/2006/main">
              <a:ext uri="{FF2B5EF4-FFF2-40B4-BE49-F238E27FC236}">
                <a16:creationId xmlns:a16="http://schemas.microsoft.com/office/drawing/2014/main" id="{8505B3DE-82A2-4088-9D12-0D6BA10E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E43"/>
          </a:solidFill>
          <a:ln xmlns:a="http://schemas.openxmlformats.org/drawingml/2006/main" w="9525">
            <a:solidFill>
              <a:srgbClr val="B14E43"/>
            </a:solidFill>
            <a:prstDash val="solid"/>
          </a:ln>
        </p:spPr>
      </p:sp>
      <p:sp>
        <p:nvSpPr>
          <p:cNvPr id="9" name="pain-right-bar">
            <a:extLst xmlns:a="http://schemas.openxmlformats.org/drawingml/2006/main">
              <a:ext uri="{FF2B5EF4-FFF2-40B4-BE49-F238E27FC236}">
                <a16:creationId xmlns:a16="http://schemas.microsoft.com/office/drawing/2014/main" id="{83C2D057-379A-4C72-B2E5-84621029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0" name="pain-sequence">
            <a:extLst xmlns:a="http://schemas.openxmlformats.org/drawingml/2006/main">
              <a:ext uri="{FF2B5EF4-FFF2-40B4-BE49-F238E27FC236}">
                <a16:creationId xmlns:a16="http://schemas.microsoft.com/office/drawing/2014/main" id="{D21A7F44-D021-48DE-A999-D109CFBC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pain-label">
            <a:extLst xmlns:a="http://schemas.openxmlformats.org/drawingml/2006/main">
              <a:ext uri="{FF2B5EF4-FFF2-40B4-BE49-F238E27FC236}">
                <a16:creationId xmlns:a16="http://schemas.microsoft.com/office/drawing/2014/main" id="{47AE2B54-A15A-4AAC-886E-5982CE81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2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B5439652-2D34-476C-B31D-C9F01DF1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3" name="pain-list">
            <a:extLst xmlns:a="http://schemas.openxmlformats.org/drawingml/2006/main">
              <a:ext uri="{FF2B5EF4-FFF2-40B4-BE49-F238E27FC236}">
                <a16:creationId xmlns:a16="http://schemas.microsoft.com/office/drawing/2014/main" id="{94F7B985-E9E0-44E2-9EF1-C5F6A2B1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看板若直接确认或建待办，会产生第二套运行状态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责任人、确认依据和执行进度无法统一追踪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“看见了”与“已经处理”容易被混为一谈</a:t>
            </a:r>
          </a:p>
        </p:txBody>
      </p:sp>
      <p:sp>
        <p:nvSpPr>
          <p:cNvPr id="14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B64D8DED-5494-4500-8B3D-F5CAC29C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看板、问数、Agent 和 Rule 只提交 Action Request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决策中心统一提醒、人工确认、待办与失败恢复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报告中心只读状态，不维护第二套执行事实</a:t>
            </a:r>
          </a:p>
        </p:txBody>
      </p:sp>
      <p:sp>
        <p:nvSpPr>
          <p:cNvPr id="15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0B11575E-1DCC-409A-AAC2-517933A5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6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58C6D9F0-18A2-497B-919C-0DFBF66D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17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07FCF1E1-8C26-4CBD-A0A7-E103023B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8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665F8AB9-443E-4516-A1B2-A3D21A35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9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925D470D-4FC0-42D1-99BB-6083820E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Action Request 是进入决策中心的唯一标准运行入口</a:t>
            </a:r>
          </a:p>
        </p:txBody>
      </p:sp>
      <p:sp>
        <p:nvSpPr>
          <p:cNvPr id="2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4328518-7A2A-4056-8B6D-BD68E4B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0411a2ac942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6967c175849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6D9F6B42-1CC2-4F7B-BAD4-C8883A55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D2F299B7-FACF-4BEC-BB44-3CABBA43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回答流畅，不等于结果可以复核</a:t>
            </a:r>
          </a:p>
        </p:txBody>
      </p:sp>
      <p:sp>
        <p:nvSpPr>
          <p:cNvPr id="5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A520034A-546A-4DC5-8607-99EBE608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BC4CF6A1-9205-4EE8-9195-A41D1C9D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B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7BC287FB-3CC7-4F18-B5BF-E1F3BF10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8" name="pain-left-bar">
            <a:extLst xmlns:a="http://schemas.openxmlformats.org/drawingml/2006/main">
              <a:ext uri="{FF2B5EF4-FFF2-40B4-BE49-F238E27FC236}">
                <a16:creationId xmlns:a16="http://schemas.microsoft.com/office/drawing/2014/main" id="{1B855F9C-DCD5-41DA-AD73-1C902ED0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E43"/>
          </a:solidFill>
          <a:ln xmlns:a="http://schemas.openxmlformats.org/drawingml/2006/main" w="9525">
            <a:solidFill>
              <a:srgbClr val="B14E43"/>
            </a:solidFill>
            <a:prstDash val="solid"/>
          </a:ln>
        </p:spPr>
      </p:sp>
      <p:sp>
        <p:nvSpPr>
          <p:cNvPr id="9" name="pain-right-bar">
            <a:extLst xmlns:a="http://schemas.openxmlformats.org/drawingml/2006/main">
              <a:ext uri="{FF2B5EF4-FFF2-40B4-BE49-F238E27FC236}">
                <a16:creationId xmlns:a16="http://schemas.microsoft.com/office/drawing/2014/main" id="{ADEA5414-08F9-498D-A836-EE16554E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0" name="pain-sequence">
            <a:extLst xmlns:a="http://schemas.openxmlformats.org/drawingml/2006/main">
              <a:ext uri="{FF2B5EF4-FFF2-40B4-BE49-F238E27FC236}">
                <a16:creationId xmlns:a16="http://schemas.microsoft.com/office/drawing/2014/main" id="{0F9BDD73-7A23-4508-8586-A77C36A4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pain-label">
            <a:extLst xmlns:a="http://schemas.openxmlformats.org/drawingml/2006/main">
              <a:ext uri="{FF2B5EF4-FFF2-40B4-BE49-F238E27FC236}">
                <a16:creationId xmlns:a16="http://schemas.microsoft.com/office/drawing/2014/main" id="{58523393-E6B8-423D-90B8-C90F29DC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2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C984F65A-DCC1-4DCC-8BB6-4AA97F7F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3" name="pain-list">
            <a:extLst xmlns:a="http://schemas.openxmlformats.org/drawingml/2006/main">
              <a:ext uri="{FF2B5EF4-FFF2-40B4-BE49-F238E27FC236}">
                <a16:creationId xmlns:a16="http://schemas.microsoft.com/office/drawing/2014/main" id="{38E04652-9231-418C-9F3D-2CEBC0CD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没有主体范围，无法确认回答针对谁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没有时点、口径和版本，无法复现结果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没有证据定位，结果不能进入正式判断</a:t>
            </a:r>
          </a:p>
        </p:txBody>
      </p:sp>
      <p:sp>
        <p:nvSpPr>
          <p:cNvPr id="14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99AE00AA-FDA6-4021-9996-FAC51E2A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每轮固定配置、语义、查询和数据可信度上下文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受控查询先形成结构化结果与证据映射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LLM 只组织文字，不补数、不改口径、不判断 Rule</a:t>
            </a:r>
          </a:p>
        </p:txBody>
      </p:sp>
      <p:sp>
        <p:nvSpPr>
          <p:cNvPr id="15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6A3DCD52-B19F-4181-8A19-B01FFBC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6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701B31B8-264E-479E-ABDA-28BE955B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17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2B6D5E35-83FD-4CC2-94E9-6DD4961C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8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4EA92DD7-5CFD-4B9F-A134-3AB4FA7D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9" name="footer-note-5">
            <a:extLst xmlns:a="http://schemas.openxmlformats.org/drawingml/2006/main">
              <a:ext uri="{FF2B5EF4-FFF2-40B4-BE49-F238E27FC236}">
                <a16:creationId xmlns:a16="http://schemas.microsoft.com/office/drawing/2014/main" id="{B3E96467-0CF9-4EC7-8178-D8139862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问数结果必须同时带主体、时点、口径、版本与证据</a:t>
            </a:r>
          </a:p>
        </p:txBody>
      </p:sp>
      <p:sp>
        <p:nvSpPr>
          <p:cNvPr id="20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EF9FC79B-E3BD-49B4-A614-C3913A52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abe77bbb644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41387f98d4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87D56480-4CBD-4224-9E8F-C7195E28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C6A4E701-AAD9-4226-8B18-FA7C0E51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个人工具提速，不等于组织能力沉淀</a:t>
            </a:r>
          </a:p>
        </p:txBody>
      </p:sp>
      <p:sp>
        <p:nvSpPr>
          <p:cNvPr id="5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C129D31-5F87-45E2-8930-8893B158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E4A20FA5-A838-4E4A-8C39-8C40E07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B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D6161B4C-4D97-400E-B28D-081F8BDB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8" name="pain-left-bar">
            <a:extLst xmlns:a="http://schemas.openxmlformats.org/drawingml/2006/main">
              <a:ext uri="{FF2B5EF4-FFF2-40B4-BE49-F238E27FC236}">
                <a16:creationId xmlns:a16="http://schemas.microsoft.com/office/drawing/2014/main" id="{0B3FE4E5-3CEB-418E-A2D9-8BE12C84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E43"/>
          </a:solidFill>
          <a:ln xmlns:a="http://schemas.openxmlformats.org/drawingml/2006/main" w="9525">
            <a:solidFill>
              <a:srgbClr val="B14E43"/>
            </a:solidFill>
            <a:prstDash val="solid"/>
          </a:ln>
        </p:spPr>
      </p:sp>
      <p:sp>
        <p:nvSpPr>
          <p:cNvPr id="9" name="pain-right-bar">
            <a:extLst xmlns:a="http://schemas.openxmlformats.org/drawingml/2006/main">
              <a:ext uri="{FF2B5EF4-FFF2-40B4-BE49-F238E27FC236}">
                <a16:creationId xmlns:a16="http://schemas.microsoft.com/office/drawing/2014/main" id="{F98BCDF5-EED8-4F0C-9F70-FD770A17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0" name="pain-sequence">
            <a:extLst xmlns:a="http://schemas.openxmlformats.org/drawingml/2006/main">
              <a:ext uri="{FF2B5EF4-FFF2-40B4-BE49-F238E27FC236}">
                <a16:creationId xmlns:a16="http://schemas.microsoft.com/office/drawing/2014/main" id="{415C64CB-5788-4CD8-84FF-C64B261B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1" name="pain-label">
            <a:extLst xmlns:a="http://schemas.openxmlformats.org/drawingml/2006/main">
              <a:ext uri="{FF2B5EF4-FFF2-40B4-BE49-F238E27FC236}">
                <a16:creationId xmlns:a16="http://schemas.microsoft.com/office/drawing/2014/main" id="{8E07641C-B26D-4BD8-862E-89FF15B2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2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F146C20E-D9FC-426A-AA78-AE053652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3" name="pain-list">
            <a:extLst xmlns:a="http://schemas.openxmlformats.org/drawingml/2006/main">
              <a:ext uri="{FF2B5EF4-FFF2-40B4-BE49-F238E27FC236}">
                <a16:creationId xmlns:a16="http://schemas.microsoft.com/office/drawing/2014/main" id="{721E20A4-5A9D-47A0-91DD-A1B84F62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Prompt、经验和临时口径留在个人环境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换人或换场景后仍要重新解释、重新校对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结果难追溯，也难稳定复用</a:t>
            </a:r>
          </a:p>
        </p:txBody>
      </p:sp>
      <p:sp>
        <p:nvSpPr>
          <p:cNvPr id="14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711B80FE-A1FE-4515-897D-5EC6D093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版本化 Prompt、Skill、本体绑定和工具白名单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固定 Agent Release、结构化结果和问数视图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将可复用配置、证据和边界沉淀为组织资产</a:t>
            </a:r>
          </a:p>
        </p:txBody>
      </p:sp>
      <p:sp>
        <p:nvSpPr>
          <p:cNvPr id="15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457BEF4D-F265-4E7A-8428-7E8524DE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6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7D6E9947-457C-4C23-81D9-1E395814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17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DDF32B28-E8AA-4682-947B-0E057B27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8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CB4912AC-6566-4150-9CCA-FBADB2CC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9" name="footer-note-6">
            <a:extLst xmlns:a="http://schemas.openxmlformats.org/drawingml/2006/main">
              <a:ext uri="{FF2B5EF4-FFF2-40B4-BE49-F238E27FC236}">
                <a16:creationId xmlns:a16="http://schemas.microsoft.com/office/drawing/2014/main" id="{D238A463-98C8-467B-9186-87E86BE7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个人效率通过受控资产转化为组织复用能力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A17ADE95-0B5D-4A94-A3C3-93171956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2c4fd5af546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f3c5381a14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7">
            <a:extLst xmlns:a="http://schemas.openxmlformats.org/drawingml/2006/main">
              <a:ext uri="{FF2B5EF4-FFF2-40B4-BE49-F238E27FC236}">
                <a16:creationId xmlns:a16="http://schemas.microsoft.com/office/drawing/2014/main" id="{6341CC94-B31B-4100-8323-9D48B102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4B731975-A74E-4C80-BAF0-F3699C2A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人才结构调整需要新的工作载体</a:t>
            </a:r>
          </a:p>
        </p:txBody>
      </p:sp>
      <p:sp>
        <p:nvSpPr>
          <p:cNvPr id="5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4CA5E624-FE32-4F93-BBA3-08D78276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0FC35B37-270B-42A5-9F49-F7CAB8D8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3DE54B4C-48CE-4003-8BA1-D942B503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8" name="pain-left-bar">
            <a:extLst xmlns:a="http://schemas.openxmlformats.org/drawingml/2006/main">
              <a:ext uri="{FF2B5EF4-FFF2-40B4-BE49-F238E27FC236}">
                <a16:creationId xmlns:a16="http://schemas.microsoft.com/office/drawing/2014/main" id="{D85BA373-4AB8-48A9-9AB7-C9A96EF5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E43"/>
          </a:solidFill>
          <a:ln xmlns:a="http://schemas.openxmlformats.org/drawingml/2006/main" w="9525">
            <a:solidFill>
              <a:srgbClr val="B14E43"/>
            </a:solidFill>
            <a:prstDash val="solid"/>
          </a:ln>
        </p:spPr>
      </p:sp>
      <p:sp>
        <p:nvSpPr>
          <p:cNvPr id="9" name="pain-right-bar">
            <a:extLst xmlns:a="http://schemas.openxmlformats.org/drawingml/2006/main">
              <a:ext uri="{FF2B5EF4-FFF2-40B4-BE49-F238E27FC236}">
                <a16:creationId xmlns:a16="http://schemas.microsoft.com/office/drawing/2014/main" id="{A4813CDE-F6EA-4CB9-9861-D975DA8F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0" name="pain-sequence">
            <a:extLst xmlns:a="http://schemas.openxmlformats.org/drawingml/2006/main">
              <a:ext uri="{FF2B5EF4-FFF2-40B4-BE49-F238E27FC236}">
                <a16:creationId xmlns:a16="http://schemas.microsoft.com/office/drawing/2014/main" id="{C4DCAA6A-884D-4B87-BD20-51CDB4E4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" name="pain-label">
            <a:extLst xmlns:a="http://schemas.openxmlformats.org/drawingml/2006/main">
              <a:ext uri="{FF2B5EF4-FFF2-40B4-BE49-F238E27FC236}">
                <a16:creationId xmlns:a16="http://schemas.microsoft.com/office/drawing/2014/main" id="{23BD41F7-A80B-4A30-A532-88403C0F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2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29974783-7EF9-4C92-90AE-DB6EE02B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3" name="pain-list">
            <a:extLst xmlns:a="http://schemas.openxmlformats.org/drawingml/2006/main">
              <a:ext uri="{FF2B5EF4-FFF2-40B4-BE49-F238E27FC236}">
                <a16:creationId xmlns:a16="http://schemas.microsoft.com/office/drawing/2014/main" id="{6342824A-EE07-44AC-AAFF-5BF8974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目标是从金字塔向纺锤形转变，加厚战略财务和业务财务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重复找数、对口径和拼报告挤占判断时间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缺少把分析、证据、决策和行动连起来的方法</a:t>
            </a:r>
          </a:p>
        </p:txBody>
      </p:sp>
      <p:sp>
        <p:nvSpPr>
          <p:cNvPr id="14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488485D1-CE50-4BF9-A7E9-BAA2C50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用统一口径和固定证据减少重复核对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让财务人员把时间转向解释、判断与协同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平台提供工作载体，不承诺自然带来人员压降</a:t>
            </a:r>
          </a:p>
        </p:txBody>
      </p:sp>
      <p:sp>
        <p:nvSpPr>
          <p:cNvPr id="15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ECB16FBB-7CE9-4579-8363-D7EAA280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6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B8C5D1D6-5BAD-4F20-A611-216F952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17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BB471C6B-EAAE-49D4-936F-3486F97B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8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9C8633BC-E740-47AF-A56F-3AB7B06A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9" name="footer-note-7">
            <a:extLst xmlns:a="http://schemas.openxmlformats.org/drawingml/2006/main">
              <a:ext uri="{FF2B5EF4-FFF2-40B4-BE49-F238E27FC236}">
                <a16:creationId xmlns:a16="http://schemas.microsoft.com/office/drawing/2014/main" id="{6F1305E9-9B70-4146-8A3B-56F88630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人才转型目标｜实际组织成效需后续验证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727DF51E-AC59-448E-8C39-865C31ED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151db192840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14dbc7a7948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8">
            <a:extLst xmlns:a="http://schemas.openxmlformats.org/drawingml/2006/main">
              <a:ext uri="{FF2B5EF4-FFF2-40B4-BE49-F238E27FC236}">
                <a16:creationId xmlns:a16="http://schemas.microsoft.com/office/drawing/2014/main" id="{24973FE2-4146-4017-861D-CFAF9936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FD959F82-C408-47D2-8411-DC82C092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跨场景复用首先需要共同方法</a:t>
            </a:r>
          </a:p>
        </p:txBody>
      </p:sp>
      <p:sp>
        <p:nvSpPr>
          <p:cNvPr id="5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FB32541B-514F-455C-AE18-D9CE912C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25D7DBD5-A5E1-431D-8C50-8B8F8B72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B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B4117D88-FF61-4956-A67F-8C592914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8" name="pain-left-bar">
            <a:extLst xmlns:a="http://schemas.openxmlformats.org/drawingml/2006/main">
              <a:ext uri="{FF2B5EF4-FFF2-40B4-BE49-F238E27FC236}">
                <a16:creationId xmlns:a16="http://schemas.microsoft.com/office/drawing/2014/main" id="{BD0185FA-7B73-462C-BD59-19B7E676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E43"/>
          </a:solidFill>
          <a:ln xmlns:a="http://schemas.openxmlformats.org/drawingml/2006/main" w="9525">
            <a:solidFill>
              <a:srgbClr val="B14E43"/>
            </a:solidFill>
            <a:prstDash val="solid"/>
          </a:ln>
        </p:spPr>
      </p:sp>
      <p:sp>
        <p:nvSpPr>
          <p:cNvPr id="9" name="pain-right-bar">
            <a:extLst xmlns:a="http://schemas.openxmlformats.org/drawingml/2006/main">
              <a:ext uri="{FF2B5EF4-FFF2-40B4-BE49-F238E27FC236}">
                <a16:creationId xmlns:a16="http://schemas.microsoft.com/office/drawing/2014/main" id="{4079F71E-5734-42D9-A4E0-97337D20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0" name="pain-sequence">
            <a:extLst xmlns:a="http://schemas.openxmlformats.org/drawingml/2006/main">
              <a:ext uri="{FF2B5EF4-FFF2-40B4-BE49-F238E27FC236}">
                <a16:creationId xmlns:a16="http://schemas.microsoft.com/office/drawing/2014/main" id="{4D3FF850-9B42-46A5-8FFD-DFC4E1CD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1" name="pain-label">
            <a:extLst xmlns:a="http://schemas.openxmlformats.org/drawingml/2006/main">
              <a:ext uri="{FF2B5EF4-FFF2-40B4-BE49-F238E27FC236}">
                <a16:creationId xmlns:a16="http://schemas.microsoft.com/office/drawing/2014/main" id="{F58943CD-B4AA-4D2A-81F3-E8808F50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2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0C71E409-FE69-4545-8CEF-8A031101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3" name="pain-list">
            <a:extLst xmlns:a="http://schemas.openxmlformats.org/drawingml/2006/main">
              <a:ext uri="{FF2B5EF4-FFF2-40B4-BE49-F238E27FC236}">
                <a16:creationId xmlns:a16="http://schemas.microsoft.com/office/drawing/2014/main" id="{F9182C38-7214-41C1-8D61-49FE0A21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对象、指标、规则、证据和责任缺少共同建模方式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专家经验换一个场景就要重新解释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未经确认的结论容易被误当成可复用能力</a:t>
            </a:r>
          </a:p>
        </p:txBody>
      </p:sp>
      <p:sp>
        <p:nvSpPr>
          <p:cNvPr id="14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78111FA3-11E0-4DA0-B9BD-97B46C79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从决策和行动出发，反推对象、指标、规则和证据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为资源指定 Owner、版本、门禁和跨模块合同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复用机制与方法，不复制未经确认的业务结论</a:t>
            </a:r>
          </a:p>
        </p:txBody>
      </p:sp>
      <p:sp>
        <p:nvSpPr>
          <p:cNvPr id="15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039156DF-11A7-4ADA-9E2F-D97D2A1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6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B7C340C0-C9BA-4C3F-AE86-9843A51A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17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8EFAF18E-041C-4F8D-B7DC-7D27FADE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8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360174F1-2522-40A1-96D9-01E611E8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9" name="footer-note-8">
            <a:extLst xmlns:a="http://schemas.openxmlformats.org/drawingml/2006/main">
              <a:ext uri="{FF2B5EF4-FFF2-40B4-BE49-F238E27FC236}">
                <a16:creationId xmlns:a16="http://schemas.microsoft.com/office/drawing/2014/main" id="{49DC71CC-F276-446E-9AA9-318C4581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共同方法先于场景复制</a:t>
            </a:r>
          </a:p>
        </p:txBody>
      </p:sp>
      <p:sp>
        <p:nvSpPr>
          <p:cNvPr id="2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9846EB08-7344-4EBD-9F9F-5A690FD6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a0abee7e84b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e761f7be748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9">
            <a:extLst xmlns:a="http://schemas.openxmlformats.org/drawingml/2006/main">
              <a:ext uri="{FF2B5EF4-FFF2-40B4-BE49-F238E27FC236}">
                <a16:creationId xmlns:a16="http://schemas.microsoft.com/office/drawing/2014/main" id="{5CF2C2A6-3BAD-49B7-A3FB-7FDDA4D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FEE49B97-55A3-4D57-92E2-3352BCEE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大宽表把数据结构和业务逻辑绑得太紧</a:t>
            </a:r>
          </a:p>
        </p:txBody>
      </p:sp>
      <p:sp>
        <p:nvSpPr>
          <p:cNvPr id="5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FE3614E0-1A79-40C9-BA02-E3CB9C11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CD641CE1-22D3-4E55-A76A-9BCE6FE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B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300340EA-15D0-48CF-A302-0EE40F7B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8" name="pain-left-bar">
            <a:extLst xmlns:a="http://schemas.openxmlformats.org/drawingml/2006/main">
              <a:ext uri="{FF2B5EF4-FFF2-40B4-BE49-F238E27FC236}">
                <a16:creationId xmlns:a16="http://schemas.microsoft.com/office/drawing/2014/main" id="{66775C53-B0D1-4B7D-A2A2-CDB62AB0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E43"/>
          </a:solidFill>
          <a:ln xmlns:a="http://schemas.openxmlformats.org/drawingml/2006/main" w="9525">
            <a:solidFill>
              <a:srgbClr val="B14E43"/>
            </a:solidFill>
            <a:prstDash val="solid"/>
          </a:ln>
        </p:spPr>
      </p:sp>
      <p:sp>
        <p:nvSpPr>
          <p:cNvPr id="9" name="pain-right-bar">
            <a:extLst xmlns:a="http://schemas.openxmlformats.org/drawingml/2006/main">
              <a:ext uri="{FF2B5EF4-FFF2-40B4-BE49-F238E27FC236}">
                <a16:creationId xmlns:a16="http://schemas.microsoft.com/office/drawing/2014/main" id="{5216791F-049F-4A1B-8331-4EC73D1B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0" name="pain-sequence">
            <a:extLst xmlns:a="http://schemas.openxmlformats.org/drawingml/2006/main">
              <a:ext uri="{FF2B5EF4-FFF2-40B4-BE49-F238E27FC236}">
                <a16:creationId xmlns:a16="http://schemas.microsoft.com/office/drawing/2014/main" id="{7E7F17BD-79CD-4A94-B408-17592A46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11" name="pain-label">
            <a:extLst xmlns:a="http://schemas.openxmlformats.org/drawingml/2006/main">
              <a:ext uri="{FF2B5EF4-FFF2-40B4-BE49-F238E27FC236}">
                <a16:creationId xmlns:a16="http://schemas.microsoft.com/office/drawing/2014/main" id="{EB19DFD5-0516-4C72-AAF2-935C1D1C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2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BA73648C-B974-4E7D-924D-5469DC23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3" name="pain-list">
            <a:extLst xmlns:a="http://schemas.openxmlformats.org/drawingml/2006/main">
              <a:ext uri="{FF2B5EF4-FFF2-40B4-BE49-F238E27FC236}">
                <a16:creationId xmlns:a16="http://schemas.microsoft.com/office/drawing/2014/main" id="{B9BF03F4-B6EB-40D0-B3C2-8DF7C7D1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字段变化容易同时牵动加工、报表、问数和规则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表名、字段名难以承担稳定的业务身份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同一逻辑被复制到多个消费端后，变更难同步</a:t>
            </a:r>
          </a:p>
        </p:txBody>
      </p:sp>
      <p:sp>
        <p:nvSpPr>
          <p:cNvPr id="14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7DA6B833-564D-4DC3-BE61-EA2E8369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数据工程负责有质量、有时点的数据资产版本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本体按对象、关系、指标和规则组织业务语义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下游只引用已发布资源，不各自重建口径</a:t>
            </a:r>
          </a:p>
        </p:txBody>
      </p:sp>
      <p:sp>
        <p:nvSpPr>
          <p:cNvPr id="15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84F18A08-5CCE-4ECF-81B3-1035C9C7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6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BEB848E0-8AF9-463A-BCA5-6DBCBF3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17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8A83A425-96BE-47ED-9206-687D872B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8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61216527-4633-4987-B67A-CC2FD594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9" name="footer-note-9">
            <a:extLst xmlns:a="http://schemas.openxmlformats.org/drawingml/2006/main">
              <a:ext uri="{FF2B5EF4-FFF2-40B4-BE49-F238E27FC236}">
                <a16:creationId xmlns:a16="http://schemas.microsoft.com/office/drawing/2014/main" id="{35F976E7-0FAE-4A03-9E1C-54CD9ED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管理关注｜以平台机制降低结构与口径变更的耦合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85C5ABCE-B239-4C8A-85B8-9725EA00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45166d4ea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9adbf18fb44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0">
            <a:extLst xmlns:a="http://schemas.openxmlformats.org/drawingml/2006/main">
              <a:ext uri="{FF2B5EF4-FFF2-40B4-BE49-F238E27FC236}">
                <a16:creationId xmlns:a16="http://schemas.microsoft.com/office/drawing/2014/main" id="{C2D12C9B-6417-44A4-8C2A-01657D9B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318B5020-D691-4D84-88EE-91FE1B30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文件已经可读，不等于数据已经可消费</a:t>
            </a:r>
          </a:p>
        </p:txBody>
      </p:sp>
      <p:sp>
        <p:nvSpPr>
          <p:cNvPr id="5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093C1258-52B5-4B77-B85D-78243FD4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58B6C217-5F73-4EE7-B261-7523FE67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B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86FE64B3-E14C-4B3A-B0C8-DEBC1D97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8" name="pain-left-bar">
            <a:extLst xmlns:a="http://schemas.openxmlformats.org/drawingml/2006/main">
              <a:ext uri="{FF2B5EF4-FFF2-40B4-BE49-F238E27FC236}">
                <a16:creationId xmlns:a16="http://schemas.microsoft.com/office/drawing/2014/main" id="{778FA676-C587-4D74-A407-1C8FAC46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E43"/>
          </a:solidFill>
          <a:ln xmlns:a="http://schemas.openxmlformats.org/drawingml/2006/main" w="9525">
            <a:solidFill>
              <a:srgbClr val="B14E43"/>
            </a:solidFill>
            <a:prstDash val="solid"/>
          </a:ln>
        </p:spPr>
      </p:sp>
      <p:sp>
        <p:nvSpPr>
          <p:cNvPr id="9" name="pain-right-bar">
            <a:extLst xmlns:a="http://schemas.openxmlformats.org/drawingml/2006/main">
              <a:ext uri="{FF2B5EF4-FFF2-40B4-BE49-F238E27FC236}">
                <a16:creationId xmlns:a16="http://schemas.microsoft.com/office/drawing/2014/main" id="{2A48DEF1-DA63-4BF4-873E-42D963EC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0" name="pain-sequence">
            <a:extLst xmlns:a="http://schemas.openxmlformats.org/drawingml/2006/main">
              <a:ext uri="{FF2B5EF4-FFF2-40B4-BE49-F238E27FC236}">
                <a16:creationId xmlns:a16="http://schemas.microsoft.com/office/drawing/2014/main" id="{AD6904A1-00F3-4319-B428-AE88F19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11" name="pain-label">
            <a:extLst xmlns:a="http://schemas.openxmlformats.org/drawingml/2006/main">
              <a:ext uri="{FF2B5EF4-FFF2-40B4-BE49-F238E27FC236}">
                <a16:creationId xmlns:a16="http://schemas.microsoft.com/office/drawing/2014/main" id="{5195B7C5-6FDC-4649-B8FE-B6F2A4F5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2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3BB218AF-0C08-404F-B797-D1A55F6A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3" name="pain-list">
            <a:extLst xmlns:a="http://schemas.openxmlformats.org/drawingml/2006/main">
              <a:ext uri="{FF2B5EF4-FFF2-40B4-BE49-F238E27FC236}">
                <a16:creationId xmlns:a16="http://schemas.microsoft.com/office/drawing/2014/main" id="{8B14CE4B-7722-4764-B6BA-1FED5A7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当前脱敏工作簿没有统一业务截至时间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“利率形式”空 212 条，“担保方式”空 1,868 条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融资事实与负责人映射分在不同工作表</a:t>
            </a:r>
          </a:p>
        </p:txBody>
      </p:sp>
      <p:sp>
        <p:nvSpPr>
          <p:cNvPr id="14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6EFD1B45-561A-4102-BFE5-0C7E0990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登记业务时点并明确缺失、未知与不适用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经过受控处理和质量门形成不可变数据资产版本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由 T019 固定正式可消费的数据与语义组合</a:t>
            </a:r>
          </a:p>
        </p:txBody>
      </p:sp>
      <p:sp>
        <p:nvSpPr>
          <p:cNvPr id="15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CA3F0913-A5A4-4CB9-9184-EE445942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6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EA87D765-AF50-4791-9D85-39FEAFF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17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54E170C6-0D20-4C82-A26B-D538F848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8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12CAC85F-5910-42E3-92EF-F419AD1D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9" name="footer-note-10">
            <a:extLst xmlns:a="http://schemas.openxmlformats.org/drawingml/2006/main">
              <a:ext uri="{FF2B5EF4-FFF2-40B4-BE49-F238E27FC236}">
                <a16:creationId xmlns:a16="http://schemas.microsoft.com/office/drawing/2014/main" id="{7437C03C-C70A-4926-8EA2-E1948C1C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当前可核验脱敏数据集｜不代表集团真实经营规模</a:t>
            </a:r>
          </a:p>
        </p:txBody>
      </p:sp>
      <p:sp>
        <p:nvSpPr>
          <p:cNvPr id="2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27127C25-BDEC-4D4F-A3CA-DC3CF607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71d33d5fd41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6881594b644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1">
            <a:extLst xmlns:a="http://schemas.openxmlformats.org/drawingml/2006/main">
              <a:ext uri="{FF2B5EF4-FFF2-40B4-BE49-F238E27FC236}">
                <a16:creationId xmlns:a16="http://schemas.microsoft.com/office/drawing/2014/main" id="{E17D6839-692D-4210-AC34-2CF7CC61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77314D75-8745-4B48-8865-CE360808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能看某张表，不等于能对某个对象采取行动</a:t>
            </a:r>
          </a:p>
        </p:txBody>
      </p:sp>
      <p:sp>
        <p:nvSpPr>
          <p:cNvPr id="5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46FB55F9-3003-4083-9D98-321F43BC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B7C03BD4-8BFF-475A-A673-C283441F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B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AE933509-B414-4733-989F-522B5F6E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8" name="pain-left-bar">
            <a:extLst xmlns:a="http://schemas.openxmlformats.org/drawingml/2006/main">
              <a:ext uri="{FF2B5EF4-FFF2-40B4-BE49-F238E27FC236}">
                <a16:creationId xmlns:a16="http://schemas.microsoft.com/office/drawing/2014/main" id="{A6E38D24-ADEE-4538-B447-08E27959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E43"/>
          </a:solidFill>
          <a:ln xmlns:a="http://schemas.openxmlformats.org/drawingml/2006/main" w="9525">
            <a:solidFill>
              <a:srgbClr val="B14E43"/>
            </a:solidFill>
            <a:prstDash val="solid"/>
          </a:ln>
        </p:spPr>
      </p:sp>
      <p:sp>
        <p:nvSpPr>
          <p:cNvPr id="9" name="pain-right-bar">
            <a:extLst xmlns:a="http://schemas.openxmlformats.org/drawingml/2006/main">
              <a:ext uri="{FF2B5EF4-FFF2-40B4-BE49-F238E27FC236}">
                <a16:creationId xmlns:a16="http://schemas.microsoft.com/office/drawing/2014/main" id="{B838EE00-E033-4442-A52E-E1AB0F38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0" name="pain-sequence">
            <a:extLst xmlns:a="http://schemas.openxmlformats.org/drawingml/2006/main">
              <a:ext uri="{FF2B5EF4-FFF2-40B4-BE49-F238E27FC236}">
                <a16:creationId xmlns:a16="http://schemas.microsoft.com/office/drawing/2014/main" id="{D4944618-CC2E-48A7-9D29-46023CE2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CBC6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" name="pain-label">
            <a:extLst xmlns:a="http://schemas.openxmlformats.org/drawingml/2006/main">
              <a:ext uri="{FF2B5EF4-FFF2-40B4-BE49-F238E27FC236}">
                <a16:creationId xmlns:a16="http://schemas.microsoft.com/office/drawing/2014/main" id="{ABE12EA9-5781-45ED-99BD-082F7387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12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CB1D2964-40F0-45A3-AFF4-382B9B6E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3" name="pain-list">
            <a:extLst xmlns:a="http://schemas.openxmlformats.org/drawingml/2006/main">
              <a:ext uri="{FF2B5EF4-FFF2-40B4-BE49-F238E27FC236}">
                <a16:creationId xmlns:a16="http://schemas.microsoft.com/office/drawing/2014/main" id="{9F318825-B48D-4393-828C-ACF7ABFA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系统级或表级权限无法完整表达业务边界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查看资源、查看对象、查看属性和发起行动是不同资格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权限不足不能被混同为数据不存在或版本失效</a:t>
            </a:r>
          </a:p>
        </p:txBody>
      </p:sp>
      <p:sp>
        <p:nvSpPr>
          <p:cNvPr id="14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4F99F41D-1E68-4D09-AEF9-3434DEBD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生产蓝图区分资源、对象、属性和 Action 四个权限平面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权限结果与数据质量、版本状态并列呈现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一期仅有单演示账号，权限能力尚未生产化</a:t>
            </a:r>
          </a:p>
        </p:txBody>
      </p:sp>
      <p:sp>
        <p:nvSpPr>
          <p:cNvPr id="15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BD485752-E1C9-4D7D-9C1C-4E3FDE01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14E43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6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356DCE0D-5754-488D-B66C-A46579C6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17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AA6A3B76-2280-4145-AE69-3D9D310F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8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6CD961A0-FF29-4B04-B3BF-071CF1E7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9" name="footer-note-11">
            <a:extLst xmlns:a="http://schemas.openxmlformats.org/drawingml/2006/main">
              <a:ext uri="{FF2B5EF4-FFF2-40B4-BE49-F238E27FC236}">
                <a16:creationId xmlns:a16="http://schemas.microsoft.com/office/drawing/2014/main" id="{DBB53F9F-27B4-4226-B476-D0CFA8B9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生产蓝图｜一期不声称已具备生产权限治理</a:t>
            </a:r>
          </a:p>
        </p:txBody>
      </p:sp>
      <p:sp>
        <p:nvSpPr>
          <p:cNvPr id="20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C4C322A9-3A4A-40DB-8732-651642A7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c7a4221db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47cf5b0b3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2">
            <a:extLst xmlns:a="http://schemas.openxmlformats.org/drawingml/2006/main">
              <a:ext uri="{FF2B5EF4-FFF2-40B4-BE49-F238E27FC236}">
                <a16:creationId xmlns:a16="http://schemas.microsoft.com/office/drawing/2014/main" id="{2BC79AFA-5111-434F-A9EA-3A166BD4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本体为什么重要</a:t>
            </a:r>
          </a:p>
        </p:txBody>
      </p:sp>
      <p:sp>
        <p:nvSpPr>
          <p:cNvPr id="4" name="title-12">
            <a:extLst xmlns:a="http://schemas.openxmlformats.org/drawingml/2006/main">
              <a:ext uri="{FF2B5EF4-FFF2-40B4-BE49-F238E27FC236}">
                <a16:creationId xmlns:a16="http://schemas.microsoft.com/office/drawing/2014/main" id="{FEF041C2-C65E-49B1-9D9B-E08DF02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本体让单位、融资、银行、负责人和规则进入同一经营语境</a:t>
            </a:r>
          </a:p>
        </p:txBody>
      </p:sp>
      <p:sp>
        <p:nvSpPr>
          <p:cNvPr id="5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3DB44E3F-F19C-4D0E-B7F4-A58F5186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ont-edge-1">
            <a:extLst xmlns:a="http://schemas.openxmlformats.org/drawingml/2006/main">
              <a:ext uri="{FF2B5EF4-FFF2-40B4-BE49-F238E27FC236}">
                <a16:creationId xmlns:a16="http://schemas.microsoft.com/office/drawing/2014/main" id="{81CC95D6-BD20-45A5-9B0C-24162ACD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909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7" name="ont-edge-1-arrowhead">
            <a:extLst xmlns:a="http://schemas.openxmlformats.org/drawingml/2006/main">
              <a:ext uri="{FF2B5EF4-FFF2-40B4-BE49-F238E27FC236}">
                <a16:creationId xmlns:a16="http://schemas.microsoft.com/office/drawing/2014/main" id="{9C7F7507-9199-4A52-AFF3-A3F6D922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62350" y="3333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ont-edge-2">
            <a:extLst xmlns:a="http://schemas.openxmlformats.org/drawingml/2006/main">
              <a:ext uri="{FF2B5EF4-FFF2-40B4-BE49-F238E27FC236}">
                <a16:creationId xmlns:a16="http://schemas.microsoft.com/office/drawing/2014/main" id="{CCF80402-3F8E-4698-A20E-0097E264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9" name="ont-edge-2-arrowhead">
            <a:extLst xmlns:a="http://schemas.openxmlformats.org/drawingml/2006/main">
              <a:ext uri="{FF2B5EF4-FFF2-40B4-BE49-F238E27FC236}">
                <a16:creationId xmlns:a16="http://schemas.microsoft.com/office/drawing/2014/main" id="{610E7E5E-76C1-4E19-AE6D-383CE08D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91250" y="3333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ont-edge-3">
            <a:extLst xmlns:a="http://schemas.openxmlformats.org/drawingml/2006/main">
              <a:ext uri="{FF2B5EF4-FFF2-40B4-BE49-F238E27FC236}">
                <a16:creationId xmlns:a16="http://schemas.microsoft.com/office/drawing/2014/main" id="{CC9EAF24-E15E-41CE-BC76-87502CC6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0450"/>
            <a:ext cx="681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DDA"/>
            </a:solidFill>
            <a:prstDash val="solid"/>
          </a:ln>
        </p:spPr>
      </p:sp>
      <p:sp>
        <p:nvSpPr>
          <p:cNvPr id="11" name="ont-edge-3-arrowhead">
            <a:extLst xmlns:a="http://schemas.openxmlformats.org/drawingml/2006/main">
              <a:ext uri="{FF2B5EF4-FFF2-40B4-BE49-F238E27FC236}">
                <a16:creationId xmlns:a16="http://schemas.microsoft.com/office/drawing/2014/main" id="{03E0680F-403C-4397-BA0E-BC55FFF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20150" y="3543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59DC8-D52E-429A-A54D-8D22CA5C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拥有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847B5-F56E-415E-BFAE-5123CAFE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融资于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833F3-0C82-4928-A52E-14A040C0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责任归属</a:t>
            </a:r>
          </a:p>
        </p:txBody>
      </p:sp>
      <p:sp>
        <p:nvSpPr>
          <p:cNvPr id="15" name="ont-node-1">
            <a:extLst xmlns:a="http://schemas.openxmlformats.org/drawingml/2006/main">
              <a:ext uri="{FF2B5EF4-FFF2-40B4-BE49-F238E27FC236}">
                <a16:creationId xmlns:a16="http://schemas.microsoft.com/office/drawing/2014/main" id="{5D91D5E3-BA11-44B0-AFED-9447796B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6" name="ont-label-1">
            <a:extLst xmlns:a="http://schemas.openxmlformats.org/drawingml/2006/main">
              <a:ext uri="{FF2B5EF4-FFF2-40B4-BE49-F238E27FC236}">
                <a16:creationId xmlns:a16="http://schemas.microsoft.com/office/drawing/2014/main" id="{8E64DEA1-C340-4667-9DD8-3CA82E13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融资主体</a:t>
            </a:r>
          </a:p>
        </p:txBody>
      </p:sp>
      <p:sp>
        <p:nvSpPr>
          <p:cNvPr id="17" name="ont-sub-1">
            <a:extLst xmlns:a="http://schemas.openxmlformats.org/drawingml/2006/main">
              <a:ext uri="{FF2B5EF4-FFF2-40B4-BE49-F238E27FC236}">
                <a16:creationId xmlns:a16="http://schemas.microsoft.com/office/drawing/2014/main" id="{AA37078C-4F0B-4D9C-8112-FFA4B268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18" name="ont-node-2">
            <a:extLst xmlns:a="http://schemas.openxmlformats.org/drawingml/2006/main">
              <a:ext uri="{FF2B5EF4-FFF2-40B4-BE49-F238E27FC236}">
                <a16:creationId xmlns:a16="http://schemas.microsoft.com/office/drawing/2014/main" id="{10BBAE3D-F2E2-479E-AB24-953BE8F7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9" name="ont-label-2">
            <a:extLst xmlns:a="http://schemas.openxmlformats.org/drawingml/2006/main">
              <a:ext uri="{FF2B5EF4-FFF2-40B4-BE49-F238E27FC236}">
                <a16:creationId xmlns:a16="http://schemas.microsoft.com/office/drawing/2014/main" id="{DC29B042-C80D-4FB4-A37E-62C935B9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融资明细</a:t>
            </a:r>
          </a:p>
        </p:txBody>
      </p:sp>
      <p:sp>
        <p:nvSpPr>
          <p:cNvPr id="20" name="ont-sub-2">
            <a:extLst xmlns:a="http://schemas.openxmlformats.org/drawingml/2006/main">
              <a:ext uri="{FF2B5EF4-FFF2-40B4-BE49-F238E27FC236}">
                <a16:creationId xmlns:a16="http://schemas.microsoft.com/office/drawing/2014/main" id="{A6ACA840-D054-4074-8085-D4D18203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EAF5FF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EAF5FF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21" name="ont-node-3">
            <a:extLst xmlns:a="http://schemas.openxmlformats.org/drawingml/2006/main">
              <a:ext uri="{FF2B5EF4-FFF2-40B4-BE49-F238E27FC236}">
                <a16:creationId xmlns:a16="http://schemas.microsoft.com/office/drawing/2014/main" id="{D2DD4834-3D04-46D5-91C3-575E2627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2" name="ont-label-3">
            <a:extLst xmlns:a="http://schemas.openxmlformats.org/drawingml/2006/main">
              <a:ext uri="{FF2B5EF4-FFF2-40B4-BE49-F238E27FC236}">
                <a16:creationId xmlns:a16="http://schemas.microsoft.com/office/drawing/2014/main" id="{76A692B2-223E-4586-9FEB-1673AB68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金融机构</a:t>
            </a:r>
          </a:p>
        </p:txBody>
      </p:sp>
      <p:sp>
        <p:nvSpPr>
          <p:cNvPr id="23" name="ont-sub-3">
            <a:extLst xmlns:a="http://schemas.openxmlformats.org/drawingml/2006/main">
              <a:ext uri="{FF2B5EF4-FFF2-40B4-BE49-F238E27FC236}">
                <a16:creationId xmlns:a16="http://schemas.microsoft.com/office/drawing/2014/main" id="{60372395-6B0F-4740-9F34-45321AD7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24" name="ont-node-4">
            <a:extLst xmlns:a="http://schemas.openxmlformats.org/drawingml/2006/main">
              <a:ext uri="{FF2B5EF4-FFF2-40B4-BE49-F238E27FC236}">
                <a16:creationId xmlns:a16="http://schemas.microsoft.com/office/drawing/2014/main" id="{D06C8E66-837A-4711-8CA5-9D6F0E37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5" name="ont-label-4">
            <a:extLst xmlns:a="http://schemas.openxmlformats.org/drawingml/2006/main">
              <a:ext uri="{FF2B5EF4-FFF2-40B4-BE49-F238E27FC236}">
                <a16:creationId xmlns:a16="http://schemas.microsoft.com/office/drawing/2014/main" id="{5F3A08A0-2C52-4DA4-A873-4E38138B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负责人</a:t>
            </a:r>
          </a:p>
        </p:txBody>
      </p:sp>
      <p:sp>
        <p:nvSpPr>
          <p:cNvPr id="26" name="ont-sub-4">
            <a:extLst xmlns:a="http://schemas.openxmlformats.org/drawingml/2006/main">
              <a:ext uri="{FF2B5EF4-FFF2-40B4-BE49-F238E27FC236}">
                <a16:creationId xmlns:a16="http://schemas.microsoft.com/office/drawing/2014/main" id="{E12C3486-BFA1-419D-985F-7AF3D608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27" name="ont-definition-1">
            <a:extLst xmlns:a="http://schemas.openxmlformats.org/drawingml/2006/main">
              <a:ext uri="{FF2B5EF4-FFF2-40B4-BE49-F238E27FC236}">
                <a16:creationId xmlns:a16="http://schemas.microsoft.com/office/drawing/2014/main" id="{3F1AEE30-D22D-4FBF-83C2-39D12529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5F8B6-32AB-4675-8B69-A8E5CD52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共同词典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ECB636-7ADB-4DA9-90D2-5D0B1CA5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对象与属性</a:t>
            </a:r>
          </a:p>
        </p:txBody>
      </p:sp>
      <p:sp>
        <p:nvSpPr>
          <p:cNvPr id="30" name="ont-definition-2">
            <a:extLst xmlns:a="http://schemas.openxmlformats.org/drawingml/2006/main">
              <a:ext uri="{FF2B5EF4-FFF2-40B4-BE49-F238E27FC236}">
                <a16:creationId xmlns:a16="http://schemas.microsoft.com/office/drawing/2014/main" id="{877DF405-DD71-4B8C-9DCF-58B41715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E174E6-8799-4B87-9268-4A3E066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关系地图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1FEF92-1941-46D1-8A7F-CDB469B6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对象如何关联</a:t>
            </a:r>
          </a:p>
        </p:txBody>
      </p:sp>
      <p:sp>
        <p:nvSpPr>
          <p:cNvPr id="33" name="ont-definition-3">
            <a:extLst xmlns:a="http://schemas.openxmlformats.org/drawingml/2006/main">
              <a:ext uri="{FF2B5EF4-FFF2-40B4-BE49-F238E27FC236}">
                <a16:creationId xmlns:a16="http://schemas.microsoft.com/office/drawing/2014/main" id="{FCB5363A-A750-463F-943F-BEA613AF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C4062D-678B-40F6-A13F-3042B827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计算口径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ABCFE-7808-46B6-A931-4EF6DB0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Metric</a:t>
            </a:r>
          </a:p>
        </p:txBody>
      </p:sp>
      <p:sp>
        <p:nvSpPr>
          <p:cNvPr id="36" name="ont-definition-4">
            <a:extLst xmlns:a="http://schemas.openxmlformats.org/drawingml/2006/main">
              <a:ext uri="{FF2B5EF4-FFF2-40B4-BE49-F238E27FC236}">
                <a16:creationId xmlns:a16="http://schemas.microsoft.com/office/drawing/2014/main" id="{1C8CE8B2-126B-4344-AEFE-73CB309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2CFE56-49FD-4B9F-A90C-E0DC4C4C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判断规则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9D27EC-04F0-44C3-AD16-D197622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Rule</a:t>
            </a:r>
          </a:p>
        </p:txBody>
      </p:sp>
      <p:sp>
        <p:nvSpPr>
          <p:cNvPr id="39" name="ont-definition-5">
            <a:extLst xmlns:a="http://schemas.openxmlformats.org/drawingml/2006/main">
              <a:ext uri="{FF2B5EF4-FFF2-40B4-BE49-F238E27FC236}">
                <a16:creationId xmlns:a16="http://schemas.microsoft.com/office/drawing/2014/main" id="{E4CF8378-5495-41F4-9B95-FD25D046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70857C-1424-4AA2-87B7-8C573DCF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行动合同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98C0E0-7F10-4CFF-844F-A117E897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Action Type</a:t>
            </a:r>
          </a:p>
        </p:txBody>
      </p:sp>
      <p:sp>
        <p:nvSpPr>
          <p:cNvPr id="42" name="footer-note-12">
            <a:extLst xmlns:a="http://schemas.openxmlformats.org/drawingml/2006/main">
              <a:ext uri="{FF2B5EF4-FFF2-40B4-BE49-F238E27FC236}">
                <a16:creationId xmlns:a16="http://schemas.microsoft.com/office/drawing/2014/main" id="{5A4C7DC4-091F-43D3-BC2D-846F920C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本体不是再建一张表，也不只是画知识图谱</a:t>
            </a:r>
          </a:p>
        </p:txBody>
      </p:sp>
      <p:sp>
        <p:nvSpPr>
          <p:cNvPr id="43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AC11B6CE-7EC1-4D6E-9E08-FD283148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660e1beb04a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3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ce2cb1ea446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3">
            <a:extLst xmlns:a="http://schemas.openxmlformats.org/drawingml/2006/main">
              <a:ext uri="{FF2B5EF4-FFF2-40B4-BE49-F238E27FC236}">
                <a16:creationId xmlns:a16="http://schemas.microsoft.com/office/drawing/2014/main" id="{1674D856-71E0-46C1-8908-9536B4BC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本体与传统平台</a:t>
            </a:r>
          </a:p>
        </p:txBody>
      </p:sp>
      <p:sp>
        <p:nvSpPr>
          <p:cNvPr id="4" name="title-13">
            <a:extLst xmlns:a="http://schemas.openxmlformats.org/drawingml/2006/main">
              <a:ext uri="{FF2B5EF4-FFF2-40B4-BE49-F238E27FC236}">
                <a16:creationId xmlns:a16="http://schemas.microsoft.com/office/drawing/2014/main" id="{1AEFF7A7-4273-4FD8-BA23-8D04E392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数据平台与本体各管一层，协同完成可信消费</a:t>
            </a:r>
          </a:p>
        </p:txBody>
      </p:sp>
      <p:sp>
        <p:nvSpPr>
          <p:cNvPr id="5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558E78C9-2D1D-4B6A-B392-6F4B873F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compare-edge-1">
            <a:extLst xmlns:a="http://schemas.openxmlformats.org/drawingml/2006/main">
              <a:ext uri="{FF2B5EF4-FFF2-40B4-BE49-F238E27FC236}">
                <a16:creationId xmlns:a16="http://schemas.microsoft.com/office/drawing/2014/main" id="{8B7F1B7F-043E-4591-A583-3698A2D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compare-edge-1-arrowhead">
            <a:extLst xmlns:a="http://schemas.openxmlformats.org/drawingml/2006/main">
              <a:ext uri="{FF2B5EF4-FFF2-40B4-BE49-F238E27FC236}">
                <a16:creationId xmlns:a16="http://schemas.microsoft.com/office/drawing/2014/main" id="{ADAA4894-B7BB-4934-8597-3ABCDF13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481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compare-edge-2">
            <a:extLst xmlns:a="http://schemas.openxmlformats.org/drawingml/2006/main">
              <a:ext uri="{FF2B5EF4-FFF2-40B4-BE49-F238E27FC236}">
                <a16:creationId xmlns:a16="http://schemas.microsoft.com/office/drawing/2014/main" id="{FAAFBEDD-4696-4F08-B70E-4DF08356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33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compare-edge-2-arrowhead">
            <a:extLst xmlns:a="http://schemas.openxmlformats.org/drawingml/2006/main">
              <a:ext uri="{FF2B5EF4-FFF2-40B4-BE49-F238E27FC236}">
                <a16:creationId xmlns:a16="http://schemas.microsoft.com/office/drawing/2014/main" id="{D06FD2DB-32A7-41C7-90AF-542069E2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665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compare-col-1">
            <a:extLst xmlns:a="http://schemas.openxmlformats.org/drawingml/2006/main">
              <a:ext uri="{FF2B5EF4-FFF2-40B4-BE49-F238E27FC236}">
                <a16:creationId xmlns:a16="http://schemas.microsoft.com/office/drawing/2014/main" id="{F33F0CEC-3BBD-4AF1-9CD9-52336F41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219450" cy="2990850"/>
          </a:xfrm>
          <a:prstGeom xmlns:a="http://schemas.openxmlformats.org/drawingml/2006/main" prst="roundRect">
            <a:avLst>
              <a:gd name="adj" fmla="val 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1" name="compare-bar-1">
            <a:extLst xmlns:a="http://schemas.openxmlformats.org/drawingml/2006/main">
              <a:ext uri="{FF2B5EF4-FFF2-40B4-BE49-F238E27FC236}">
                <a16:creationId xmlns:a16="http://schemas.microsoft.com/office/drawing/2014/main" id="{B4A77672-845E-4781-929B-EF1A8A53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66B"/>
          </a:solidFill>
          <a:ln xmlns:a="http://schemas.openxmlformats.org/drawingml/2006/main" w="9525">
            <a:solidFill>
              <a:srgbClr val="53666B"/>
            </a:solidFill>
            <a:prstDash val="solid"/>
          </a:ln>
        </p:spPr>
      </p:sp>
      <p:sp>
        <p:nvSpPr>
          <p:cNvPr id="12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EC1786C2-8374-4F70-AE8D-55952F12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数据平台</a:t>
            </a:r>
          </a:p>
        </p:txBody>
      </p:sp>
      <p:sp>
        <p:nvSpPr>
          <p:cNvPr id="13" name="compare-sub-1">
            <a:extLst xmlns:a="http://schemas.openxmlformats.org/drawingml/2006/main">
              <a:ext uri="{FF2B5EF4-FFF2-40B4-BE49-F238E27FC236}">
                <a16:creationId xmlns:a16="http://schemas.microsoft.com/office/drawing/2014/main" id="{A11F1028-4C46-4FE3-BFF1-4E83EC57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让数据可用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97B73-8174-487A-A471-8C024116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5" name="compare-list-1">
            <a:extLst xmlns:a="http://schemas.openxmlformats.org/drawingml/2006/main">
              <a:ext uri="{FF2B5EF4-FFF2-40B4-BE49-F238E27FC236}">
                <a16:creationId xmlns:a16="http://schemas.microsoft.com/office/drawing/2014/main" id="{E34CAF97-E367-4357-9DFF-4D55D56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来源与快照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加工与质量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时点与版本</a:t>
            </a:r>
          </a:p>
        </p:txBody>
      </p:sp>
      <p:sp>
        <p:nvSpPr>
          <p:cNvPr id="16" name="compare-col-2">
            <a:extLst xmlns:a="http://schemas.openxmlformats.org/drawingml/2006/main">
              <a:ext uri="{FF2B5EF4-FFF2-40B4-BE49-F238E27FC236}">
                <a16:creationId xmlns:a16="http://schemas.microsoft.com/office/drawing/2014/main" id="{05511F45-E9A6-46D1-9B00-9B664C85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3219450" cy="2990850"/>
          </a:xfrm>
          <a:prstGeom xmlns:a="http://schemas.openxmlformats.org/drawingml/2006/main" prst="roundRect">
            <a:avLst>
              <a:gd name="adj" fmla="val 955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7" name="compare-bar-2">
            <a:extLst xmlns:a="http://schemas.openxmlformats.org/drawingml/2006/main">
              <a:ext uri="{FF2B5EF4-FFF2-40B4-BE49-F238E27FC236}">
                <a16:creationId xmlns:a16="http://schemas.microsoft.com/office/drawing/2014/main" id="{4FC07C4C-77BD-4ADA-AA3E-9802048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8" name="compare-title-2">
            <a:extLst xmlns:a="http://schemas.openxmlformats.org/drawingml/2006/main">
              <a:ext uri="{FF2B5EF4-FFF2-40B4-BE49-F238E27FC236}">
                <a16:creationId xmlns:a16="http://schemas.microsoft.com/office/drawing/2014/main" id="{EE713397-DA91-40E1-A61C-8044007B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本体平台</a:t>
            </a:r>
          </a:p>
        </p:txBody>
      </p:sp>
      <p:sp>
        <p:nvSpPr>
          <p:cNvPr id="19" name="compare-sub-2">
            <a:extLst xmlns:a="http://schemas.openxmlformats.org/drawingml/2006/main">
              <a:ext uri="{FF2B5EF4-FFF2-40B4-BE49-F238E27FC236}">
                <a16:creationId xmlns:a16="http://schemas.microsoft.com/office/drawing/2014/main" id="{8B3EFAEF-4F4D-409D-964A-4B015B5B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让业务可理解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8D64F-B4BA-4359-8A6B-D0821F0A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1" name="compare-list-2">
            <a:extLst xmlns:a="http://schemas.openxmlformats.org/drawingml/2006/main">
              <a:ext uri="{FF2B5EF4-FFF2-40B4-BE49-F238E27FC236}">
                <a16:creationId xmlns:a16="http://schemas.microsoft.com/office/drawing/2014/main" id="{4EB640B9-BBA0-4DEF-86FA-B4FB8C82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对象与关系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指标与规则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行动定义</a:t>
            </a:r>
          </a:p>
        </p:txBody>
      </p:sp>
      <p:sp>
        <p:nvSpPr>
          <p:cNvPr id="22" name="compare-col-3">
            <a:extLst xmlns:a="http://schemas.openxmlformats.org/drawingml/2006/main">
              <a:ext uri="{FF2B5EF4-FFF2-40B4-BE49-F238E27FC236}">
                <a16:creationId xmlns:a16="http://schemas.microsoft.com/office/drawing/2014/main" id="{7182735A-D4A5-44C0-B90B-5E6933D9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3219450" cy="2990850"/>
          </a:xfrm>
          <a:prstGeom xmlns:a="http://schemas.openxmlformats.org/drawingml/2006/main" prst="roundRect">
            <a:avLst>
              <a:gd name="adj" fmla="val 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3" name="compare-bar-3">
            <a:extLst xmlns:a="http://schemas.openxmlformats.org/drawingml/2006/main">
              <a:ext uri="{FF2B5EF4-FFF2-40B4-BE49-F238E27FC236}">
                <a16:creationId xmlns:a16="http://schemas.microsoft.com/office/drawing/2014/main" id="{AA853A43-62FE-4CE5-A650-A1EA2156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036"/>
          </a:solidFill>
          <a:ln xmlns:a="http://schemas.openxmlformats.org/drawingml/2006/main" w="9525">
            <a:solidFill>
              <a:srgbClr val="D17036"/>
            </a:solidFill>
            <a:prstDash val="solid"/>
          </a:ln>
        </p:spPr>
      </p:sp>
      <p:sp>
        <p:nvSpPr>
          <p:cNvPr id="24" name="compare-title-3">
            <a:extLst xmlns:a="http://schemas.openxmlformats.org/drawingml/2006/main">
              <a:ext uri="{FF2B5EF4-FFF2-40B4-BE49-F238E27FC236}">
                <a16:creationId xmlns:a16="http://schemas.microsoft.com/office/drawing/2014/main" id="{646E7128-4495-44B5-8E58-9564C92A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智能消费</a:t>
            </a:r>
          </a:p>
        </p:txBody>
      </p:sp>
      <p:sp>
        <p:nvSpPr>
          <p:cNvPr id="25" name="compare-sub-3">
            <a:extLst xmlns:a="http://schemas.openxmlformats.org/drawingml/2006/main">
              <a:ext uri="{FF2B5EF4-FFF2-40B4-BE49-F238E27FC236}">
                <a16:creationId xmlns:a16="http://schemas.microsoft.com/office/drawing/2014/main" id="{BDC1F650-C82C-4FA3-B164-A4ADA1E6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17036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D17036"/>
                </a:solidFill>
                <a:latin typeface="微软雅黑"/>
                <a:ea typeface="微软雅黑"/>
                <a:cs typeface="微软雅黑"/>
              </a:rPr>
              <a:t>让结果可复核、行动可追踪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BF878-1D73-4F7A-A457-C5DD1811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7" name="compare-list-3">
            <a:extLst xmlns:a="http://schemas.openxmlformats.org/drawingml/2006/main">
              <a:ext uri="{FF2B5EF4-FFF2-40B4-BE49-F238E27FC236}">
                <a16:creationId xmlns:a16="http://schemas.microsoft.com/office/drawing/2014/main" id="{64DB3320-FB8C-4711-8CB3-0D7C3AEC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问数与报告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Agent 解释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8" name="footer-note-13">
            <a:extLst xmlns:a="http://schemas.openxmlformats.org/drawingml/2006/main">
              <a:ext uri="{FF2B5EF4-FFF2-40B4-BE49-F238E27FC236}">
                <a16:creationId xmlns:a16="http://schemas.microsoft.com/office/drawing/2014/main" id="{D6569DEC-6B81-4A12-AB39-34DF14B5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上下层协作，不相互替代；正式消费只读取兼容的精确版本</a:t>
            </a:r>
          </a:p>
        </p:txBody>
      </p:sp>
      <p:sp>
        <p:nvSpPr>
          <p:cNvPr id="29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6C654DA3-F062-4107-A084-5A3C6CB3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de0796a2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58072851940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4">
            <a:extLst xmlns:a="http://schemas.openxmlformats.org/drawingml/2006/main">
              <a:ext uri="{FF2B5EF4-FFF2-40B4-BE49-F238E27FC236}">
                <a16:creationId xmlns:a16="http://schemas.microsoft.com/office/drawing/2014/main" id="{6E99BCD1-1508-45BB-832E-0676B66A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应用架构</a:t>
            </a:r>
          </a:p>
        </p:txBody>
      </p:sp>
      <p:sp>
        <p:nvSpPr>
          <p:cNvPr id="4" name="title-14">
            <a:extLst xmlns:a="http://schemas.openxmlformats.org/drawingml/2006/main">
              <a:ext uri="{FF2B5EF4-FFF2-40B4-BE49-F238E27FC236}">
                <a16:creationId xmlns:a16="http://schemas.microsoft.com/office/drawing/2014/main" id="{D2203EA5-90F1-4D5E-A9FF-F9FCD66C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六个模块分别回答六类管理问题</a:t>
            </a:r>
          </a:p>
        </p:txBody>
      </p:sp>
      <p:sp>
        <p:nvSpPr>
          <p:cNvPr id="5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A468E86A-B96C-4662-9E0A-54244800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management-module-1">
            <a:extLst xmlns:a="http://schemas.openxmlformats.org/drawingml/2006/main">
              <a:ext uri="{FF2B5EF4-FFF2-40B4-BE49-F238E27FC236}">
                <a16:creationId xmlns:a16="http://schemas.microsoft.com/office/drawing/2014/main" id="{67192780-E03A-4557-9D2C-A0EC7E1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3429000" cy="1257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114A2-26C4-4773-BA4D-2F6BF9A2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8" name="management-question-1">
            <a:extLst xmlns:a="http://schemas.openxmlformats.org/drawingml/2006/main">
              <a:ext uri="{FF2B5EF4-FFF2-40B4-BE49-F238E27FC236}">
                <a16:creationId xmlns:a16="http://schemas.microsoft.com/office/drawing/2014/main" id="{0A8D680D-A089-44D0-BD1B-37FB63C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发生了什么</a:t>
            </a:r>
          </a:p>
        </p:txBody>
      </p:sp>
      <p:sp>
        <p:nvSpPr>
          <p:cNvPr id="9" name="management-name-1">
            <a:extLst xmlns:a="http://schemas.openxmlformats.org/drawingml/2006/main">
              <a:ext uri="{FF2B5EF4-FFF2-40B4-BE49-F238E27FC236}">
                <a16:creationId xmlns:a16="http://schemas.microsoft.com/office/drawing/2014/main" id="{026CCEE3-521E-4E73-8168-2F08327F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报告中心</a:t>
            </a:r>
          </a:p>
        </p:txBody>
      </p:sp>
      <p:sp>
        <p:nvSpPr>
          <p:cNvPr id="10" name="management-answer-1">
            <a:extLst xmlns:a="http://schemas.openxmlformats.org/drawingml/2006/main">
              <a:ext uri="{FF2B5EF4-FFF2-40B4-BE49-F238E27FC236}">
                <a16:creationId xmlns:a16="http://schemas.microsoft.com/office/drawing/2014/main" id="{212758B7-ECA4-480C-8794-EA51D263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当前事实、驾驶舱与正式报告</a:t>
            </a:r>
          </a:p>
        </p:txBody>
      </p:sp>
      <p:sp>
        <p:nvSpPr>
          <p:cNvPr id="11" name="management-module-2">
            <a:extLst xmlns:a="http://schemas.openxmlformats.org/drawingml/2006/main">
              <a:ext uri="{FF2B5EF4-FFF2-40B4-BE49-F238E27FC236}">
                <a16:creationId xmlns:a16="http://schemas.microsoft.com/office/drawing/2014/main" id="{196A8342-4561-4CB3-9615-30676358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429000" cy="1257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DEFE2-D21F-4769-BD89-436DFCB4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3" name="management-question-2">
            <a:extLst xmlns:a="http://schemas.openxmlformats.org/drawingml/2006/main">
              <a:ext uri="{FF2B5EF4-FFF2-40B4-BE49-F238E27FC236}">
                <a16:creationId xmlns:a16="http://schemas.microsoft.com/office/drawing/2014/main" id="{A537ED15-4A94-44B4-BE7F-46ABDF1D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为什么</a:t>
            </a:r>
          </a:p>
        </p:txBody>
      </p:sp>
      <p:sp>
        <p:nvSpPr>
          <p:cNvPr id="14" name="management-name-2">
            <a:extLst xmlns:a="http://schemas.openxmlformats.org/drawingml/2006/main">
              <a:ext uri="{FF2B5EF4-FFF2-40B4-BE49-F238E27FC236}">
                <a16:creationId xmlns:a16="http://schemas.microsoft.com/office/drawing/2014/main" id="{CF943F90-36FF-4BE3-8A50-7AD0C7D9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智能问数</a:t>
            </a:r>
          </a:p>
        </p:txBody>
      </p:sp>
      <p:sp>
        <p:nvSpPr>
          <p:cNvPr id="15" name="management-answer-2">
            <a:extLst xmlns:a="http://schemas.openxmlformats.org/drawingml/2006/main">
              <a:ext uri="{FF2B5EF4-FFF2-40B4-BE49-F238E27FC236}">
                <a16:creationId xmlns:a16="http://schemas.microsoft.com/office/drawing/2014/main" id="{F1FF2F8C-B13E-4C20-A73E-648F1538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临时问题与证据化回答</a:t>
            </a:r>
          </a:p>
        </p:txBody>
      </p:sp>
      <p:sp>
        <p:nvSpPr>
          <p:cNvPr id="16" name="management-module-3">
            <a:extLst xmlns:a="http://schemas.openxmlformats.org/drawingml/2006/main">
              <a:ext uri="{FF2B5EF4-FFF2-40B4-BE49-F238E27FC236}">
                <a16:creationId xmlns:a16="http://schemas.microsoft.com/office/drawing/2014/main" id="{6DEF84F3-9DF1-4F43-A3A2-38C7A7B6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429000" cy="1257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11F0F-9779-4A04-95C0-9CC522BD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036"/>
          </a:solidFill>
          <a:ln xmlns:a="http://schemas.openxmlformats.org/drawingml/2006/main" w="9525">
            <a:solidFill>
              <a:srgbClr val="D17036"/>
            </a:solidFill>
            <a:prstDash val="solid"/>
          </a:ln>
        </p:spPr>
      </p:sp>
      <p:sp>
        <p:nvSpPr>
          <p:cNvPr id="18" name="management-question-3">
            <a:extLst xmlns:a="http://schemas.openxmlformats.org/drawingml/2006/main">
              <a:ext uri="{FF2B5EF4-FFF2-40B4-BE49-F238E27FC236}">
                <a16:creationId xmlns:a16="http://schemas.microsoft.com/office/drawing/2014/main" id="{B99A49D0-4192-4303-8002-D6B57CF2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1703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D17036"/>
                </a:solidFill>
                <a:latin typeface="微软雅黑"/>
                <a:ea typeface="微软雅黑"/>
                <a:cs typeface="微软雅黑"/>
              </a:rPr>
              <a:t>是否行动</a:t>
            </a:r>
          </a:p>
        </p:txBody>
      </p:sp>
      <p:sp>
        <p:nvSpPr>
          <p:cNvPr id="19" name="management-name-3">
            <a:extLst xmlns:a="http://schemas.openxmlformats.org/drawingml/2006/main">
              <a:ext uri="{FF2B5EF4-FFF2-40B4-BE49-F238E27FC236}">
                <a16:creationId xmlns:a16="http://schemas.microsoft.com/office/drawing/2014/main" id="{D4B7F4DF-A99F-4D21-A427-36BAFC59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决策中心</a:t>
            </a:r>
          </a:p>
        </p:txBody>
      </p:sp>
      <p:sp>
        <p:nvSpPr>
          <p:cNvPr id="20" name="management-answer-3">
            <a:extLst xmlns:a="http://schemas.openxmlformats.org/drawingml/2006/main">
              <a:ext uri="{FF2B5EF4-FFF2-40B4-BE49-F238E27FC236}">
                <a16:creationId xmlns:a16="http://schemas.microsoft.com/office/drawing/2014/main" id="{B2B43233-9939-436A-8F12-59CF8A0E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请求、提醒、确认与待办</a:t>
            </a:r>
          </a:p>
        </p:txBody>
      </p:sp>
      <p:sp>
        <p:nvSpPr>
          <p:cNvPr id="21" name="management-module-4">
            <a:extLst xmlns:a="http://schemas.openxmlformats.org/drawingml/2006/main">
              <a:ext uri="{FF2B5EF4-FFF2-40B4-BE49-F238E27FC236}">
                <a16:creationId xmlns:a16="http://schemas.microsoft.com/office/drawing/2014/main" id="{62947F78-67A5-4ECA-AB02-A6A52E5A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3429000" cy="1257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27957-957B-43C2-BC54-ECCB12C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3" name="management-question-4">
            <a:extLst xmlns:a="http://schemas.openxmlformats.org/drawingml/2006/main">
              <a:ext uri="{FF2B5EF4-FFF2-40B4-BE49-F238E27FC236}">
                <a16:creationId xmlns:a16="http://schemas.microsoft.com/office/drawing/2014/main" id="{07946887-A503-4BB6-83B5-F24CF9B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如何解释</a:t>
            </a:r>
          </a:p>
        </p:txBody>
      </p:sp>
      <p:sp>
        <p:nvSpPr>
          <p:cNvPr id="24" name="management-name-4">
            <a:extLst xmlns:a="http://schemas.openxmlformats.org/drawingml/2006/main">
              <a:ext uri="{FF2B5EF4-FFF2-40B4-BE49-F238E27FC236}">
                <a16:creationId xmlns:a16="http://schemas.microsoft.com/office/drawing/2014/main" id="{FE155450-5186-44F3-B0EF-57FBC798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Agent 应用</a:t>
            </a:r>
          </a:p>
        </p:txBody>
      </p:sp>
      <p:sp>
        <p:nvSpPr>
          <p:cNvPr id="25" name="management-answer-4">
            <a:extLst xmlns:a="http://schemas.openxmlformats.org/drawingml/2006/main">
              <a:ext uri="{FF2B5EF4-FFF2-40B4-BE49-F238E27FC236}">
                <a16:creationId xmlns:a16="http://schemas.microsoft.com/office/drawing/2014/main" id="{98ED1F58-EA69-479C-866B-5C2938D1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固定证据上的洞察与草稿</a:t>
            </a:r>
          </a:p>
        </p:txBody>
      </p:sp>
      <p:sp>
        <p:nvSpPr>
          <p:cNvPr id="26" name="management-module-5">
            <a:extLst xmlns:a="http://schemas.openxmlformats.org/drawingml/2006/main">
              <a:ext uri="{FF2B5EF4-FFF2-40B4-BE49-F238E27FC236}">
                <a16:creationId xmlns:a16="http://schemas.microsoft.com/office/drawing/2014/main" id="{0126E38D-0424-4E82-A539-9D6E0D0F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429000" cy="1257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A6F0E-C961-4455-B427-81B805FF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8" name="management-question-5">
            <a:extLst xmlns:a="http://schemas.openxmlformats.org/drawingml/2006/main">
              <a:ext uri="{FF2B5EF4-FFF2-40B4-BE49-F238E27FC236}">
                <a16:creationId xmlns:a16="http://schemas.microsoft.com/office/drawing/2014/main" id="{9952CD6A-1898-4B30-BED4-EF183C64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口径是什么</a:t>
            </a:r>
          </a:p>
        </p:txBody>
      </p:sp>
      <p:sp>
        <p:nvSpPr>
          <p:cNvPr id="29" name="management-name-5">
            <a:extLst xmlns:a="http://schemas.openxmlformats.org/drawingml/2006/main">
              <a:ext uri="{FF2B5EF4-FFF2-40B4-BE49-F238E27FC236}">
                <a16:creationId xmlns:a16="http://schemas.microsoft.com/office/drawing/2014/main" id="{86FBB8A9-5847-4369-84C6-C0E3532E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576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本体管理</a:t>
            </a:r>
          </a:p>
        </p:txBody>
      </p:sp>
      <p:sp>
        <p:nvSpPr>
          <p:cNvPr id="30" name="management-answer-5">
            <a:extLst xmlns:a="http://schemas.openxmlformats.org/drawingml/2006/main">
              <a:ext uri="{FF2B5EF4-FFF2-40B4-BE49-F238E27FC236}">
                <a16:creationId xmlns:a16="http://schemas.microsoft.com/office/drawing/2014/main" id="{C0DA53A4-373D-482D-962B-C1D9D331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对象、指标、规则与行动定义</a:t>
            </a:r>
          </a:p>
        </p:txBody>
      </p:sp>
      <p:sp>
        <p:nvSpPr>
          <p:cNvPr id="31" name="management-module-6">
            <a:extLst xmlns:a="http://schemas.openxmlformats.org/drawingml/2006/main">
              <a:ext uri="{FF2B5EF4-FFF2-40B4-BE49-F238E27FC236}">
                <a16:creationId xmlns:a16="http://schemas.microsoft.com/office/drawing/2014/main" id="{56C363F2-360A-4776-8B33-708E6E36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3429000" cy="1257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09295F-FD17-48D5-9FEE-900F0A01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33" name="management-question-6">
            <a:extLst xmlns:a="http://schemas.openxmlformats.org/drawingml/2006/main">
              <a:ext uri="{FF2B5EF4-FFF2-40B4-BE49-F238E27FC236}">
                <a16:creationId xmlns:a16="http://schemas.microsoft.com/office/drawing/2014/main" id="{EBCD0879-59EC-4F86-BDCA-C496D56D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数据可信吗</a:t>
            </a:r>
          </a:p>
        </p:txBody>
      </p:sp>
      <p:sp>
        <p:nvSpPr>
          <p:cNvPr id="34" name="management-name-6">
            <a:extLst xmlns:a="http://schemas.openxmlformats.org/drawingml/2006/main">
              <a:ext uri="{FF2B5EF4-FFF2-40B4-BE49-F238E27FC236}">
                <a16:creationId xmlns:a16="http://schemas.microsoft.com/office/drawing/2014/main" id="{350034D9-19AC-4737-987A-365A9CA2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数据工程</a:t>
            </a:r>
          </a:p>
        </p:txBody>
      </p:sp>
      <p:sp>
        <p:nvSpPr>
          <p:cNvPr id="35" name="management-answer-6">
            <a:extLst xmlns:a="http://schemas.openxmlformats.org/drawingml/2006/main">
              <a:ext uri="{FF2B5EF4-FFF2-40B4-BE49-F238E27FC236}">
                <a16:creationId xmlns:a16="http://schemas.microsoft.com/office/drawing/2014/main" id="{8693CDB2-4B19-4A4F-8ACB-D007A1F7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来源、质量、时点与数据版本</a:t>
            </a:r>
          </a:p>
        </p:txBody>
      </p:sp>
      <p:sp>
        <p:nvSpPr>
          <p:cNvPr id="36" name="management-summary">
            <a:extLst xmlns:a="http://schemas.openxmlformats.org/drawingml/2006/main">
              <a:ext uri="{FF2B5EF4-FFF2-40B4-BE49-F238E27FC236}">
                <a16:creationId xmlns:a16="http://schemas.microsoft.com/office/drawing/2014/main" id="{92FED6B8-C979-4020-98CB-78CD172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管理问题决定消费方式，资源 Owner 决定版本、口径与运行边界。</a:t>
            </a:r>
          </a:p>
        </p:txBody>
      </p:sp>
      <p:sp>
        <p:nvSpPr>
          <p:cNvPr id="37" name="footer-note-14">
            <a:extLst xmlns:a="http://schemas.openxmlformats.org/drawingml/2006/main">
              <a:ext uri="{FF2B5EF4-FFF2-40B4-BE49-F238E27FC236}">
                <a16:creationId xmlns:a16="http://schemas.microsoft.com/office/drawing/2014/main" id="{8B807D73-88B9-434B-8369-CF09B941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六模块分别回答六类管理问题，避免用一个“AI 平台”模糊责任</a:t>
            </a:r>
          </a:p>
        </p:txBody>
      </p:sp>
      <p:sp>
        <p:nvSpPr>
          <p:cNvPr id="38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E1F3BFEC-030F-47A1-8AF8-E7E44AC7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84206339445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ae941382a49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5">
            <a:extLst xmlns:a="http://schemas.openxmlformats.org/drawingml/2006/main">
              <a:ext uri="{FF2B5EF4-FFF2-40B4-BE49-F238E27FC236}">
                <a16:creationId xmlns:a16="http://schemas.microsoft.com/office/drawing/2014/main" id="{7AC8F4A3-66B9-491F-89E6-0D64BB9B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数据消费路径</a:t>
            </a:r>
          </a:p>
        </p:txBody>
      </p:sp>
      <p:sp>
        <p:nvSpPr>
          <p:cNvPr id="4" name="title-15">
            <a:extLst xmlns:a="http://schemas.openxmlformats.org/drawingml/2006/main">
              <a:ext uri="{FF2B5EF4-FFF2-40B4-BE49-F238E27FC236}">
                <a16:creationId xmlns:a16="http://schemas.microsoft.com/office/drawing/2014/main" id="{C53F2E95-E6A1-4141-9F76-9A929099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一条权威消费路径避免模块各自选择版本</a:t>
            </a:r>
          </a:p>
        </p:txBody>
      </p:sp>
      <p:sp>
        <p:nvSpPr>
          <p:cNvPr id="5" name="title-rule-15">
            <a:extLst xmlns:a="http://schemas.openxmlformats.org/drawingml/2006/main">
              <a:ext uri="{FF2B5EF4-FFF2-40B4-BE49-F238E27FC236}">
                <a16:creationId xmlns:a16="http://schemas.microsoft.com/office/drawing/2014/main" id="{34F60E88-8858-47ED-A2AE-E83B169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path-edge-1">
            <a:extLst xmlns:a="http://schemas.openxmlformats.org/drawingml/2006/main">
              <a:ext uri="{FF2B5EF4-FFF2-40B4-BE49-F238E27FC236}">
                <a16:creationId xmlns:a16="http://schemas.microsoft.com/office/drawing/2014/main" id="{7989FD1B-684F-40E7-BD18-C5E11FF5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path-edge-1-arrowhead">
            <a:extLst xmlns:a="http://schemas.openxmlformats.org/drawingml/2006/main">
              <a:ext uri="{FF2B5EF4-FFF2-40B4-BE49-F238E27FC236}">
                <a16:creationId xmlns:a16="http://schemas.microsoft.com/office/drawing/2014/main" id="{8C0623D8-9D60-4EA0-BBCD-F1CED8E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145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path-edge-2">
            <a:extLst xmlns:a="http://schemas.openxmlformats.org/drawingml/2006/main">
              <a:ext uri="{FF2B5EF4-FFF2-40B4-BE49-F238E27FC236}">
                <a16:creationId xmlns:a16="http://schemas.microsoft.com/office/drawing/2014/main" id="{5EA707A9-4FC5-4B2F-AE1B-C20B2A35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path-edge-2-arrowhead">
            <a:extLst xmlns:a="http://schemas.openxmlformats.org/drawingml/2006/main">
              <a:ext uri="{FF2B5EF4-FFF2-40B4-BE49-F238E27FC236}">
                <a16:creationId xmlns:a16="http://schemas.microsoft.com/office/drawing/2014/main" id="{D7F8A637-D8AE-4878-93D9-3E605AE1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814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path-edge-3">
            <a:extLst xmlns:a="http://schemas.openxmlformats.org/drawingml/2006/main">
              <a:ext uri="{FF2B5EF4-FFF2-40B4-BE49-F238E27FC236}">
                <a16:creationId xmlns:a16="http://schemas.microsoft.com/office/drawing/2014/main" id="{5A241B39-5762-4124-B4BB-8B3D46F4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1" name="path-edge-3-arrowhead">
            <a:extLst xmlns:a="http://schemas.openxmlformats.org/drawingml/2006/main">
              <a:ext uri="{FF2B5EF4-FFF2-40B4-BE49-F238E27FC236}">
                <a16:creationId xmlns:a16="http://schemas.microsoft.com/office/drawing/2014/main" id="{3DFCF7AF-EB59-41A2-BB8D-4A7F9B2E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483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path-edge-4">
            <a:extLst xmlns:a="http://schemas.openxmlformats.org/drawingml/2006/main">
              <a:ext uri="{FF2B5EF4-FFF2-40B4-BE49-F238E27FC236}">
                <a16:creationId xmlns:a16="http://schemas.microsoft.com/office/drawing/2014/main" id="{7305C94A-D7DD-45AB-B7AB-A69ED56F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3" name="path-edge-4-arrowhead">
            <a:extLst xmlns:a="http://schemas.openxmlformats.org/drawingml/2006/main">
              <a:ext uri="{FF2B5EF4-FFF2-40B4-BE49-F238E27FC236}">
                <a16:creationId xmlns:a16="http://schemas.microsoft.com/office/drawing/2014/main" id="{25378ED9-9554-41EA-88CF-C4033F04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4" name="path-edge-5">
            <a:extLst xmlns:a="http://schemas.openxmlformats.org/drawingml/2006/main">
              <a:ext uri="{FF2B5EF4-FFF2-40B4-BE49-F238E27FC236}">
                <a16:creationId xmlns:a16="http://schemas.microsoft.com/office/drawing/2014/main" id="{C0628380-6B09-4867-8E20-D818728C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5" name="path-edge-5-arrowhead">
            <a:extLst xmlns:a="http://schemas.openxmlformats.org/drawingml/2006/main">
              <a:ext uri="{FF2B5EF4-FFF2-40B4-BE49-F238E27FC236}">
                <a16:creationId xmlns:a16="http://schemas.microsoft.com/office/drawing/2014/main" id="{6907B014-2A46-4159-9317-6701894C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821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6" name="path-node-1">
            <a:extLst xmlns:a="http://schemas.openxmlformats.org/drawingml/2006/main">
              <a:ext uri="{FF2B5EF4-FFF2-40B4-BE49-F238E27FC236}">
                <a16:creationId xmlns:a16="http://schemas.microsoft.com/office/drawing/2014/main" id="{2DBEBDD1-9A55-4E06-855C-68E5E9F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7" name="path-index-1">
            <a:extLst xmlns:a="http://schemas.openxmlformats.org/drawingml/2006/main">
              <a:ext uri="{FF2B5EF4-FFF2-40B4-BE49-F238E27FC236}">
                <a16:creationId xmlns:a16="http://schemas.microsoft.com/office/drawing/2014/main" id="{9DF7DD17-1AEF-43AB-B654-5BC3414B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path-label-1">
            <a:extLst xmlns:a="http://schemas.openxmlformats.org/drawingml/2006/main">
              <a:ext uri="{FF2B5EF4-FFF2-40B4-BE49-F238E27FC236}">
                <a16:creationId xmlns:a16="http://schemas.microsoft.com/office/drawing/2014/main" id="{318BBAF9-126B-49E1-A7D8-FA1C99AF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来源 / 快照</a:t>
            </a:r>
          </a:p>
        </p:txBody>
      </p:sp>
      <p:sp>
        <p:nvSpPr>
          <p:cNvPr id="19" name="path-sub-1">
            <a:extLst xmlns:a="http://schemas.openxmlformats.org/drawingml/2006/main">
              <a:ext uri="{FF2B5EF4-FFF2-40B4-BE49-F238E27FC236}">
                <a16:creationId xmlns:a16="http://schemas.microsoft.com/office/drawing/2014/main" id="{B021C90B-B2A7-452E-B09C-D22E51B9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T001 / T002</a:t>
            </a:r>
          </a:p>
        </p:txBody>
      </p:sp>
      <p:sp>
        <p:nvSpPr>
          <p:cNvPr id="20" name="path-node-2">
            <a:extLst xmlns:a="http://schemas.openxmlformats.org/drawingml/2006/main">
              <a:ext uri="{FF2B5EF4-FFF2-40B4-BE49-F238E27FC236}">
                <a16:creationId xmlns:a16="http://schemas.microsoft.com/office/drawing/2014/main" id="{C2A5D1C1-F01A-4CB3-926C-4CCBE208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1" name="path-index-2">
            <a:extLst xmlns:a="http://schemas.openxmlformats.org/drawingml/2006/main">
              <a:ext uri="{FF2B5EF4-FFF2-40B4-BE49-F238E27FC236}">
                <a16:creationId xmlns:a16="http://schemas.microsoft.com/office/drawing/2014/main" id="{EE28FA55-B056-4046-AB6A-5F22BBF0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2" name="path-label-2">
            <a:extLst xmlns:a="http://schemas.openxmlformats.org/drawingml/2006/main">
              <a:ext uri="{FF2B5EF4-FFF2-40B4-BE49-F238E27FC236}">
                <a16:creationId xmlns:a16="http://schemas.microsoft.com/office/drawing/2014/main" id="{8FFBDF1D-2836-42C1-99B6-8B65345D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数据资产</a:t>
            </a:r>
          </a:p>
        </p:txBody>
      </p:sp>
      <p:sp>
        <p:nvSpPr>
          <p:cNvPr id="23" name="path-sub-2">
            <a:extLst xmlns:a="http://schemas.openxmlformats.org/drawingml/2006/main">
              <a:ext uri="{FF2B5EF4-FFF2-40B4-BE49-F238E27FC236}">
                <a16:creationId xmlns:a16="http://schemas.microsoft.com/office/drawing/2014/main" id="{59FC49AB-6230-46BB-AFFC-E63A46BF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T007 / T008</a:t>
            </a:r>
          </a:p>
        </p:txBody>
      </p:sp>
      <p:sp>
        <p:nvSpPr>
          <p:cNvPr id="24" name="path-node-3">
            <a:extLst xmlns:a="http://schemas.openxmlformats.org/drawingml/2006/main">
              <a:ext uri="{FF2B5EF4-FFF2-40B4-BE49-F238E27FC236}">
                <a16:creationId xmlns:a16="http://schemas.microsoft.com/office/drawing/2014/main" id="{74727813-A40C-43A4-BF83-158042A6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5" name="path-index-3">
            <a:extLst xmlns:a="http://schemas.openxmlformats.org/drawingml/2006/main">
              <a:ext uri="{FF2B5EF4-FFF2-40B4-BE49-F238E27FC236}">
                <a16:creationId xmlns:a16="http://schemas.microsoft.com/office/drawing/2014/main" id="{D51ACB54-F82E-404B-AD93-0721D11B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6" name="path-label-3">
            <a:extLst xmlns:a="http://schemas.openxmlformats.org/drawingml/2006/main">
              <a:ext uri="{FF2B5EF4-FFF2-40B4-BE49-F238E27FC236}">
                <a16:creationId xmlns:a16="http://schemas.microsoft.com/office/drawing/2014/main" id="{22385FE3-A205-4F29-A171-7A39EB50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语义发布</a:t>
            </a:r>
          </a:p>
        </p:txBody>
      </p:sp>
      <p:sp>
        <p:nvSpPr>
          <p:cNvPr id="27" name="path-sub-3">
            <a:extLst xmlns:a="http://schemas.openxmlformats.org/drawingml/2006/main">
              <a:ext uri="{FF2B5EF4-FFF2-40B4-BE49-F238E27FC236}">
                <a16:creationId xmlns:a16="http://schemas.microsoft.com/office/drawing/2014/main" id="{8939A4D3-72F3-48FA-AEF2-77C681E6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C028 / C029</a:t>
            </a:r>
          </a:p>
        </p:txBody>
      </p:sp>
      <p:sp>
        <p:nvSpPr>
          <p:cNvPr id="28" name="path-node-4">
            <a:extLst xmlns:a="http://schemas.openxmlformats.org/drawingml/2006/main">
              <a:ext uri="{FF2B5EF4-FFF2-40B4-BE49-F238E27FC236}">
                <a16:creationId xmlns:a16="http://schemas.microsoft.com/office/drawing/2014/main" id="{4B1E4A36-2CFB-45A4-9416-4BD7AB5D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9" name="path-index-4">
            <a:extLst xmlns:a="http://schemas.openxmlformats.org/drawingml/2006/main">
              <a:ext uri="{FF2B5EF4-FFF2-40B4-BE49-F238E27FC236}">
                <a16:creationId xmlns:a16="http://schemas.microsoft.com/office/drawing/2014/main" id="{A41F9B4C-94C5-4080-9926-4173CD1B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0" name="path-label-4">
            <a:extLst xmlns:a="http://schemas.openxmlformats.org/drawingml/2006/main">
              <a:ext uri="{FF2B5EF4-FFF2-40B4-BE49-F238E27FC236}">
                <a16:creationId xmlns:a16="http://schemas.microsoft.com/office/drawing/2014/main" id="{53B72D5E-43F8-4D80-B790-39FE5477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权威绑定</a:t>
            </a:r>
          </a:p>
        </p:txBody>
      </p:sp>
      <p:sp>
        <p:nvSpPr>
          <p:cNvPr id="31" name="path-sub-4">
            <a:extLst xmlns:a="http://schemas.openxmlformats.org/drawingml/2006/main">
              <a:ext uri="{FF2B5EF4-FFF2-40B4-BE49-F238E27FC236}">
                <a16:creationId xmlns:a16="http://schemas.microsoft.com/office/drawing/2014/main" id="{198338E1-68DF-4D01-9257-4A24E023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T018 / T019</a:t>
            </a:r>
          </a:p>
        </p:txBody>
      </p:sp>
      <p:sp>
        <p:nvSpPr>
          <p:cNvPr id="32" name="path-node-5">
            <a:extLst xmlns:a="http://schemas.openxmlformats.org/drawingml/2006/main">
              <a:ext uri="{FF2B5EF4-FFF2-40B4-BE49-F238E27FC236}">
                <a16:creationId xmlns:a16="http://schemas.microsoft.com/office/drawing/2014/main" id="{B7F5F71F-D661-4016-B4C5-EEEE4A4F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3" name="path-index-5">
            <a:extLst xmlns:a="http://schemas.openxmlformats.org/drawingml/2006/main">
              <a:ext uri="{FF2B5EF4-FFF2-40B4-BE49-F238E27FC236}">
                <a16:creationId xmlns:a16="http://schemas.microsoft.com/office/drawing/2014/main" id="{28AB03CD-BECB-46AB-AACA-14D7B8D5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4" name="path-label-5">
            <a:extLst xmlns:a="http://schemas.openxmlformats.org/drawingml/2006/main">
              <a:ext uri="{FF2B5EF4-FFF2-40B4-BE49-F238E27FC236}">
                <a16:creationId xmlns:a16="http://schemas.microsoft.com/office/drawing/2014/main" id="{90366D58-CCFF-40FE-88AD-BD378F72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问数 / 报告 / Agent</a:t>
            </a:r>
          </a:p>
        </p:txBody>
      </p:sp>
      <p:sp>
        <p:nvSpPr>
          <p:cNvPr id="35" name="path-sub-5">
            <a:extLst xmlns:a="http://schemas.openxmlformats.org/drawingml/2006/main">
              <a:ext uri="{FF2B5EF4-FFF2-40B4-BE49-F238E27FC236}">
                <a16:creationId xmlns:a16="http://schemas.microsoft.com/office/drawing/2014/main" id="{E620D408-004D-41D1-AB4A-55BE1164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固定结果与证据</a:t>
            </a:r>
          </a:p>
        </p:txBody>
      </p:sp>
      <p:sp>
        <p:nvSpPr>
          <p:cNvPr id="36" name="path-node-6">
            <a:extLst xmlns:a="http://schemas.openxmlformats.org/drawingml/2006/main">
              <a:ext uri="{FF2B5EF4-FFF2-40B4-BE49-F238E27FC236}">
                <a16:creationId xmlns:a16="http://schemas.microsoft.com/office/drawing/2014/main" id="{83C4B45B-DB00-4883-8B3E-041792A5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7" name="path-index-6">
            <a:extLst xmlns:a="http://schemas.openxmlformats.org/drawingml/2006/main">
              <a:ext uri="{FF2B5EF4-FFF2-40B4-BE49-F238E27FC236}">
                <a16:creationId xmlns:a16="http://schemas.microsoft.com/office/drawing/2014/main" id="{DAB7E78E-6ADE-4E8E-BE76-F9A55885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8" name="path-label-6">
            <a:extLst xmlns:a="http://schemas.openxmlformats.org/drawingml/2006/main">
              <a:ext uri="{FF2B5EF4-FFF2-40B4-BE49-F238E27FC236}">
                <a16:creationId xmlns:a16="http://schemas.microsoft.com/office/drawing/2014/main" id="{56D78A8A-A093-4CBA-B18C-E1ABA4FF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决策与行动</a:t>
            </a:r>
          </a:p>
        </p:txBody>
      </p:sp>
      <p:sp>
        <p:nvSpPr>
          <p:cNvPr id="39" name="path-sub-6">
            <a:extLst xmlns:a="http://schemas.openxmlformats.org/drawingml/2006/main">
              <a:ext uri="{FF2B5EF4-FFF2-40B4-BE49-F238E27FC236}">
                <a16:creationId xmlns:a16="http://schemas.microsoft.com/office/drawing/2014/main" id="{961D3D35-7D6F-45EA-9B1F-F5E65C07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C011 → 人工确认</a:t>
            </a:r>
          </a:p>
        </p:txBody>
      </p:sp>
      <p:sp>
        <p:nvSpPr>
          <p:cNvPr id="40" name="path-gate-top">
            <a:extLst xmlns:a="http://schemas.openxmlformats.org/drawingml/2006/main">
              <a:ext uri="{FF2B5EF4-FFF2-40B4-BE49-F238E27FC236}">
                <a16:creationId xmlns:a16="http://schemas.microsoft.com/office/drawing/2014/main" id="{C7680AAE-FD5C-4CAE-8AE3-D3C6D99A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7E8B"/>
            </a:solidFill>
            <a:prstDash val="dash"/>
          </a:ln>
        </p:spPr>
      </p:sp>
      <p:sp>
        <p:nvSpPr>
          <p:cNvPr id="41" name="path-gate-box">
            <a:extLst xmlns:a="http://schemas.openxmlformats.org/drawingml/2006/main">
              <a:ext uri="{FF2B5EF4-FFF2-40B4-BE49-F238E27FC236}">
                <a16:creationId xmlns:a16="http://schemas.microsoft.com/office/drawing/2014/main" id="{7EEF369F-EA3B-4E56-9898-2CBBBBD4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666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42" name="path-gate-label">
            <a:extLst xmlns:a="http://schemas.openxmlformats.org/drawingml/2006/main">
              <a:ext uri="{FF2B5EF4-FFF2-40B4-BE49-F238E27FC236}">
                <a16:creationId xmlns:a16="http://schemas.microsoft.com/office/drawing/2014/main" id="{B04418F6-805B-4FB6-8537-4EAFA365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719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权威门</a:t>
            </a:r>
          </a:p>
        </p:txBody>
      </p:sp>
      <p:sp>
        <p:nvSpPr>
          <p:cNvPr id="43" name="path-gate-bottom">
            <a:extLst xmlns:a="http://schemas.openxmlformats.org/drawingml/2006/main">
              <a:ext uri="{FF2B5EF4-FFF2-40B4-BE49-F238E27FC236}">
                <a16:creationId xmlns:a16="http://schemas.microsoft.com/office/drawing/2014/main" id="{D44F1AA1-56DC-4C60-89AF-89E38F6B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910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7E8B"/>
            </a:solidFill>
            <a:prstDash val="dash"/>
          </a:ln>
        </p:spPr>
      </p:sp>
      <p:sp>
        <p:nvSpPr>
          <p:cNvPr id="44" name="path-summary">
            <a:extLst xmlns:a="http://schemas.openxmlformats.org/drawingml/2006/main">
              <a:ext uri="{FF2B5EF4-FFF2-40B4-BE49-F238E27FC236}">
                <a16:creationId xmlns:a16="http://schemas.microsoft.com/office/drawing/2014/main" id="{E050628C-B432-4B43-B221-4BD6F688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消费者不自行选择“最新文件”或重算指标；正式消费依据 T019 指向的精确兼容组合。</a:t>
            </a:r>
          </a:p>
        </p:txBody>
      </p:sp>
      <p:sp>
        <p:nvSpPr>
          <p:cNvPr id="45" name="footer-note-15">
            <a:extLst xmlns:a="http://schemas.openxmlformats.org/drawingml/2006/main">
              <a:ext uri="{FF2B5EF4-FFF2-40B4-BE49-F238E27FC236}">
                <a16:creationId xmlns:a16="http://schemas.microsoft.com/office/drawing/2014/main" id="{6D1671CB-7B2D-4656-A4FE-F20F1F82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权威路径：数据版本 → 语义版本 → 固定结果与证据 → 人工确认后的行动</a:t>
            </a:r>
          </a:p>
        </p:txBody>
      </p:sp>
      <p:sp>
        <p:nvSpPr>
          <p:cNvPr id="46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27020743-3125-4FA4-B25D-8A832688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dedf3e9a54a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eb2da9c0744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6">
            <a:extLst xmlns:a="http://schemas.openxmlformats.org/drawingml/2006/main">
              <a:ext uri="{FF2B5EF4-FFF2-40B4-BE49-F238E27FC236}">
                <a16:creationId xmlns:a16="http://schemas.microsoft.com/office/drawing/2014/main" id="{9D691CD8-936B-4564-A812-6E543E42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报告中心</a:t>
            </a:r>
          </a:p>
        </p:txBody>
      </p:sp>
      <p:sp>
        <p:nvSpPr>
          <p:cNvPr id="4" name="title-16">
            <a:extLst xmlns:a="http://schemas.openxmlformats.org/drawingml/2006/main">
              <a:ext uri="{FF2B5EF4-FFF2-40B4-BE49-F238E27FC236}">
                <a16:creationId xmlns:a16="http://schemas.microsoft.com/office/drawing/2014/main" id="{1B202DFD-5DDD-4B4C-9BD7-269CC948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报告中心把固定证据变成可复核的正式产物</a:t>
            </a:r>
          </a:p>
        </p:txBody>
      </p:sp>
      <p:sp>
        <p:nvSpPr>
          <p:cNvPr id="5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586C73F2-D9BC-418B-AF0C-C843EDC1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B1475FD7-D820-4426-BC82-3FDBCF4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73F84C17-9213-43FD-AE61-752E2AED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653040AC-2DB7-412B-989F-8E6AFFC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73541A85-E16A-4ECC-A036-6F9654E0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0AA686E2-6D78-44E0-8471-4E4292B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0E5406D6-A72E-42CB-A4F7-6FC85E5F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8F2F0EC0-0142-4983-98D6-49920775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F690129B-6325-46A7-A7C4-93779310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5FAA866E-B2F4-4437-A3A2-5FE1E467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0B78693D-EA52-4EB3-8C1D-2D3D84FE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20A3149E-DC33-49BC-959A-4428123A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ACD7D13A-99A9-4BF4-9F93-A39186DF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DA8B582A-028E-4A77-A259-868600AE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报告定义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BDC1DB21-D2CD-4CAB-A019-9AFE09B3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17B61ED7-A86C-47E5-B6DD-346DBDA6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E452B27F-FAE3-46E0-AEED-305C28E5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固定证据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01990084-3CF4-4555-988D-02693E0D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42B3DCE5-02B8-4971-9987-A84CBECE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2DB81775-BF44-4D44-B2D5-1A2C75BA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Agent 草稿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F1EC114C-EA95-4785-A5B6-5A71F23D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E6374597-51F1-4872-AE36-D71689FE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E75718F7-877F-4881-BCF3-5D6E5D43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确定性核验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076B7B95-2A8C-4945-9022-7703D7F8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BC011221-4DFD-45D0-BCB2-D7BC01A2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C523C70F-79F0-4D2A-B506-18AF5815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人工复核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A11862C7-C2C2-487F-88E7-F280A98F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BE9FDAD5-E50E-43D5-88AB-F5E16852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8F30B5B0-F3A6-46BC-95B5-49075E56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HTML / PDF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46784EF8-6B6D-4F23-A6C0-24D0457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FDABEEEC-6ED0-48FA-8F02-836DC27C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74994E48-69F3-45E6-BE08-597AE0AA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驾驶舱用于当前视野，正式报告固定证据和版本；两者不混用。</a:t>
            </a:r>
          </a:p>
        </p:txBody>
      </p:sp>
      <p:sp>
        <p:nvSpPr>
          <p:cNvPr id="37" name="footer-note-16">
            <a:extLst xmlns:a="http://schemas.openxmlformats.org/drawingml/2006/main">
              <a:ext uri="{FF2B5EF4-FFF2-40B4-BE49-F238E27FC236}">
                <a16:creationId xmlns:a16="http://schemas.microsoft.com/office/drawing/2014/main" id="{0B43A339-1E43-4D08-B27C-E3AEE15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报告中心｜模块拥有自己的资源与状态边界</a:t>
            </a:r>
          </a:p>
        </p:txBody>
      </p:sp>
      <p:sp>
        <p:nvSpPr>
          <p:cNvPr id="38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6ABDFF3F-4024-4EBD-9DA0-C65D171A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68d7b4aba4f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85716c20f41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7">
            <a:extLst xmlns:a="http://schemas.openxmlformats.org/drawingml/2006/main">
              <a:ext uri="{FF2B5EF4-FFF2-40B4-BE49-F238E27FC236}">
                <a16:creationId xmlns:a16="http://schemas.microsoft.com/office/drawing/2014/main" id="{E663BAD2-6D83-480A-8229-BD001A72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决策中心</a:t>
            </a:r>
          </a:p>
        </p:txBody>
      </p:sp>
      <p:sp>
        <p:nvSpPr>
          <p:cNvPr id="4" name="title-17">
            <a:extLst xmlns:a="http://schemas.openxmlformats.org/drawingml/2006/main">
              <a:ext uri="{FF2B5EF4-FFF2-40B4-BE49-F238E27FC236}">
                <a16:creationId xmlns:a16="http://schemas.microsoft.com/office/drawing/2014/main" id="{3A99D305-0759-4CF6-9C18-5873FB74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决策中心以 Action Request 为唯一标准入口</a:t>
            </a:r>
          </a:p>
        </p:txBody>
      </p:sp>
      <p:sp>
        <p:nvSpPr>
          <p:cNvPr id="5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63C2E88A-A119-4836-B70B-1A95792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4DA2C7DF-0322-49D6-BF0E-7E0B90EC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A7AD972B-9DF7-4CDB-AFF5-E37B6658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6C572CAA-0661-4D30-BA0F-388A9F2D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861DDFE1-6545-49D5-9243-22A5E588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78B545F9-0051-4F63-96BF-13E4FF49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F5172A3E-87DA-4FB4-AB57-4FEA765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F4D4974F-4892-4D1A-9AA9-58CE807E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D0F71BD9-8A6F-4B26-9B2E-FB11CC67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0704D9C7-F99B-4CFF-AECB-A07712FD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584D76CA-B55D-4CE6-B6B8-DE61F1ED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E457B4D6-FD1E-4370-8BBA-16F561B3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5A345E22-B1CB-404C-8673-3E216CA8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26AA1261-117A-4E66-983A-F502FCAF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四类来源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8C095C6C-FFF0-4F76-ACC0-248A2811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E7FA57F4-BC97-4761-8794-ED4FCC45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7F0337F3-5751-487B-AB98-AE0B167E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A317EF4A-23E6-49AE-894F-FFF24EC6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4DCBFA25-A6A5-4877-B547-512602A4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CADAA84A-7BA1-4676-BA05-0C2B885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提醒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6CC734B9-F0DA-4887-BE15-12C4E33B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CF9287E1-3807-4FA8-852A-745BB6D9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D475E4A4-280E-447C-84EB-6EB9D2AD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人工确认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A444CDD8-2ADB-41A9-8F33-04F1D690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1F4A8EBB-2806-4505-9F18-CE85B932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B451FAB8-D165-4A95-A296-0565B58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负责人待办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B91CD94E-D20F-462A-9FBE-4F5529A5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49752023-0B9F-4132-94BC-A2B757E3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7E832E66-179B-4C1B-8E06-651637CE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状态与纠正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2CEDF788-3F15-4CB3-BBB8-16C9C30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F0CCB772-0ADF-445D-A8B5-63867409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8B0A5121-7C48-41E1-AA44-F1D5D87E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未经人工确认不得创建负责人待办；确认成功与待办创建成功分开记录。</a:t>
            </a:r>
          </a:p>
        </p:txBody>
      </p:sp>
      <p:sp>
        <p:nvSpPr>
          <p:cNvPr id="37" name="footer-note-17">
            <a:extLst xmlns:a="http://schemas.openxmlformats.org/drawingml/2006/main">
              <a:ext uri="{FF2B5EF4-FFF2-40B4-BE49-F238E27FC236}">
                <a16:creationId xmlns:a16="http://schemas.microsoft.com/office/drawing/2014/main" id="{3788E48E-1A02-4FFB-8BFF-1E67D33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决策中心｜模块拥有自己的资源与状态边界</a:t>
            </a:r>
          </a:p>
        </p:txBody>
      </p:sp>
      <p:sp>
        <p:nvSpPr>
          <p:cNvPr id="38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081EDC63-C33E-4629-AE76-49856224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cc8ca5e6d42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d047a3a3d44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8">
            <a:extLst xmlns:a="http://schemas.openxmlformats.org/drawingml/2006/main">
              <a:ext uri="{FF2B5EF4-FFF2-40B4-BE49-F238E27FC236}">
                <a16:creationId xmlns:a16="http://schemas.microsoft.com/office/drawing/2014/main" id="{8BA64153-5ADE-4555-87C8-FDA178F9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智能问数</a:t>
            </a:r>
          </a:p>
        </p:txBody>
      </p:sp>
      <p:sp>
        <p:nvSpPr>
          <p:cNvPr id="4" name="title-18">
            <a:extLst xmlns:a="http://schemas.openxmlformats.org/drawingml/2006/main">
              <a:ext uri="{FF2B5EF4-FFF2-40B4-BE49-F238E27FC236}">
                <a16:creationId xmlns:a16="http://schemas.microsoft.com/office/drawing/2014/main" id="{0D15A26C-268B-4783-B978-F7D56F12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智能问数先固定上下文和结果，再由 LLM 解释</a:t>
            </a:r>
          </a:p>
        </p:txBody>
      </p:sp>
      <p:sp>
        <p:nvSpPr>
          <p:cNvPr id="5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46237CC9-44D3-4ACE-8AB2-218C6041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B3BBDB48-792F-4D20-9EAF-7C663B90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BC7CDA66-7B9A-481F-B56F-A39E2E7F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00808083-4971-422D-A6DE-821C60D6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7524A2AD-6906-4115-BB03-D675E2EB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0AA7283D-D85A-4AD0-AB39-6850A1EA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8764B4B5-E0C0-4714-AB49-21C92D27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55669AB0-5F47-461A-97EF-ABBB5394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4A95F830-218E-47A4-8D45-BDBCAAC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551A1F07-1281-4DE6-A5D7-A177E90D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7EF61B50-0FBC-4223-94CC-E2ABFFCB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E6684264-F386-461F-B1B7-99752DA2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AF81C692-D6EE-444F-A4F5-2BD46971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0EA03DA3-6551-4138-9133-1D4CC1D3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用户问题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2A32D15C-7069-4552-BFB0-11D1C5D5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CC6EB0C0-01C5-4202-921F-AAB547D2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E5251C2D-B9FB-4EE7-9960-E5BC2194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消歧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009E3D4A-3680-4114-ABDF-1EE59C03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73708EBD-79DA-4A1A-A94A-8A96A0D0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F06FDA74-0BB8-491C-AA85-C302222C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上下文门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9D090AC1-9263-4851-BF27-632D187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660481F5-85F9-4FE5-83F5-E6678A20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7B646CDE-CE8F-4F03-BB74-7D55FE80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受控查询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EC9AB2C8-E8A0-4772-B0E0-AE6E6DC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7306F2BC-7D8C-4D4B-9DA5-3B2754F7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895A8D36-F9C4-4290-8A19-B3E9038C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结果与证据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8FBFA765-F363-4306-BC58-213500F6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7C16FCDB-634F-4260-9F97-80E6F73F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53F2E5FE-18C2-463C-91BA-98835457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解释 / 请求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3620AD9A-520B-490E-B506-E0546AB8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7FE87AF4-564A-4DCB-8803-AECCA5A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47DEAC8E-825F-4E15-BCB2-C2C773EC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LLM 不补数、不改单位、不计算 Metric、不判断 Rule。</a:t>
            </a:r>
          </a:p>
        </p:txBody>
      </p:sp>
      <p:sp>
        <p:nvSpPr>
          <p:cNvPr id="37" name="footer-note-18">
            <a:extLst xmlns:a="http://schemas.openxmlformats.org/drawingml/2006/main">
              <a:ext uri="{FF2B5EF4-FFF2-40B4-BE49-F238E27FC236}">
                <a16:creationId xmlns:a16="http://schemas.microsoft.com/office/drawing/2014/main" id="{DEB9BA50-1F94-4F16-ADEA-20C6CA2A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智能问数｜模块拥有自己的资源与状态边界</a:t>
            </a:r>
          </a:p>
        </p:txBody>
      </p:sp>
      <p:sp>
        <p:nvSpPr>
          <p:cNvPr id="38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53BC81FB-3FB8-4536-9866-4D9D77BD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aec8e9a97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19538115b4b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9">
            <a:extLst xmlns:a="http://schemas.openxmlformats.org/drawingml/2006/main">
              <a:ext uri="{FF2B5EF4-FFF2-40B4-BE49-F238E27FC236}">
                <a16:creationId xmlns:a16="http://schemas.microsoft.com/office/drawing/2014/main" id="{163ECBEC-BD2A-4AB7-A998-3F51F7AF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Agent 应用</a:t>
            </a:r>
          </a:p>
        </p:txBody>
      </p:sp>
      <p:sp>
        <p:nvSpPr>
          <p:cNvPr id="4" name="title-19">
            <a:extLst xmlns:a="http://schemas.openxmlformats.org/drawingml/2006/main">
              <a:ext uri="{FF2B5EF4-FFF2-40B4-BE49-F238E27FC236}">
                <a16:creationId xmlns:a16="http://schemas.microsoft.com/office/drawing/2014/main" id="{937AA14F-439C-466A-8F22-DC8B3AF1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Agent 应用只在固定证据包上生成结构化内容</a:t>
            </a:r>
          </a:p>
        </p:txBody>
      </p:sp>
      <p:sp>
        <p:nvSpPr>
          <p:cNvPr id="5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00308E34-FF28-4765-9C0A-102A260C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68B6149D-AB63-4C57-A0C0-5E6DC3EA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1945CAFC-5396-4874-8327-9449D718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C4F2A637-1B39-4480-B17D-757EC0FD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566C2544-924F-4C83-9437-2A7A4654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43D80468-7178-4433-BBD6-35369B8F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D863D3D7-8CD8-4614-9C7C-5E9F62F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8F47D749-0AC8-48AB-A53A-D456366D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139B418E-31A5-4908-B52E-F4D919F9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33B6C331-FC2F-4724-B975-4687EAD4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28B7FDA9-9F42-47B8-A8D4-23CB5FBC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8D4FB475-1C21-48CA-A176-82385F9D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D41C2BEB-0407-4EC9-ABF1-21B6C077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46C00DB0-D0F3-45C5-9786-B2A56C91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固定证据包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6270D76D-CB67-48CE-9C79-4D0603B6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880C0081-ABB8-41DB-94F7-9B35D4A4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4BA1ACF5-4D9A-45FF-924D-56F7521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Agent Release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CED75409-718F-4005-97F5-6F2D9AF5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8CB6472F-6979-4E40-AE84-E089C7FC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E86D9AC2-A68D-4556-B2D8-D1465A8F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受控运行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568F7A98-E7EE-4BF7-8671-AD11A15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EAB22A37-7AC4-4B9C-8F4B-2002479E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2A78B437-9B58-4647-8E27-7B99F71A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结构化洞察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3409F036-53A2-4C9A-9169-56C4C24E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C7710FAA-56B2-407F-8AC9-FBBED64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FC40F6E8-041C-4A1A-BAC8-86BCAF8A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人工复核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579ADBA6-16BE-4801-8C17-5F873BE6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C082DB4D-1169-4273-97DA-79F4BE5E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7EC40690-1BD1-48CC-9D07-9632C523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移交模块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BFC3885F-F61D-4F2D-94D4-A896B12A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6E033986-7646-4BE1-AC99-F505983A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5B659D76-D737-4E26-91FC-6E8F77FC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Agent 不选择权威版本，不改写业务口径，不直接维护决策运行状态。</a:t>
            </a:r>
          </a:p>
        </p:txBody>
      </p:sp>
      <p:sp>
        <p:nvSpPr>
          <p:cNvPr id="37" name="footer-note-19">
            <a:extLst xmlns:a="http://schemas.openxmlformats.org/drawingml/2006/main">
              <a:ext uri="{FF2B5EF4-FFF2-40B4-BE49-F238E27FC236}">
                <a16:creationId xmlns:a16="http://schemas.microsoft.com/office/drawing/2014/main" id="{E6CE2856-AA1A-427B-A233-F2F01AF8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Agent 应用｜模块拥有自己的资源与状态边界</a:t>
            </a:r>
          </a:p>
        </p:txBody>
      </p:sp>
      <p:sp>
        <p:nvSpPr>
          <p:cNvPr id="38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161C305B-70BF-4F34-A8A8-7F9D9E22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0b42d12b448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d6868dcc24c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0">
            <a:extLst xmlns:a="http://schemas.openxmlformats.org/drawingml/2006/main">
              <a:ext uri="{FF2B5EF4-FFF2-40B4-BE49-F238E27FC236}">
                <a16:creationId xmlns:a16="http://schemas.microsoft.com/office/drawing/2014/main" id="{AC30DEAC-C395-4E6A-AEC7-B4638DE6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本体管理</a:t>
            </a:r>
          </a:p>
        </p:txBody>
      </p:sp>
      <p:sp>
        <p:nvSpPr>
          <p:cNvPr id="4" name="title-20">
            <a:extLst xmlns:a="http://schemas.openxmlformats.org/drawingml/2006/main">
              <a:ext uri="{FF2B5EF4-FFF2-40B4-BE49-F238E27FC236}">
                <a16:creationId xmlns:a16="http://schemas.microsoft.com/office/drawing/2014/main" id="{F8EB4519-8A06-42D2-964C-5327D837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本体管理发布对象、关系、指标、规则和行动定义</a:t>
            </a:r>
          </a:p>
        </p:txBody>
      </p:sp>
      <p:sp>
        <p:nvSpPr>
          <p:cNvPr id="5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97AA5DDE-6E6E-4295-ADF5-3FF603BD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8017171E-33F6-469A-A47E-D9BF9D6B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D1BEAB9F-2CFF-4D62-809C-18F31351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C78BF989-471F-454C-8FEB-C819C4D1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B2853023-86F4-4D35-B0B7-7839234C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1C7A0BD4-D6BD-4BDE-87D9-324A3C66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261CB13F-1DA9-4402-A9ED-3A57448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FADF09FB-493E-41E3-9713-1DE42067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995151DA-5494-4419-BDDA-D7B35942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1FDC8D98-1143-4109-BF8C-B73AD984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2A94DCEE-0DC3-463E-8AAD-C00FD704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41D96C4F-24A8-421C-8A44-A376AC65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71D377AB-48DB-4BC9-A72F-5AAABC08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BEF8B209-E37D-4CCF-8ACB-A893BC0B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业务问题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0140ACDA-EAD5-4C49-911A-8EECDC9A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6E94FB8A-0FC0-4CAD-8ED0-037E444C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67A6C8B5-DD14-4C58-9C6A-7E69BA01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对象与关系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431C09FB-7DF8-4053-BC19-CF46D3AB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D0D5B3BA-20F3-47DA-B221-2DA70F2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AD7947E0-8F77-45D1-ADC1-CC409C4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Metric / Rule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2422D19E-DF59-4920-9B76-8E86449E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C6FCB1AB-8A14-4783-946D-C58C868D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E64F2F85-072C-47F5-931F-409330DB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Action Type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A4DC3414-0199-47F4-958F-692DF72D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E2C7D5DB-5CEB-4E89-92FA-58D4A27F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4DBFCE04-BE3A-4C21-9493-A63DE8D0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映射与校验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5DA6DB83-205F-4F2B-99DD-D9FC58A0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654D681E-A231-40CD-A1BA-4F31E419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06035344-4EFB-45F2-AAD1-E4BAAACE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Published / T019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4220E996-6A1C-44F6-8FE2-AF50B891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10B5FF38-C5A5-4581-8D4B-24B0BEBB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985FF166-D6FC-40D3-8759-10779221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把共同语言、计算口径、规则和可请求行动发布为受控语义资源。</a:t>
            </a:r>
          </a:p>
        </p:txBody>
      </p:sp>
      <p:sp>
        <p:nvSpPr>
          <p:cNvPr id="37" name="footer-note-20">
            <a:extLst xmlns:a="http://schemas.openxmlformats.org/drawingml/2006/main">
              <a:ext uri="{FF2B5EF4-FFF2-40B4-BE49-F238E27FC236}">
                <a16:creationId xmlns:a16="http://schemas.microsoft.com/office/drawing/2014/main" id="{C21B31A9-D61E-422B-8E78-517F5AF7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本体管理｜模块拥有自己的资源与状态边界</a:t>
            </a:r>
          </a:p>
        </p:txBody>
      </p:sp>
      <p:sp>
        <p:nvSpPr>
          <p:cNvPr id="38" name="footer-page-20">
            <a:extLst xmlns:a="http://schemas.openxmlformats.org/drawingml/2006/main">
              <a:ext uri="{FF2B5EF4-FFF2-40B4-BE49-F238E27FC236}">
                <a16:creationId xmlns:a16="http://schemas.microsoft.com/office/drawing/2014/main" id="{7254E989-036D-48B5-A824-1B7F8650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9181195e24b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6e96161544a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1">
            <a:extLst xmlns:a="http://schemas.openxmlformats.org/drawingml/2006/main">
              <a:ext uri="{FF2B5EF4-FFF2-40B4-BE49-F238E27FC236}">
                <a16:creationId xmlns:a16="http://schemas.microsoft.com/office/drawing/2014/main" id="{8B421872-4D10-459B-AC78-5A94BFD0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数据工程</a:t>
            </a:r>
          </a:p>
        </p:txBody>
      </p:sp>
      <p:sp>
        <p:nvSpPr>
          <p:cNvPr id="4" name="title-21">
            <a:extLst xmlns:a="http://schemas.openxmlformats.org/drawingml/2006/main">
              <a:ext uri="{FF2B5EF4-FFF2-40B4-BE49-F238E27FC236}">
                <a16:creationId xmlns:a16="http://schemas.microsoft.com/office/drawing/2014/main" id="{8B500756-829C-4B93-AD22-F6D03C6F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数据工程把变化的来源变成可发布的数据资产版本</a:t>
            </a:r>
          </a:p>
        </p:txBody>
      </p:sp>
      <p:sp>
        <p:nvSpPr>
          <p:cNvPr id="5" name="title-rule-21">
            <a:extLst xmlns:a="http://schemas.openxmlformats.org/drawingml/2006/main">
              <a:ext uri="{FF2B5EF4-FFF2-40B4-BE49-F238E27FC236}">
                <a16:creationId xmlns:a16="http://schemas.microsoft.com/office/drawing/2014/main" id="{6F644454-A4C0-4108-9B31-EF3FFA7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4E072CAC-97CB-47A4-836A-E88194FC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35B20017-C64E-4028-B40D-20BD9D03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D418D61B-44DE-4E6C-A895-9E5CCD52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612AE31D-15BA-454C-9164-DF48BE17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BD2D8558-5AED-43C4-92E7-6774A2D4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4B2F8118-7733-46EB-A7A8-F108CE5F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F2161794-66B3-4C66-9232-7BEE6957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3CAC9E7D-895D-4BF7-BEB7-0BF9E5C5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9DDFD50B-80C4-432C-9B2E-C28EF5B4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1FA12DDD-8154-4C97-B07C-433FEF40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10F8C705-3C37-4EC2-A249-CDBAA3A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B083CBB9-C568-41BE-AFF4-4054E22D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16AA7D5D-555A-4D63-8690-736D3695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来源登记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7A53E503-292B-46C4-9947-0965032D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6530B09C-D30F-4D5C-B11C-4DEE9618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E3460C50-5B52-4B1C-A105-E90CA668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原始快照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B8D41179-DC54-446E-91AA-07E08ACD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F3FD3AC9-BFD4-4DFD-BC9F-EB60015D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55AB06FC-3591-4300-9EE0-F602C38E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受控处理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C2233EEB-F200-4538-9D30-B0DDA505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4AFC0F65-4BFC-40D3-938B-A07486EB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C337E673-DC46-4E78-918A-D2E7441B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质量门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43A3A984-67B5-4F34-AF5F-174205EF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FD5137E7-C8BF-452E-BA59-487401CF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BC4179BA-9F76-40F1-9A2B-1B75C3E2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T007 数据资产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EB07B6D5-9333-49FB-959B-1C39E023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49A6F1CE-6E98-44C4-83A4-53ADB00A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7B6DECCE-D048-4AC2-8045-FF0BF32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刷新请求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5515FF20-1E77-4753-91AB-B360AF4E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EF23952A-A575-4D93-8CAD-0E03542C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468BE6B0-EE06-45BB-9900-6C83A490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负责来源、处理、质量、时点与数据资产版本；不定义业务指标。</a:t>
            </a:r>
          </a:p>
        </p:txBody>
      </p:sp>
      <p:sp>
        <p:nvSpPr>
          <p:cNvPr id="37" name="footer-note-21">
            <a:extLst xmlns:a="http://schemas.openxmlformats.org/drawingml/2006/main">
              <a:ext uri="{FF2B5EF4-FFF2-40B4-BE49-F238E27FC236}">
                <a16:creationId xmlns:a16="http://schemas.microsoft.com/office/drawing/2014/main" id="{BFD134D1-12E8-4587-AF91-96FDB148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数据工程｜模块拥有自己的资源与状态边界</a:t>
            </a:r>
          </a:p>
        </p:txBody>
      </p:sp>
      <p:sp>
        <p:nvSpPr>
          <p:cNvPr id="38" name="footer-page-21">
            <a:extLst xmlns:a="http://schemas.openxmlformats.org/drawingml/2006/main">
              <a:ext uri="{FF2B5EF4-FFF2-40B4-BE49-F238E27FC236}">
                <a16:creationId xmlns:a16="http://schemas.microsoft.com/office/drawing/2014/main" id="{5D3980A3-A7BE-4F9B-B7A2-A56B346C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525326262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3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b96846e474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2">
            <a:extLst xmlns:a="http://schemas.openxmlformats.org/drawingml/2006/main">
              <a:ext uri="{FF2B5EF4-FFF2-40B4-BE49-F238E27FC236}">
                <a16:creationId xmlns:a16="http://schemas.microsoft.com/office/drawing/2014/main" id="{22F28EEC-5AF9-4B69-A395-1BE090CE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首个闭环场景</a:t>
            </a:r>
          </a:p>
        </p:txBody>
      </p:sp>
      <p:sp>
        <p:nvSpPr>
          <p:cNvPr id="4" name="title-22">
            <a:extLst xmlns:a="http://schemas.openxmlformats.org/drawingml/2006/main">
              <a:ext uri="{FF2B5EF4-FFF2-40B4-BE49-F238E27FC236}">
                <a16:creationId xmlns:a16="http://schemas.microsoft.com/office/drawing/2014/main" id="{07C5311B-BABD-4672-BE1D-AC70A2D0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S001 用当前脱敏数据结构验证目标闭环</a:t>
            </a:r>
          </a:p>
        </p:txBody>
      </p:sp>
      <p:sp>
        <p:nvSpPr>
          <p:cNvPr id="5" name="title-rule-22">
            <a:extLst xmlns:a="http://schemas.openxmlformats.org/drawingml/2006/main">
              <a:ext uri="{FF2B5EF4-FFF2-40B4-BE49-F238E27FC236}">
                <a16:creationId xmlns:a16="http://schemas.microsoft.com/office/drawing/2014/main" id="{AC882757-06F1-4AB8-9E43-B9508F7B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s001-edge-1">
            <a:extLst xmlns:a="http://schemas.openxmlformats.org/drawingml/2006/main">
              <a:ext uri="{FF2B5EF4-FFF2-40B4-BE49-F238E27FC236}">
                <a16:creationId xmlns:a16="http://schemas.microsoft.com/office/drawing/2014/main" id="{377B3EC3-B00E-4164-90D2-9239671C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7" name="s001-edge-1-arrowhead">
            <a:extLst xmlns:a="http://schemas.openxmlformats.org/drawingml/2006/main">
              <a:ext uri="{FF2B5EF4-FFF2-40B4-BE49-F238E27FC236}">
                <a16:creationId xmlns:a16="http://schemas.microsoft.com/office/drawing/2014/main" id="{98340DB8-9C58-427C-BF0C-0EFE7008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907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8" name="s001-edge-2">
            <a:extLst xmlns:a="http://schemas.openxmlformats.org/drawingml/2006/main">
              <a:ext uri="{FF2B5EF4-FFF2-40B4-BE49-F238E27FC236}">
                <a16:creationId xmlns:a16="http://schemas.microsoft.com/office/drawing/2014/main" id="{2B52BE60-6513-4988-968A-6906039D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9" name="s001-edge-2-arrowhead">
            <a:extLst xmlns:a="http://schemas.openxmlformats.org/drawingml/2006/main">
              <a:ext uri="{FF2B5EF4-FFF2-40B4-BE49-F238E27FC236}">
                <a16:creationId xmlns:a16="http://schemas.microsoft.com/office/drawing/2014/main" id="{BEB87DC7-A74D-4FCC-9846-051C39E2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7670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0" name="s001-edge-3">
            <a:extLst xmlns:a="http://schemas.openxmlformats.org/drawingml/2006/main">
              <a:ext uri="{FF2B5EF4-FFF2-40B4-BE49-F238E27FC236}">
                <a16:creationId xmlns:a16="http://schemas.microsoft.com/office/drawing/2014/main" id="{E406652B-BBFB-4F4B-9178-C0062D27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1" name="s001-edge-3-arrowhead">
            <a:extLst xmlns:a="http://schemas.openxmlformats.org/drawingml/2006/main">
              <a:ext uri="{FF2B5EF4-FFF2-40B4-BE49-F238E27FC236}">
                <a16:creationId xmlns:a16="http://schemas.microsoft.com/office/drawing/2014/main" id="{8DE4AA79-5D6F-4638-8A50-2E96CA88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626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2" name="s001-edge-4">
            <a:extLst xmlns:a="http://schemas.openxmlformats.org/drawingml/2006/main">
              <a:ext uri="{FF2B5EF4-FFF2-40B4-BE49-F238E27FC236}">
                <a16:creationId xmlns:a16="http://schemas.microsoft.com/office/drawing/2014/main" id="{A7180ABB-6B73-4CF4-952E-0CC72773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3" name="s001-edge-4-arrowhead">
            <a:extLst xmlns:a="http://schemas.openxmlformats.org/drawingml/2006/main">
              <a:ext uri="{FF2B5EF4-FFF2-40B4-BE49-F238E27FC236}">
                <a16:creationId xmlns:a16="http://schemas.microsoft.com/office/drawing/2014/main" id="{238F4050-A48A-49C7-BB29-9994D73A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4860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4" name="s001-edge-5">
            <a:extLst xmlns:a="http://schemas.openxmlformats.org/drawingml/2006/main">
              <a:ext uri="{FF2B5EF4-FFF2-40B4-BE49-F238E27FC236}">
                <a16:creationId xmlns:a16="http://schemas.microsoft.com/office/drawing/2014/main" id="{4F98D47E-D938-4376-8D0C-C0DEFF9F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DDA"/>
            </a:solidFill>
            <a:prstDash val="solid"/>
          </a:ln>
        </p:spPr>
      </p:sp>
      <p:sp>
        <p:nvSpPr>
          <p:cNvPr id="15" name="s001-edge-5-arrowhead">
            <a:extLst xmlns:a="http://schemas.openxmlformats.org/drawingml/2006/main">
              <a:ext uri="{FF2B5EF4-FFF2-40B4-BE49-F238E27FC236}">
                <a16:creationId xmlns:a16="http://schemas.microsoft.com/office/drawing/2014/main" id="{EA03A2E7-0301-440F-BD00-ED07465B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345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DDDA"/>
          </a:solidFill>
          <a:ln xmlns:a="http://schemas.openxmlformats.org/drawingml/2006/main" w="0">
            <a:solidFill>
              <a:srgbClr val="D5DDDA"/>
            </a:solidFill>
            <a:prstDash val="solid"/>
          </a:ln>
        </p:spPr>
      </p:sp>
      <p:sp>
        <p:nvSpPr>
          <p:cNvPr id="16" name="s001-node-1">
            <a:extLst xmlns:a="http://schemas.openxmlformats.org/drawingml/2006/main">
              <a:ext uri="{FF2B5EF4-FFF2-40B4-BE49-F238E27FC236}">
                <a16:creationId xmlns:a16="http://schemas.microsoft.com/office/drawing/2014/main" id="{F1214C01-2186-4E5E-93F8-73444858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7" name="s001-label-1">
            <a:extLst xmlns:a="http://schemas.openxmlformats.org/drawingml/2006/main">
              <a:ext uri="{FF2B5EF4-FFF2-40B4-BE49-F238E27FC236}">
                <a16:creationId xmlns:a16="http://schemas.microsoft.com/office/drawing/2014/main" id="{FCA3C3E2-534E-4E94-B1F6-3E29F2A7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融资数据</a:t>
            </a:r>
          </a:p>
        </p:txBody>
      </p:sp>
      <p:sp>
        <p:nvSpPr>
          <p:cNvPr id="18" name="s001-node-2">
            <a:extLst xmlns:a="http://schemas.openxmlformats.org/drawingml/2006/main">
              <a:ext uri="{FF2B5EF4-FFF2-40B4-BE49-F238E27FC236}">
                <a16:creationId xmlns:a16="http://schemas.microsoft.com/office/drawing/2014/main" id="{8E199C16-8F94-4902-B51D-6A92944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9" name="s001-label-2">
            <a:extLst xmlns:a="http://schemas.openxmlformats.org/drawingml/2006/main">
              <a:ext uri="{FF2B5EF4-FFF2-40B4-BE49-F238E27FC236}">
                <a16:creationId xmlns:a16="http://schemas.microsoft.com/office/drawing/2014/main" id="{18429555-94AC-48F2-933C-1E0EC741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对象与关系</a:t>
            </a:r>
          </a:p>
        </p:txBody>
      </p:sp>
      <p:sp>
        <p:nvSpPr>
          <p:cNvPr id="20" name="s001-node-3">
            <a:extLst xmlns:a="http://schemas.openxmlformats.org/drawingml/2006/main">
              <a:ext uri="{FF2B5EF4-FFF2-40B4-BE49-F238E27FC236}">
                <a16:creationId xmlns:a16="http://schemas.microsoft.com/office/drawing/2014/main" id="{8C87A608-7265-4D44-ADAF-230A3650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1" name="s001-label-3">
            <a:extLst xmlns:a="http://schemas.openxmlformats.org/drawingml/2006/main">
              <a:ext uri="{FF2B5EF4-FFF2-40B4-BE49-F238E27FC236}">
                <a16:creationId xmlns:a16="http://schemas.microsoft.com/office/drawing/2014/main" id="{F29F03F0-073A-4088-8DAE-A6D6BA1C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Metric / Rule</a:t>
            </a:r>
          </a:p>
        </p:txBody>
      </p:sp>
      <p:sp>
        <p:nvSpPr>
          <p:cNvPr id="22" name="s001-node-4">
            <a:extLst xmlns:a="http://schemas.openxmlformats.org/drawingml/2006/main">
              <a:ext uri="{FF2B5EF4-FFF2-40B4-BE49-F238E27FC236}">
                <a16:creationId xmlns:a16="http://schemas.microsoft.com/office/drawing/2014/main" id="{49B844A4-8EF4-4A92-949E-92103A1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3" name="s001-label-4">
            <a:extLst xmlns:a="http://schemas.openxmlformats.org/drawingml/2006/main">
              <a:ext uri="{FF2B5EF4-FFF2-40B4-BE49-F238E27FC236}">
                <a16:creationId xmlns:a16="http://schemas.microsoft.com/office/drawing/2014/main" id="{A0B63B7D-C5B7-4FC4-A95D-3923849A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4" name="s001-node-5">
            <a:extLst xmlns:a="http://schemas.openxmlformats.org/drawingml/2006/main">
              <a:ext uri="{FF2B5EF4-FFF2-40B4-BE49-F238E27FC236}">
                <a16:creationId xmlns:a16="http://schemas.microsoft.com/office/drawing/2014/main" id="{1A557FAA-E75C-4357-ADB9-3B81353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5" name="s001-label-5">
            <a:extLst xmlns:a="http://schemas.openxmlformats.org/drawingml/2006/main">
              <a:ext uri="{FF2B5EF4-FFF2-40B4-BE49-F238E27FC236}">
                <a16:creationId xmlns:a16="http://schemas.microsoft.com/office/drawing/2014/main" id="{E258A62F-C86D-4CCA-876D-69F893AE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人工确认</a:t>
            </a:r>
          </a:p>
        </p:txBody>
      </p:sp>
      <p:sp>
        <p:nvSpPr>
          <p:cNvPr id="26" name="s001-node-6">
            <a:extLst xmlns:a="http://schemas.openxmlformats.org/drawingml/2006/main">
              <a:ext uri="{FF2B5EF4-FFF2-40B4-BE49-F238E27FC236}">
                <a16:creationId xmlns:a16="http://schemas.microsoft.com/office/drawing/2014/main" id="{8B15790E-CE0F-4CA4-8649-B5ECD43D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27" name="s001-label-6">
            <a:extLst xmlns:a="http://schemas.openxmlformats.org/drawingml/2006/main">
              <a:ext uri="{FF2B5EF4-FFF2-40B4-BE49-F238E27FC236}">
                <a16:creationId xmlns:a16="http://schemas.microsoft.com/office/drawing/2014/main" id="{D7A78561-DF44-4AEC-84EE-56093114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负责人待办</a:t>
            </a:r>
          </a:p>
        </p:txBody>
      </p:sp>
      <p:sp>
        <p:nvSpPr>
          <p:cNvPr id="28" name="s001-target">
            <a:extLst xmlns:a="http://schemas.openxmlformats.org/drawingml/2006/main">
              <a:ext uri="{FF2B5EF4-FFF2-40B4-BE49-F238E27FC236}">
                <a16:creationId xmlns:a16="http://schemas.microsoft.com/office/drawing/2014/main" id="{BB3790A8-3C7E-430B-94BE-8268BFC7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一期目标链路</a:t>
            </a:r>
          </a:p>
        </p:txBody>
      </p:sp>
      <p:sp>
        <p:nvSpPr>
          <p:cNvPr id="29" name="s001-boundary">
            <a:extLst xmlns:a="http://schemas.openxmlformats.org/drawingml/2006/main">
              <a:ext uri="{FF2B5EF4-FFF2-40B4-BE49-F238E27FC236}">
                <a16:creationId xmlns:a16="http://schemas.microsoft.com/office/drawing/2014/main" id="{CC582809-3C42-4E20-9C10-487D6777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33900"/>
            <a:ext cx="811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真实运行、联调和验收证据仍待补齐；本页不表示链路已经上线或通过验收。</a:t>
            </a:r>
          </a:p>
        </p:txBody>
      </p:sp>
      <p:sp>
        <p:nvSpPr>
          <p:cNvPr id="30" name="footer-note-22">
            <a:extLst xmlns:a="http://schemas.openxmlformats.org/drawingml/2006/main">
              <a:ext uri="{FF2B5EF4-FFF2-40B4-BE49-F238E27FC236}">
                <a16:creationId xmlns:a16="http://schemas.microsoft.com/office/drawing/2014/main" id="{4DB43B12-B156-4E07-984F-B3B5EAEA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融资主体、融资明细、金融机构和负责人使用同一组业务定义</a:t>
            </a:r>
          </a:p>
        </p:txBody>
      </p:sp>
      <p:sp>
        <p:nvSpPr>
          <p:cNvPr id="31" name="footer-page-22">
            <a:extLst xmlns:a="http://schemas.openxmlformats.org/drawingml/2006/main">
              <a:ext uri="{FF2B5EF4-FFF2-40B4-BE49-F238E27FC236}">
                <a16:creationId xmlns:a16="http://schemas.microsoft.com/office/drawing/2014/main" id="{6154FBED-DF92-479D-8E86-64F42845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9752bf1374c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10450988c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3">
            <a:extLst xmlns:a="http://schemas.openxmlformats.org/drawingml/2006/main">
              <a:ext uri="{FF2B5EF4-FFF2-40B4-BE49-F238E27FC236}">
                <a16:creationId xmlns:a16="http://schemas.microsoft.com/office/drawing/2014/main" id="{197378BD-44D2-41EF-A045-CDD60C2D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场景扩展</a:t>
            </a:r>
          </a:p>
        </p:txBody>
      </p:sp>
      <p:sp>
        <p:nvSpPr>
          <p:cNvPr id="4" name="title-23">
            <a:extLst xmlns:a="http://schemas.openxmlformats.org/drawingml/2006/main">
              <a:ext uri="{FF2B5EF4-FFF2-40B4-BE49-F238E27FC236}">
                <a16:creationId xmlns:a16="http://schemas.microsoft.com/office/drawing/2014/main" id="{1705861C-26C7-460F-975A-344F9745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预算、债务风险和贷前报告按成熟度逐步接入</a:t>
            </a:r>
          </a:p>
        </p:txBody>
      </p:sp>
      <p:sp>
        <p:nvSpPr>
          <p:cNvPr id="5" name="title-rule-23">
            <a:extLst xmlns:a="http://schemas.openxmlformats.org/drawingml/2006/main">
              <a:ext uri="{FF2B5EF4-FFF2-40B4-BE49-F238E27FC236}">
                <a16:creationId xmlns:a16="http://schemas.microsoft.com/office/drawing/2014/main" id="{463D16E0-A39B-4ECC-8814-9B7E45DA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scenario-code-1">
            <a:extLst xmlns:a="http://schemas.openxmlformats.org/drawingml/2006/main">
              <a:ext uri="{FF2B5EF4-FFF2-40B4-BE49-F238E27FC236}">
                <a16:creationId xmlns:a16="http://schemas.microsoft.com/office/drawing/2014/main" id="{8CD0FDFB-FC1C-48FA-9962-8DECE94C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S001</a:t>
            </a:r>
          </a:p>
        </p:txBody>
      </p:sp>
      <p:sp>
        <p:nvSpPr>
          <p:cNvPr id="7" name="scenario-row-1">
            <a:extLst xmlns:a="http://schemas.openxmlformats.org/drawingml/2006/main">
              <a:ext uri="{FF2B5EF4-FFF2-40B4-BE49-F238E27FC236}">
                <a16:creationId xmlns:a16="http://schemas.microsoft.com/office/drawing/2014/main" id="{D12EC2A2-FDE3-40A0-8D76-20FC2B6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8" name="scenario-name-1">
            <a:extLst xmlns:a="http://schemas.openxmlformats.org/drawingml/2006/main">
              <a:ext uri="{FF2B5EF4-FFF2-40B4-BE49-F238E27FC236}">
                <a16:creationId xmlns:a16="http://schemas.microsoft.com/office/drawing/2014/main" id="{C29F62C0-8E93-4F06-BFA9-F84ECCE7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98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集团债务风险监控</a:t>
            </a:r>
          </a:p>
        </p:txBody>
      </p:sp>
      <p:sp>
        <p:nvSpPr>
          <p:cNvPr id="9" name="scenario-status-1">
            <a:extLst xmlns:a="http://schemas.openxmlformats.org/drawingml/2006/main">
              <a:ext uri="{FF2B5EF4-FFF2-40B4-BE49-F238E27FC236}">
                <a16:creationId xmlns:a16="http://schemas.microsoft.com/office/drawing/2014/main" id="{7366CA63-1FF5-4AA5-B906-8E1D246C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首个完整闭环建设对象</a:t>
            </a:r>
          </a:p>
        </p:txBody>
      </p:sp>
      <p:sp>
        <p:nvSpPr>
          <p:cNvPr id="10" name="scenario-code-2">
            <a:extLst xmlns:a="http://schemas.openxmlformats.org/drawingml/2006/main">
              <a:ext uri="{FF2B5EF4-FFF2-40B4-BE49-F238E27FC236}">
                <a16:creationId xmlns:a16="http://schemas.microsoft.com/office/drawing/2014/main" id="{3AF32145-C4B9-4E0C-9D56-8598433B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S002</a:t>
            </a:r>
          </a:p>
        </p:txBody>
      </p:sp>
      <p:sp>
        <p:nvSpPr>
          <p:cNvPr id="11" name="scenario-row-2">
            <a:extLst xmlns:a="http://schemas.openxmlformats.org/drawingml/2006/main">
              <a:ext uri="{FF2B5EF4-FFF2-40B4-BE49-F238E27FC236}">
                <a16:creationId xmlns:a16="http://schemas.microsoft.com/office/drawing/2014/main" id="{21E9583C-7FBF-4C5F-B211-5488CF38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2" name="scenario-name-2">
            <a:extLst xmlns:a="http://schemas.openxmlformats.org/drawingml/2006/main">
              <a:ext uri="{FF2B5EF4-FFF2-40B4-BE49-F238E27FC236}">
                <a16:creationId xmlns:a16="http://schemas.microsoft.com/office/drawing/2014/main" id="{CCE9680F-E1FB-4093-B210-929E3E53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86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财务公司贷前报告</a:t>
            </a:r>
          </a:p>
        </p:txBody>
      </p:sp>
      <p:sp>
        <p:nvSpPr>
          <p:cNvPr id="13" name="scenario-status-2">
            <a:extLst xmlns:a="http://schemas.openxmlformats.org/drawingml/2006/main">
              <a:ext uri="{FF2B5EF4-FFF2-40B4-BE49-F238E27FC236}">
                <a16:creationId xmlns:a16="http://schemas.microsoft.com/office/drawing/2014/main" id="{6F44E738-0C45-4BFE-847D-278E237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稳定入口｜业务资料待补充</a:t>
            </a:r>
          </a:p>
        </p:txBody>
      </p:sp>
      <p:sp>
        <p:nvSpPr>
          <p:cNvPr id="14" name="scenario-code-3">
            <a:extLst xmlns:a="http://schemas.openxmlformats.org/drawingml/2006/main">
              <a:ext uri="{FF2B5EF4-FFF2-40B4-BE49-F238E27FC236}">
                <a16:creationId xmlns:a16="http://schemas.microsoft.com/office/drawing/2014/main" id="{0C083D46-1280-4A67-A890-5A2A0AFB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1703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17036"/>
                </a:solidFill>
                <a:latin typeface="微软雅黑"/>
                <a:ea typeface="微软雅黑"/>
                <a:cs typeface="微软雅黑"/>
              </a:rPr>
              <a:t>S003</a:t>
            </a:r>
          </a:p>
        </p:txBody>
      </p:sp>
      <p:sp>
        <p:nvSpPr>
          <p:cNvPr id="15" name="scenario-row-3">
            <a:extLst xmlns:a="http://schemas.openxmlformats.org/drawingml/2006/main">
              <a:ext uri="{FF2B5EF4-FFF2-40B4-BE49-F238E27FC236}">
                <a16:creationId xmlns:a16="http://schemas.microsoft.com/office/drawing/2014/main" id="{AAC36F42-16AD-457A-9B74-61ABFD40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6" name="scenario-name-3">
            <a:extLst xmlns:a="http://schemas.openxmlformats.org/drawingml/2006/main">
              <a:ext uri="{FF2B5EF4-FFF2-40B4-BE49-F238E27FC236}">
                <a16:creationId xmlns:a16="http://schemas.microsoft.com/office/drawing/2014/main" id="{2F5794B6-3BC8-4E10-858F-8FB1FDAD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企业债务风险评估</a:t>
            </a:r>
          </a:p>
        </p:txBody>
      </p:sp>
      <p:sp>
        <p:nvSpPr>
          <p:cNvPr id="17" name="scenario-status-3">
            <a:extLst xmlns:a="http://schemas.openxmlformats.org/drawingml/2006/main">
              <a:ext uri="{FF2B5EF4-FFF2-40B4-BE49-F238E27FC236}">
                <a16:creationId xmlns:a16="http://schemas.microsoft.com/office/drawing/2014/main" id="{E808873B-4F85-40C0-AD0A-8D26FEE1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数据内容已确认｜待受控发布验证</a:t>
            </a:r>
          </a:p>
        </p:txBody>
      </p:sp>
      <p:sp>
        <p:nvSpPr>
          <p:cNvPr id="18" name="scenario-code-4">
            <a:extLst xmlns:a="http://schemas.openxmlformats.org/drawingml/2006/main">
              <a:ext uri="{FF2B5EF4-FFF2-40B4-BE49-F238E27FC236}">
                <a16:creationId xmlns:a16="http://schemas.microsoft.com/office/drawing/2014/main" id="{2B7B1C4C-4CED-4577-9E2E-5B78B164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S004</a:t>
            </a:r>
          </a:p>
        </p:txBody>
      </p:sp>
      <p:sp>
        <p:nvSpPr>
          <p:cNvPr id="19" name="scenario-row-4">
            <a:extLst xmlns:a="http://schemas.openxmlformats.org/drawingml/2006/main">
              <a:ext uri="{FF2B5EF4-FFF2-40B4-BE49-F238E27FC236}">
                <a16:creationId xmlns:a16="http://schemas.microsoft.com/office/drawing/2014/main" id="{60AA34D8-6069-460B-A520-3374BE14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20" name="scenario-name-4">
            <a:extLst xmlns:a="http://schemas.openxmlformats.org/drawingml/2006/main">
              <a:ext uri="{FF2B5EF4-FFF2-40B4-BE49-F238E27FC236}">
                <a16:creationId xmlns:a16="http://schemas.microsoft.com/office/drawing/2014/main" id="{AD980B7F-9993-44CF-92DA-6719696B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387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预算管理监督</a:t>
            </a:r>
          </a:p>
        </p:txBody>
      </p:sp>
      <p:sp>
        <p:nvSpPr>
          <p:cNvPr id="21" name="scenario-status-4">
            <a:extLst xmlns:a="http://schemas.openxmlformats.org/drawingml/2006/main">
              <a:ext uri="{FF2B5EF4-FFF2-40B4-BE49-F238E27FC236}">
                <a16:creationId xmlns:a16="http://schemas.microsoft.com/office/drawing/2014/main" id="{82D2357D-CE10-4AE2-9742-D1F28706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387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稳定入口｜业务资料待补充</a:t>
            </a:r>
          </a:p>
        </p:txBody>
      </p:sp>
      <p:sp>
        <p:nvSpPr>
          <p:cNvPr id="22" name="footer-note-23">
            <a:extLst xmlns:a="http://schemas.openxmlformats.org/drawingml/2006/main">
              <a:ext uri="{FF2B5EF4-FFF2-40B4-BE49-F238E27FC236}">
                <a16:creationId xmlns:a16="http://schemas.microsoft.com/office/drawing/2014/main" id="{6E59109C-5A93-4C70-9A50-9EDDA895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S003 完整场景尚未启动；不扩写为评分、Rule、报告或待办已建成</a:t>
            </a:r>
          </a:p>
        </p:txBody>
      </p:sp>
      <p:sp>
        <p:nvSpPr>
          <p:cNvPr id="23" name="footer-page-23">
            <a:extLst xmlns:a="http://schemas.openxmlformats.org/drawingml/2006/main">
              <a:ext uri="{FF2B5EF4-FFF2-40B4-BE49-F238E27FC236}">
                <a16:creationId xmlns:a16="http://schemas.microsoft.com/office/drawing/2014/main" id="{EF0C5781-5A56-4AFD-AAF9-31864768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997aad3dc49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6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162893ad241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4">
            <a:extLst xmlns:a="http://schemas.openxmlformats.org/drawingml/2006/main">
              <a:ext uri="{FF2B5EF4-FFF2-40B4-BE49-F238E27FC236}">
                <a16:creationId xmlns:a16="http://schemas.microsoft.com/office/drawing/2014/main" id="{515205E9-696E-43B9-881D-A9EC0B51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97E8B"/>
                </a:solidFill>
                <a:latin typeface="微软雅黑"/>
                <a:ea typeface="微软雅黑"/>
                <a:cs typeface="微软雅黑"/>
              </a:rPr>
              <a:t>项目收束</a:t>
            </a:r>
          </a:p>
        </p:txBody>
      </p:sp>
      <p:sp>
        <p:nvSpPr>
          <p:cNvPr id="4" name="title-24">
            <a:extLst xmlns:a="http://schemas.openxmlformats.org/drawingml/2006/main">
              <a:ext uri="{FF2B5EF4-FFF2-40B4-BE49-F238E27FC236}">
                <a16:creationId xmlns:a16="http://schemas.microsoft.com/office/drawing/2014/main" id="{4F89EE66-209B-4AE9-9DA2-3CD1679C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成功不看页面数量，而看版本、证据、人工门和责任链</a:t>
            </a:r>
          </a:p>
        </p:txBody>
      </p:sp>
      <p:sp>
        <p:nvSpPr>
          <p:cNvPr id="5" name="title-rule-24">
            <a:extLst xmlns:a="http://schemas.openxmlformats.org/drawingml/2006/main">
              <a:ext uri="{FF2B5EF4-FFF2-40B4-BE49-F238E27FC236}">
                <a16:creationId xmlns:a16="http://schemas.microsoft.com/office/drawing/2014/main" id="{44A824CD-DE11-4FA9-A07C-9BF74D2C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6" name="close-circle-1">
            <a:extLst xmlns:a="http://schemas.openxmlformats.org/drawingml/2006/main">
              <a:ext uri="{FF2B5EF4-FFF2-40B4-BE49-F238E27FC236}">
                <a16:creationId xmlns:a16="http://schemas.microsoft.com/office/drawing/2014/main" id="{BD866D55-9E2D-4FFE-90D4-CB87F87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E8B"/>
          </a:solidFill>
          <a:ln xmlns:a="http://schemas.openxmlformats.org/drawingml/2006/main" w="9525">
            <a:solidFill>
              <a:srgbClr val="19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4C74C-5422-4E9D-8FC6-63B9000E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BA64EDE9-50D6-453F-91D1-923412B4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版本明确</a:t>
            </a:r>
          </a:p>
        </p:txBody>
      </p:sp>
      <p:sp>
        <p:nvSpPr>
          <p:cNvPr id="9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67FA23B6-8AC6-4B57-AF3C-32A09C2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每次消费知道使用哪一版数据与语义</a:t>
            </a:r>
          </a:p>
        </p:txBody>
      </p:sp>
      <p:sp>
        <p:nvSpPr>
          <p:cNvPr id="10" name="close-circle-2">
            <a:extLst xmlns:a="http://schemas.openxmlformats.org/drawingml/2006/main">
              <a:ext uri="{FF2B5EF4-FFF2-40B4-BE49-F238E27FC236}">
                <a16:creationId xmlns:a16="http://schemas.microsoft.com/office/drawing/2014/main" id="{B72D6A54-E549-4439-911D-2B81AF6A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FB978-55FF-40CB-B260-1D4C398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CA8DD980-4EB1-4636-A351-35921343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证据可回</a:t>
            </a:r>
          </a:p>
        </p:txBody>
      </p:sp>
      <p:sp>
        <p:nvSpPr>
          <p:cNvPr id="13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BA0D00AA-3C72-4B9D-AD90-AD723385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结论能够回到主体、时点、口径和来源</a:t>
            </a:r>
          </a:p>
        </p:txBody>
      </p:sp>
      <p:sp>
        <p:nvSpPr>
          <p:cNvPr id="14" name="close-circle-3">
            <a:extLst xmlns:a="http://schemas.openxmlformats.org/drawingml/2006/main">
              <a:ext uri="{FF2B5EF4-FFF2-40B4-BE49-F238E27FC236}">
                <a16:creationId xmlns:a16="http://schemas.microsoft.com/office/drawing/2014/main" id="{6C6533F3-2A5D-43BA-9544-A1AD0534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E009B-A112-4AD0-87E6-C7C6885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close-label-3">
            <a:extLst xmlns:a="http://schemas.openxmlformats.org/drawingml/2006/main">
              <a:ext uri="{FF2B5EF4-FFF2-40B4-BE49-F238E27FC236}">
                <a16:creationId xmlns:a16="http://schemas.microsoft.com/office/drawing/2014/main" id="{28AF4D5B-7C36-4F86-86C9-7B12B157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人工把关</a:t>
            </a:r>
          </a:p>
        </p:txBody>
      </p:sp>
      <p:sp>
        <p:nvSpPr>
          <p:cNvPr id="17" name="close-copy-3">
            <a:extLst xmlns:a="http://schemas.openxmlformats.org/drawingml/2006/main">
              <a:ext uri="{FF2B5EF4-FFF2-40B4-BE49-F238E27FC236}">
                <a16:creationId xmlns:a16="http://schemas.microsoft.com/office/drawing/2014/main" id="{06E7386B-9F4B-4F7C-93C2-403C5D3B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建议经过授权的人确认后才进入行动</a:t>
            </a:r>
          </a:p>
        </p:txBody>
      </p:sp>
      <p:sp>
        <p:nvSpPr>
          <p:cNvPr id="18" name="close-circle-4">
            <a:extLst xmlns:a="http://schemas.openxmlformats.org/drawingml/2006/main">
              <a:ext uri="{FF2B5EF4-FFF2-40B4-BE49-F238E27FC236}">
                <a16:creationId xmlns:a16="http://schemas.microsoft.com/office/drawing/2014/main" id="{27A81512-161C-4A59-A582-A00E779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E00AF-8112-4883-8091-3AD70852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close-label-4">
            <a:extLst xmlns:a="http://schemas.openxmlformats.org/drawingml/2006/main">
              <a:ext uri="{FF2B5EF4-FFF2-40B4-BE49-F238E27FC236}">
                <a16:creationId xmlns:a16="http://schemas.microsoft.com/office/drawing/2014/main" id="{D69158F8-A97F-4E3A-B426-984191FA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运行可追溯</a:t>
            </a:r>
          </a:p>
        </p:txBody>
      </p:sp>
      <p:sp>
        <p:nvSpPr>
          <p:cNvPr id="21" name="close-copy-4">
            <a:extLst xmlns:a="http://schemas.openxmlformats.org/drawingml/2006/main">
              <a:ext uri="{FF2B5EF4-FFF2-40B4-BE49-F238E27FC236}">
                <a16:creationId xmlns:a16="http://schemas.microsoft.com/office/drawing/2014/main" id="{E7B9C8CE-B1B1-4A92-AA9C-062693C4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3666B"/>
                </a:solidFill>
                <a:latin typeface="微软雅黑"/>
                <a:ea typeface="微软雅黑"/>
                <a:cs typeface="微软雅黑"/>
              </a:rPr>
              <a:t>请求、确认、待办与失败分别记录状态</a:t>
            </a:r>
          </a:p>
        </p:txBody>
      </p:sp>
      <p:sp>
        <p:nvSpPr>
          <p:cNvPr id="22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C3B10885-F58D-4AB9-B223-4A5E3090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83037"/>
                </a:solidFill>
                <a:latin typeface="微软雅黑"/>
                <a:ea typeface="微软雅黑"/>
                <a:cs typeface="微软雅黑"/>
              </a:rPr>
              <a:t>用可验证的控制链支撑经营判断，不以未经核验的收益替代证据</a:t>
            </a:r>
          </a:p>
        </p:txBody>
      </p:sp>
      <p:sp>
        <p:nvSpPr>
          <p:cNvPr id="23" name="footer-note-24">
            <a:extLst xmlns:a="http://schemas.openxmlformats.org/drawingml/2006/main">
              <a:ext uri="{FF2B5EF4-FFF2-40B4-BE49-F238E27FC236}">
                <a16:creationId xmlns:a16="http://schemas.microsoft.com/office/drawing/2014/main" id="{1566C9CA-9926-47ED-945A-77AF9936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ontology3.0｜当前以 S001 作为首个完整闭环建设对象</a:t>
            </a:r>
          </a:p>
        </p:txBody>
      </p:sp>
      <p:sp>
        <p:nvSpPr>
          <p:cNvPr id="24" name="footer-page-24">
            <a:extLst xmlns:a="http://schemas.openxmlformats.org/drawingml/2006/main">
              <a:ext uri="{FF2B5EF4-FFF2-40B4-BE49-F238E27FC236}">
                <a16:creationId xmlns:a16="http://schemas.microsoft.com/office/drawing/2014/main" id="{5D565FDE-C2AB-4CDB-B4F4-1D21E7F4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49296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6405698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2026-08-13T04:18:52.4130000Z</dcterms:created>
  <dcterms:modified xsi:type="dcterms:W3CDTF">2026-08-13T04:18:52.4130000Z</dcterms:modified>
</coreProperties>
</file>