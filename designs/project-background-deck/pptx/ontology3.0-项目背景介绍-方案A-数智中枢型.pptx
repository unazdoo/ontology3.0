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c01b686afd431c" /><Relationship Type="http://schemas.openxmlformats.org/officeDocument/2006/relationships/extended-properties" Target="/docProps/app.xml" Id="R8c545e2946df4a5c" /><Relationship Type="http://schemas.openxmlformats.org/officeDocument/2006/relationships/officeDocument" Target="/ppt/presentation.xml" Id="Rb0d48e16cc0f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e3646de804173"/>
  </p:sldMasterIdLst>
  <p:notesMasterIdLst>
    <p:notesMasterId xmlns:r="http://schemas.openxmlformats.org/officeDocument/2006/relationships" r:id="R85970d1f8ebb424b"/>
  </p:notesMasterIdLst>
  <p:sldIdLst>
    <p:sldId xmlns:r="http://schemas.openxmlformats.org/officeDocument/2006/relationships" id="256" r:id="R5fb070fa94054026"/>
    <p:sldId xmlns:r="http://schemas.openxmlformats.org/officeDocument/2006/relationships" id="257" r:id="R4721bec81ef64ab6"/>
    <p:sldId xmlns:r="http://schemas.openxmlformats.org/officeDocument/2006/relationships" id="258" r:id="R0df3f2af589b4408"/>
    <p:sldId xmlns:r="http://schemas.openxmlformats.org/officeDocument/2006/relationships" id="259" r:id="R4e4cdde0a6b54887"/>
    <p:sldId xmlns:r="http://schemas.openxmlformats.org/officeDocument/2006/relationships" id="260" r:id="R920d3dd6ecb84949"/>
    <p:sldId xmlns:r="http://schemas.openxmlformats.org/officeDocument/2006/relationships" id="261" r:id="Rfbb278c5a1ba43d1"/>
    <p:sldId xmlns:r="http://schemas.openxmlformats.org/officeDocument/2006/relationships" id="262" r:id="R0d09e39176dd49d0"/>
    <p:sldId xmlns:r="http://schemas.openxmlformats.org/officeDocument/2006/relationships" id="263" r:id="R0ce57fce174a4a32"/>
    <p:sldId xmlns:r="http://schemas.openxmlformats.org/officeDocument/2006/relationships" id="264" r:id="Rd47e632db8e54e50"/>
    <p:sldId xmlns:r="http://schemas.openxmlformats.org/officeDocument/2006/relationships" id="265" r:id="R209a4ae426864206"/>
    <p:sldId xmlns:r="http://schemas.openxmlformats.org/officeDocument/2006/relationships" id="266" r:id="Rf9973472e27a4bfa"/>
    <p:sldId xmlns:r="http://schemas.openxmlformats.org/officeDocument/2006/relationships" id="267" r:id="R75a7b69d371a49f4"/>
    <p:sldId xmlns:r="http://schemas.openxmlformats.org/officeDocument/2006/relationships" id="268" r:id="R80ff18c12aaa4248"/>
    <p:sldId xmlns:r="http://schemas.openxmlformats.org/officeDocument/2006/relationships" id="269" r:id="Rfbdb81e6c2ea4b45"/>
    <p:sldId xmlns:r="http://schemas.openxmlformats.org/officeDocument/2006/relationships" id="270" r:id="R4ae1f96cd0644dc8"/>
    <p:sldId xmlns:r="http://schemas.openxmlformats.org/officeDocument/2006/relationships" id="271" r:id="R2d3bb13efa794a10"/>
    <p:sldId xmlns:r="http://schemas.openxmlformats.org/officeDocument/2006/relationships" id="272" r:id="Red2d2d2e098046d9"/>
    <p:sldId xmlns:r="http://schemas.openxmlformats.org/officeDocument/2006/relationships" id="273" r:id="Rbca32207015c46dd"/>
    <p:sldId xmlns:r="http://schemas.openxmlformats.org/officeDocument/2006/relationships" id="274" r:id="Rbc99fcfcf5864d25"/>
    <p:sldId xmlns:r="http://schemas.openxmlformats.org/officeDocument/2006/relationships" id="275" r:id="R21cd8221525d4c38"/>
    <p:sldId xmlns:r="http://schemas.openxmlformats.org/officeDocument/2006/relationships" id="276" r:id="R145efe890d1648a9"/>
    <p:sldId xmlns:r="http://schemas.openxmlformats.org/officeDocument/2006/relationships" id="277" r:id="R353b59aba01747f7"/>
    <p:sldId xmlns:r="http://schemas.openxmlformats.org/officeDocument/2006/relationships" id="278" r:id="R18416989cddf433b"/>
    <p:sldId xmlns:r="http://schemas.openxmlformats.org/officeDocument/2006/relationships" id="279" r:id="R2feb8b8b3c6041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c568ea66854441" /><Relationship Type="http://schemas.openxmlformats.org/officeDocument/2006/relationships/slideMaster" Target="/ppt/slideMasters/slideMaster1.xml" Id="Rf7fe3646de804173" /><Relationship Type="http://schemas.openxmlformats.org/officeDocument/2006/relationships/notesMaster" Target="/ppt/notesMasters/notesMaster1.xml" Id="R85970d1f8ebb424b" /><Relationship Type="http://schemas.openxmlformats.org/officeDocument/2006/relationships/presProps" Target="/ppt/presProps.xml" Id="Rc409ac2099ee4060" /><Relationship Type="http://schemas.openxmlformats.org/officeDocument/2006/relationships/viewProps" Target="/ppt/viewProps.xml" Id="Rf27be21ca8bd4159" /><Relationship Type="http://schemas.openxmlformats.org/officeDocument/2006/relationships/tableStyles" Target="/ppt/tableStyles.xml" Id="R24a0977dab834d95" /><Relationship Type="http://schemas.openxmlformats.org/officeDocument/2006/relationships/slide" Target="/ppt/slides/slide1.xml" Id="R5fb070fa94054026" /><Relationship Type="http://schemas.openxmlformats.org/officeDocument/2006/relationships/slide" Target="/ppt/slides/slide2.xml" Id="R4721bec81ef64ab6" /><Relationship Type="http://schemas.openxmlformats.org/officeDocument/2006/relationships/slide" Target="/ppt/slides/slide3.xml" Id="R0df3f2af589b4408" /><Relationship Type="http://schemas.openxmlformats.org/officeDocument/2006/relationships/slide" Target="/ppt/slides/slide4.xml" Id="R4e4cdde0a6b54887" /><Relationship Type="http://schemas.openxmlformats.org/officeDocument/2006/relationships/slide" Target="/ppt/slides/slide5.xml" Id="R920d3dd6ecb84949" /><Relationship Type="http://schemas.openxmlformats.org/officeDocument/2006/relationships/slide" Target="/ppt/slides/slide6.xml" Id="Rfbb278c5a1ba43d1" /><Relationship Type="http://schemas.openxmlformats.org/officeDocument/2006/relationships/slide" Target="/ppt/slides/slide7.xml" Id="R0d09e39176dd49d0" /><Relationship Type="http://schemas.openxmlformats.org/officeDocument/2006/relationships/slide" Target="/ppt/slides/slide8.xml" Id="R0ce57fce174a4a32" /><Relationship Type="http://schemas.openxmlformats.org/officeDocument/2006/relationships/slide" Target="/ppt/slides/slide9.xml" Id="Rd47e632db8e54e50" /><Relationship Type="http://schemas.openxmlformats.org/officeDocument/2006/relationships/slide" Target="/ppt/slides/slide10.xml" Id="R209a4ae426864206" /><Relationship Type="http://schemas.openxmlformats.org/officeDocument/2006/relationships/slide" Target="/ppt/slides/slide11.xml" Id="Rf9973472e27a4bfa" /><Relationship Type="http://schemas.openxmlformats.org/officeDocument/2006/relationships/slide" Target="/ppt/slides/slide12.xml" Id="R75a7b69d371a49f4" /><Relationship Type="http://schemas.openxmlformats.org/officeDocument/2006/relationships/slide" Target="/ppt/slides/slide13.xml" Id="R80ff18c12aaa4248" /><Relationship Type="http://schemas.openxmlformats.org/officeDocument/2006/relationships/slide" Target="/ppt/slides/slide14.xml" Id="Rfbdb81e6c2ea4b45" /><Relationship Type="http://schemas.openxmlformats.org/officeDocument/2006/relationships/slide" Target="/ppt/slides/slide15.xml" Id="R4ae1f96cd0644dc8" /><Relationship Type="http://schemas.openxmlformats.org/officeDocument/2006/relationships/slide" Target="/ppt/slides/slide16.xml" Id="R2d3bb13efa794a10" /><Relationship Type="http://schemas.openxmlformats.org/officeDocument/2006/relationships/slide" Target="/ppt/slides/slide17.xml" Id="Red2d2d2e098046d9" /><Relationship Type="http://schemas.openxmlformats.org/officeDocument/2006/relationships/slide" Target="/ppt/slides/slide18.xml" Id="Rbca32207015c46dd" /><Relationship Type="http://schemas.openxmlformats.org/officeDocument/2006/relationships/slide" Target="/ppt/slides/slide19.xml" Id="Rbc99fcfcf5864d25" /><Relationship Type="http://schemas.openxmlformats.org/officeDocument/2006/relationships/slide" Target="/ppt/slides/slide20.xml" Id="R21cd8221525d4c38" /><Relationship Type="http://schemas.openxmlformats.org/officeDocument/2006/relationships/slide" Target="/ppt/slides/slide21.xml" Id="R145efe890d1648a9" /><Relationship Type="http://schemas.openxmlformats.org/officeDocument/2006/relationships/slide" Target="/ppt/slides/slide22.xml" Id="R353b59aba01747f7" /><Relationship Type="http://schemas.openxmlformats.org/officeDocument/2006/relationships/slide" Target="/ppt/slides/slide23.xml" Id="R18416989cddf433b" /><Relationship Type="http://schemas.openxmlformats.org/officeDocument/2006/relationships/slide" Target="/ppt/slides/slide24.xml" Id="R2feb8b8b3c60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0e69d293cd4a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caf06f6e304b3e" /><Relationship Type="http://schemas.openxmlformats.org/officeDocument/2006/relationships/notesMaster" Target="/ppt/notesMasters/notesMaster1.xml" Id="R29b5e0b3dcc6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6123cafcfb4525" /><Relationship Type="http://schemas.openxmlformats.org/officeDocument/2006/relationships/notesMaster" Target="/ppt/notesMasters/notesMaster1.xml" Id="R0adb73889c1d40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d2a17e0c2b48ce" /><Relationship Type="http://schemas.openxmlformats.org/officeDocument/2006/relationships/notesMaster" Target="/ppt/notesMasters/notesMaster1.xml" Id="R1b49a7e3ff034f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f2a2f9328f4727" /><Relationship Type="http://schemas.openxmlformats.org/officeDocument/2006/relationships/notesMaster" Target="/ppt/notesMasters/notesMaster1.xml" Id="R8809c5a1687e4f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4fbddaa6984c85" /><Relationship Type="http://schemas.openxmlformats.org/officeDocument/2006/relationships/notesMaster" Target="/ppt/notesMasters/notesMaster1.xml" Id="Rc610218a075648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a37b8c62584831" /><Relationship Type="http://schemas.openxmlformats.org/officeDocument/2006/relationships/notesMaster" Target="/ppt/notesMasters/notesMaster1.xml" Id="Rafa016b14cda4f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67468f8e354db4" /><Relationship Type="http://schemas.openxmlformats.org/officeDocument/2006/relationships/notesMaster" Target="/ppt/notesMasters/notesMaster1.xml" Id="R172520a9063c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497615cb7c4177" /><Relationship Type="http://schemas.openxmlformats.org/officeDocument/2006/relationships/notesMaster" Target="/ppt/notesMasters/notesMaster1.xml" Id="R7ae1c7580f774c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c7170e58264a2c" /><Relationship Type="http://schemas.openxmlformats.org/officeDocument/2006/relationships/notesMaster" Target="/ppt/notesMasters/notesMaster1.xml" Id="Rd205ba9083c547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10d00e52434cd1" /><Relationship Type="http://schemas.openxmlformats.org/officeDocument/2006/relationships/notesMaster" Target="/ppt/notesMasters/notesMaster1.xml" Id="R7e2cabd1d9fc47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4aca7a29174069" /><Relationship Type="http://schemas.openxmlformats.org/officeDocument/2006/relationships/notesMaster" Target="/ppt/notesMasters/notesMaster1.xml" Id="Rccd0862d58de4a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90cfbfad7946e1" /><Relationship Type="http://schemas.openxmlformats.org/officeDocument/2006/relationships/notesMaster" Target="/ppt/notesMasters/notesMaster1.xml" Id="Ra356018627b242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fe9cf6360b4bcd" /><Relationship Type="http://schemas.openxmlformats.org/officeDocument/2006/relationships/notesMaster" Target="/ppt/notesMasters/notesMaster1.xml" Id="R08c47859511c41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10d3299766457c" /><Relationship Type="http://schemas.openxmlformats.org/officeDocument/2006/relationships/notesMaster" Target="/ppt/notesMasters/notesMaster1.xml" Id="R939fcafb3ec347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e10af75a954b14" /><Relationship Type="http://schemas.openxmlformats.org/officeDocument/2006/relationships/notesMaster" Target="/ppt/notesMasters/notesMaster1.xml" Id="R325dfa07458545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c9da276059413d" /><Relationship Type="http://schemas.openxmlformats.org/officeDocument/2006/relationships/notesMaster" Target="/ppt/notesMasters/notesMaster1.xml" Id="R8fb4aa0101b24c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a531260f2c4f63" /><Relationship Type="http://schemas.openxmlformats.org/officeDocument/2006/relationships/notesMaster" Target="/ppt/notesMasters/notesMaster1.xml" Id="Rcbe3629c994846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8706a698dd42a2" /><Relationship Type="http://schemas.openxmlformats.org/officeDocument/2006/relationships/notesMaster" Target="/ppt/notesMasters/notesMaster1.xml" Id="Red19b9ec6e994f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1290e41e3b4d9f" /><Relationship Type="http://schemas.openxmlformats.org/officeDocument/2006/relationships/notesMaster" Target="/ppt/notesMasters/notesMaster1.xml" Id="R0cee71e20f6641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b7719259614afd" /><Relationship Type="http://schemas.openxmlformats.org/officeDocument/2006/relationships/notesMaster" Target="/ppt/notesMasters/notesMaster1.xml" Id="R0751891a188741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e748420d714abf" /><Relationship Type="http://schemas.openxmlformats.org/officeDocument/2006/relationships/notesMaster" Target="/ppt/notesMasters/notesMaster1.xml" Id="Rac3b8a4af7074e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93747fcf2a42b8" /><Relationship Type="http://schemas.openxmlformats.org/officeDocument/2006/relationships/notesMaster" Target="/ppt/notesMasters/notesMaster1.xml" Id="R12006b6245004cc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6fb91c46b64d20" /><Relationship Type="http://schemas.openxmlformats.org/officeDocument/2006/relationships/notesMaster" Target="/ppt/notesMasters/notesMaster1.xml" Id="Rdc5c2177446341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5b166509b84255" /><Relationship Type="http://schemas.openxmlformats.org/officeDocument/2006/relationships/notesMaster" Target="/ppt/notesMasters/notesMaster1.xml" Id="R50a3ba3c0d68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团队姓名、部门和分工来自用户本轮提供的信息；正式参赛前建议团队复核一次。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/Users/domi/Public/Vibecoding/ontology3.0/deliverables/新项目功能设计-阶段5Agent应用-v0.1.md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/Users/domi/Public/Vibecoding/ontology3.0/deliverables/新项目功能设计-阶段4决策中心-v0.1.md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/Users/domi/Public/Vibecoding/ontology3.0/deliverables/新项目功能设计-阶段2数据工程-v0.1.md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/Users/domi/Public/Vibecoding/ontology3.0/deliverables/新项目功能设计-阶段1本体管理-v0.1.md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/Users/domi/Public/Vibecoding/ontology3.0/deliverables/新项目功能设计-阶段3智能问数-v0.1.md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/Users/domi/Public/Vibecoding/ontology3.0/deliverables/新项目功能设计-阶段5Agent应用-v0.1.md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/Users/domi/Public/Vibecoding/ontology3.0/deliverables/新项目功能设计-阶段6报告中心-v0.1.md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/Users/domi/Public/Vibecoding/ontology3.0/deliverables/新项目功能设计-阶段4决策中心-v0.1.md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/Users/domi/Public/Vibecoding/ontology3.0/deliverables/新项目功能设计-平台总控台账-v0.1.md</a:t>
            </a:r>
          </a:p>
          <a:p xmlns:a="http://schemas.openxmlformats.org/drawingml/2006/main">
            <a:r>
              <a:t>- /Users/domi/Public/Vibecoding/ontology3.0/designs/project-background-deck/内容审计与证据表.md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6f0f8de2d46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b12307bad4f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5c3b54e4e40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eeeab67404b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c24a1814c40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80ef9711641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26d48da9a422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907ec06314c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57931e07544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65a9dbf16484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3afa28f0e4a2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8CEBC4-3B43-4166-A731-5268105703A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C45DEA-8CF3-4DA6-A397-6C615F7AD2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E3AECA4-E8E3-4CF0-BF75-4CCC2A04B1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F5E88A1-077B-4BA8-A3D5-A5C53E90F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481E74-EAD1-4DC0-ADF6-45DE47549FC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E2CBD7-76A7-4A86-88B0-D9AD2C8D2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2D7EBCA-7497-4E6A-BD92-EAE2CA17B4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25936B-62BE-4896-92C3-E56F8BBCAF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C9AF70-5477-4B82-89DD-E9D1965E15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A746F0-DA03-4031-8F9C-583C892031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21B635-F7B3-4743-B52F-E97C878AC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60599B2-2121-46A4-9C4A-FF5B949FCA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9C1C2D9-FE33-4448-9690-28D23AAB10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E61902-24B8-4EA5-8360-3B545CC1BE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D8B240C-A6F9-4B29-81F9-F9B6DA101B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32E055-33B8-437E-92DC-94853187E0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AD21D2C-54DD-4B6D-979B-90779B29D3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8C32354-5793-465B-835D-B25E2263B6D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45112B4-9DF6-4433-B88C-8E5F4AA6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23C8D98-54E4-462C-B284-8347357EBD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443F2A1-D14C-40CC-A4B4-0C92CDAC79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153A54-4945-4B1B-9193-1B20EFD5B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A77A70C-0E87-43E8-A18A-324E8B4A11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1B4279D-ABEE-40DB-B37E-16A4878010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DA56422-9D1B-412E-B38E-55E3649DDD7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2487061-60A7-4156-8294-9E1E3FAFBF5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8080FF5-CDAA-4E0D-978D-12F742C44A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07CC7E1-07A0-402E-B165-546632E918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E41328D-733B-4D15-8843-B3E8FA16E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101581-9884-4550-85B3-6C1AA99197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1AB7E6B-730F-46B0-B938-0B9CE4DF58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05B3D90-9637-45BF-A611-D06A9D0AA0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086D2A6-CC0A-43F6-BAC6-62AEF015D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8BDF501-22EF-43DA-98AF-A6E3863AE6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9E1D8A8-D446-4C6E-B261-DDE4779359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9E941B9-330D-4700-90FA-A69ABBD7AE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6FD819-BA9A-4698-9DDD-C9B9402F8BC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3DB5EA7-3F28-4D32-BE95-E00724C1A46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381F2CE-EC1B-4731-B323-91D00CA41A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A86998-E590-4A57-9A81-8C1111C853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4F5A24A-92DD-45A1-8616-F16164E9CE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58AA836-02B1-4561-8667-BB55A40B63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0638F75-E86B-4BD0-97BD-52A335D2B3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5016E53-14FA-45BD-BE3B-E0CDF5FB0E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BDFE38-1AE4-44D8-B723-3753D247D5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359AD3C-FA12-462F-9D2D-2EBD0336B9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F5A5AB4-40E3-4389-BF6F-01F2CC3D77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BFFC050-58AB-4731-AD56-A333FFBD31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6BAE0A4-E7D9-4C4E-8BF5-4C299C6F30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F203C5B-2D1A-49F7-B404-CF477E834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47E6031B-15C0-40CC-9CE2-7CDECE20EC7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F6BF5EE-F8D7-40C2-A7A8-D151E1E6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384" y="625729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 sz="900"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5F4ED77-8605-4B70-90B6-6AD9161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" y="6340475"/>
            <a:ext cx="4064000" cy="1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 b="1">
                <a:solidFill>
                  <a:srgbClr val="009FE8"/>
                </a:solidFill>
                <a:latin typeface="微软雅黑"/>
                <a:ea typeface="微软雅黑"/>
                <a:cs typeface="微软雅黑"/>
              </a:rPr>
              <a:t>安全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7FBE25"/>
                </a:solidFill>
                <a:latin typeface="微软雅黑"/>
                <a:ea typeface="微软雅黑"/>
                <a:cs typeface="微软雅黑"/>
              </a:rPr>
              <a:t>绿色</a:t>
            </a:r>
            <a:r>
              <a:rPr sz="700" b="1">
                <a:solidFill>
                  <a:srgbClr val="7FBE2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459946"/>
                </a:solidFill>
                <a:latin typeface="微软雅黑"/>
                <a:ea typeface="微软雅黑"/>
                <a:cs typeface="微软雅黑"/>
              </a:rPr>
              <a:t>创新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B5B5B6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700" b="1">
                <a:latin typeface="微软雅黑"/>
                <a:ea typeface="微软雅黑"/>
                <a:cs typeface="微软雅黑"/>
              </a:rPr>
              <a:t> </a:t>
            </a:r>
            <a:r>
              <a:rPr sz="700" b="1">
                <a:solidFill>
                  <a:srgbClr val="EC6D00"/>
                </a:solidFill>
                <a:latin typeface="微软雅黑"/>
                <a:ea typeface="微软雅黑"/>
                <a:cs typeface="微软雅黑"/>
              </a:rPr>
              <a:t>担当</a:t>
            </a:r>
            <a:endParaRPr sz="700" b="1">
              <a:solidFill>
                <a:srgbClr val="EC6D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105f707e6a4d06" /><Relationship Type="http://schemas.openxmlformats.org/officeDocument/2006/relationships/slideLayout" Target="/ppt/slideLayouts/slideLayout1.xml" Id="R3869208f90a94614" /><Relationship Type="http://schemas.openxmlformats.org/officeDocument/2006/relationships/slideLayout" Target="/ppt/slideLayouts/slideLayout2.xml" Id="Rba8284d54a2c411f" /><Relationship Type="http://schemas.openxmlformats.org/officeDocument/2006/relationships/slideLayout" Target="/ppt/slideLayouts/slideLayout3.xml" Id="Rb6fe732f281549fd" /><Relationship Type="http://schemas.openxmlformats.org/officeDocument/2006/relationships/slideLayout" Target="/ppt/slideLayouts/slideLayout4.xml" Id="R0b05a1450ea543f5" /><Relationship Type="http://schemas.openxmlformats.org/officeDocument/2006/relationships/slideLayout" Target="/ppt/slideLayouts/slideLayout5.xml" Id="R1e944842dae848bf" /><Relationship Type="http://schemas.openxmlformats.org/officeDocument/2006/relationships/slideLayout" Target="/ppt/slideLayouts/slideLayout6.xml" Id="R7047cf690d2e4f05" /><Relationship Type="http://schemas.openxmlformats.org/officeDocument/2006/relationships/slideLayout" Target="/ppt/slideLayouts/slideLayout7.xml" Id="Rafb2ccf13c624723" /><Relationship Type="http://schemas.openxmlformats.org/officeDocument/2006/relationships/slideLayout" Target="/ppt/slideLayouts/slideLayout8.xml" Id="Rb7b579ea7e494638" /><Relationship Type="http://schemas.openxmlformats.org/officeDocument/2006/relationships/slideLayout" Target="/ppt/slideLayouts/slideLayout9.xml" Id="Rd607b0359f9341bb" /><Relationship Type="http://schemas.openxmlformats.org/officeDocument/2006/relationships/slideLayout" Target="/ppt/slideLayouts/slideLayout10.xml" Id="R8b28774b2a894823" /><Relationship Type="http://schemas.openxmlformats.org/officeDocument/2006/relationships/slideLayout" Target="/ppt/slideLayouts/slideLayout11.xml" Id="R74ad955def45474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6BA4A96-1C66-41F9-9354-D15961D5DF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B71E659-BB3F-4B47-B3C6-3B1C00A16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DF8BE7-2FBD-4C24-974D-5D884FD5DB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7CA3A0-4946-4168-B9B6-61E6BE055D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5D815AD-DE7A-4D3E-8857-A112CF3BBF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69208f90a94614"/>
    <p:sldLayoutId xmlns:r="http://schemas.openxmlformats.org/officeDocument/2006/relationships" id="2147483650" r:id="Rba8284d54a2c411f"/>
    <p:sldLayoutId xmlns:r="http://schemas.openxmlformats.org/officeDocument/2006/relationships" id="2147483651" r:id="Rb6fe732f281549fd"/>
    <p:sldLayoutId xmlns:r="http://schemas.openxmlformats.org/officeDocument/2006/relationships" id="2147483652" r:id="R0b05a1450ea543f5"/>
    <p:sldLayoutId xmlns:r="http://schemas.openxmlformats.org/officeDocument/2006/relationships" id="2147483653" r:id="R1e944842dae848bf"/>
    <p:sldLayoutId xmlns:r="http://schemas.openxmlformats.org/officeDocument/2006/relationships" id="2147483654" r:id="R7047cf690d2e4f05"/>
    <p:sldLayoutId xmlns:r="http://schemas.openxmlformats.org/officeDocument/2006/relationships" id="2147483655" r:id="Rafb2ccf13c624723"/>
    <p:sldLayoutId xmlns:r="http://schemas.openxmlformats.org/officeDocument/2006/relationships" id="2147483656" r:id="Rb7b579ea7e494638"/>
    <p:sldLayoutId xmlns:r="http://schemas.openxmlformats.org/officeDocument/2006/relationships" id="2147483657" r:id="Rd607b0359f9341bb"/>
    <p:sldLayoutId xmlns:r="http://schemas.openxmlformats.org/officeDocument/2006/relationships" id="2147483658" r:id="R8b28774b2a894823"/>
    <p:sldLayoutId xmlns:r="http://schemas.openxmlformats.org/officeDocument/2006/relationships" id="2147483659" r:id="R74ad955def45474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163195c264af7" /><Relationship Type="http://schemas.openxmlformats.org/officeDocument/2006/relationships/image" Target="/ppt/media/image.jpeg" Id="Re093e1bfd6554348" /><Relationship Type="http://schemas.openxmlformats.org/officeDocument/2006/relationships/notesSlide" Target="/ppt/notesSlides/notesSlide1.xml" Id="Rf5036f7196a24c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f45e8be200443c5" /><Relationship Type="http://schemas.openxmlformats.org/officeDocument/2006/relationships/image" Target="/ppt/media/image.png" Id="R3e4a4ccf7add471e" /><Relationship Type="http://schemas.openxmlformats.org/officeDocument/2006/relationships/image" Target="/ppt/media/image2.png" Id="R9f607691c87040ac" /><Relationship Type="http://schemas.openxmlformats.org/officeDocument/2006/relationships/notesSlide" Target="/ppt/notesSlides/notesSlide2.xml" Id="Rd5105f08d92e47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ef6e7cc1c434092" /><Relationship Type="http://schemas.openxmlformats.org/officeDocument/2006/relationships/image" Target="/ppt/media/image.png" Id="R88779932705f4bd7" /><Relationship Type="http://schemas.openxmlformats.org/officeDocument/2006/relationships/image" Target="/ppt/media/image2.png" Id="Rc315d7e0a4ae4fce" /><Relationship Type="http://schemas.openxmlformats.org/officeDocument/2006/relationships/notesSlide" Target="/ppt/notesSlides/notesSlide3.xml" Id="R2b9a2b594e0e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f0687f8416a4bb7" /><Relationship Type="http://schemas.openxmlformats.org/officeDocument/2006/relationships/image" Target="/ppt/media/image.png" Id="Ra2866c9551524fd8" /><Relationship Type="http://schemas.openxmlformats.org/officeDocument/2006/relationships/image" Target="/ppt/media/image2.png" Id="Rfb94d7830b9b4210" /><Relationship Type="http://schemas.openxmlformats.org/officeDocument/2006/relationships/notesSlide" Target="/ppt/notesSlides/notesSlide4.xml" Id="Rdc7606b8f92c4c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19d78cd83eb43cc" /><Relationship Type="http://schemas.openxmlformats.org/officeDocument/2006/relationships/image" Target="/ppt/media/image.png" Id="R05d43127d1694cd6" /><Relationship Type="http://schemas.openxmlformats.org/officeDocument/2006/relationships/image" Target="/ppt/media/image2.png" Id="R4184df87b2f6449f" /><Relationship Type="http://schemas.openxmlformats.org/officeDocument/2006/relationships/notesSlide" Target="/ppt/notesSlides/notesSlide5.xml" Id="Recbc971b5e364b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20716ccb95a4ad5" /><Relationship Type="http://schemas.openxmlformats.org/officeDocument/2006/relationships/image" Target="/ppt/media/image.png" Id="R90d7a68c3c9647b1" /><Relationship Type="http://schemas.openxmlformats.org/officeDocument/2006/relationships/image" Target="/ppt/media/image2.png" Id="R31c8ca858e2a4f23" /><Relationship Type="http://schemas.openxmlformats.org/officeDocument/2006/relationships/notesSlide" Target="/ppt/notesSlides/notesSlide6.xml" Id="R5afa8ee6e2a54d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0b8ca70dda54038" /><Relationship Type="http://schemas.openxmlformats.org/officeDocument/2006/relationships/image" Target="/ppt/media/image.png" Id="Rb67052d8b6d04c12" /><Relationship Type="http://schemas.openxmlformats.org/officeDocument/2006/relationships/image" Target="/ppt/media/image2.png" Id="Rc611ee3f16c84aaa" /><Relationship Type="http://schemas.openxmlformats.org/officeDocument/2006/relationships/notesSlide" Target="/ppt/notesSlides/notesSlide7.xml" Id="Rb127b06cbc004f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813711792b044e7" /><Relationship Type="http://schemas.openxmlformats.org/officeDocument/2006/relationships/image" Target="/ppt/media/image.png" Id="R90597890ef2e42c4" /><Relationship Type="http://schemas.openxmlformats.org/officeDocument/2006/relationships/image" Target="/ppt/media/image2.png" Id="Rb8ebc8f9123b4099" /><Relationship Type="http://schemas.openxmlformats.org/officeDocument/2006/relationships/notesSlide" Target="/ppt/notesSlides/notesSlide8.xml" Id="Re28d174dee6448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845a2ca6c664eff" /><Relationship Type="http://schemas.openxmlformats.org/officeDocument/2006/relationships/image" Target="/ppt/media/image.png" Id="R6a5f37afe59246b8" /><Relationship Type="http://schemas.openxmlformats.org/officeDocument/2006/relationships/image" Target="/ppt/media/image2.png" Id="Rf48cda88a6554d5b" /><Relationship Type="http://schemas.openxmlformats.org/officeDocument/2006/relationships/notesSlide" Target="/ppt/notesSlides/notesSlide9.xml" Id="Ra81e3a12683e40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e0832bba537430a" /><Relationship Type="http://schemas.openxmlformats.org/officeDocument/2006/relationships/image" Target="/ppt/media/image.png" Id="R4cc6033477134b9c" /><Relationship Type="http://schemas.openxmlformats.org/officeDocument/2006/relationships/image" Target="/ppt/media/image2.png" Id="R24b35c9a4e1b40bf" /><Relationship Type="http://schemas.openxmlformats.org/officeDocument/2006/relationships/notesSlide" Target="/ppt/notesSlides/notesSlide10.xml" Id="Rf7ca44c48c9943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0fb54eff2ad482e" /><Relationship Type="http://schemas.openxmlformats.org/officeDocument/2006/relationships/image" Target="/ppt/media/image.png" Id="R0616c446393f4cc5" /><Relationship Type="http://schemas.openxmlformats.org/officeDocument/2006/relationships/image" Target="/ppt/media/image2.png" Id="R13af45daac264c93" /><Relationship Type="http://schemas.openxmlformats.org/officeDocument/2006/relationships/notesSlide" Target="/ppt/notesSlides/notesSlide11.xml" Id="R3ff545ea70c14c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e061c904b934940" /><Relationship Type="http://schemas.openxmlformats.org/officeDocument/2006/relationships/image" Target="/ppt/media/image.png" Id="R57633b4a03c44d65" /><Relationship Type="http://schemas.openxmlformats.org/officeDocument/2006/relationships/image" Target="/ppt/media/image2.png" Id="R0a35b6800c5c43b5" /><Relationship Type="http://schemas.openxmlformats.org/officeDocument/2006/relationships/notesSlide" Target="/ppt/notesSlides/notesSlide12.xml" Id="R40b966d3a5d446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3574ad06e534746" /><Relationship Type="http://schemas.openxmlformats.org/officeDocument/2006/relationships/image" Target="/ppt/media/image.png" Id="Rd381d1b3b4134590" /><Relationship Type="http://schemas.openxmlformats.org/officeDocument/2006/relationships/image" Target="/ppt/media/image2.png" Id="R86243e9cdd2743a4" /><Relationship Type="http://schemas.openxmlformats.org/officeDocument/2006/relationships/notesSlide" Target="/ppt/notesSlides/notesSlide13.xml" Id="R3e5716d0548049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8ca74538e7d49c6" /><Relationship Type="http://schemas.openxmlformats.org/officeDocument/2006/relationships/image" Target="/ppt/media/image.png" Id="R79c63a6157d5481e" /><Relationship Type="http://schemas.openxmlformats.org/officeDocument/2006/relationships/image" Target="/ppt/media/image2.png" Id="R26de52741f204703" /><Relationship Type="http://schemas.openxmlformats.org/officeDocument/2006/relationships/notesSlide" Target="/ppt/notesSlides/notesSlide14.xml" Id="R98b3210b867044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971f88d6be0479b" /><Relationship Type="http://schemas.openxmlformats.org/officeDocument/2006/relationships/image" Target="/ppt/media/image.png" Id="Rc151b5cd026c4a29" /><Relationship Type="http://schemas.openxmlformats.org/officeDocument/2006/relationships/image" Target="/ppt/media/image2.png" Id="R11c7bcd2277747a8" /><Relationship Type="http://schemas.openxmlformats.org/officeDocument/2006/relationships/notesSlide" Target="/ppt/notesSlides/notesSlide15.xml" Id="Ra8a807ae10994f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a7c6eac7edf4af1" /><Relationship Type="http://schemas.openxmlformats.org/officeDocument/2006/relationships/image" Target="/ppt/media/image.png" Id="R96c6c1d4937e4f98" /><Relationship Type="http://schemas.openxmlformats.org/officeDocument/2006/relationships/image" Target="/ppt/media/image2.png" Id="R17af1bc53060447c" /><Relationship Type="http://schemas.openxmlformats.org/officeDocument/2006/relationships/notesSlide" Target="/ppt/notesSlides/notesSlide16.xml" Id="R8424f5f194624b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191882381804b1a" /><Relationship Type="http://schemas.openxmlformats.org/officeDocument/2006/relationships/image" Target="/ppt/media/image.png" Id="Ra6e0760b139641bb" /><Relationship Type="http://schemas.openxmlformats.org/officeDocument/2006/relationships/image" Target="/ppt/media/image2.png" Id="R8b349bff879b4000" /><Relationship Type="http://schemas.openxmlformats.org/officeDocument/2006/relationships/notesSlide" Target="/ppt/notesSlides/notesSlide17.xml" Id="Rc6eb988f113541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6f9d0e0b5ad4db2" /><Relationship Type="http://schemas.openxmlformats.org/officeDocument/2006/relationships/image" Target="/ppt/media/image.png" Id="Rf8ebca98b9dc4270" /><Relationship Type="http://schemas.openxmlformats.org/officeDocument/2006/relationships/image" Target="/ppt/media/image2.png" Id="R2ccdca5862ad449a" /><Relationship Type="http://schemas.openxmlformats.org/officeDocument/2006/relationships/notesSlide" Target="/ppt/notesSlides/notesSlide18.xml" Id="Rf94bb6e1e82f47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61f408b2aa94102" /><Relationship Type="http://schemas.openxmlformats.org/officeDocument/2006/relationships/image" Target="/ppt/media/image.png" Id="R0db783e5700f4b41" /><Relationship Type="http://schemas.openxmlformats.org/officeDocument/2006/relationships/image" Target="/ppt/media/image2.png" Id="R335ac59b29684e2d" /><Relationship Type="http://schemas.openxmlformats.org/officeDocument/2006/relationships/notesSlide" Target="/ppt/notesSlides/notesSlide19.xml" Id="R2abd9484cef047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ab2ebe7bdd84248" /><Relationship Type="http://schemas.openxmlformats.org/officeDocument/2006/relationships/image" Target="/ppt/media/image.png" Id="Rf1594a42d07446e6" /><Relationship Type="http://schemas.openxmlformats.org/officeDocument/2006/relationships/image" Target="/ppt/media/image2.png" Id="Rbfee44897e264c2a" /><Relationship Type="http://schemas.openxmlformats.org/officeDocument/2006/relationships/notesSlide" Target="/ppt/notesSlides/notesSlide20.xml" Id="R1e1930be32a94d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b498bd1c89e4844" /><Relationship Type="http://schemas.openxmlformats.org/officeDocument/2006/relationships/image" Target="/ppt/media/image.png" Id="R2aad9d42ab4a4b20" /><Relationship Type="http://schemas.openxmlformats.org/officeDocument/2006/relationships/image" Target="/ppt/media/image2.png" Id="R2c25917d7feb4a9d" /><Relationship Type="http://schemas.openxmlformats.org/officeDocument/2006/relationships/notesSlide" Target="/ppt/notesSlides/notesSlide21.xml" Id="Rc7c353442eb24a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21b5119b9d14ec6" /><Relationship Type="http://schemas.openxmlformats.org/officeDocument/2006/relationships/image" Target="/ppt/media/image.png" Id="Rbf0d3d33a9e24797" /><Relationship Type="http://schemas.openxmlformats.org/officeDocument/2006/relationships/image" Target="/ppt/media/image2.png" Id="R661292bc52a14b48" /><Relationship Type="http://schemas.openxmlformats.org/officeDocument/2006/relationships/notesSlide" Target="/ppt/notesSlides/notesSlide22.xml" Id="R7223413ee3d846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3e9c75ba6534d2d" /><Relationship Type="http://schemas.openxmlformats.org/officeDocument/2006/relationships/image" Target="/ppt/media/image.png" Id="Rdc96bba080ca4de1" /><Relationship Type="http://schemas.openxmlformats.org/officeDocument/2006/relationships/image" Target="/ppt/media/image2.png" Id="R05fd7d410adc4061" /><Relationship Type="http://schemas.openxmlformats.org/officeDocument/2006/relationships/notesSlide" Target="/ppt/notesSlides/notesSlide23.xml" Id="R897236886f0d4c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dffb8e78faa4524" /><Relationship Type="http://schemas.openxmlformats.org/officeDocument/2006/relationships/image" Target="/ppt/media/image.png" Id="R6493506963b44f20" /><Relationship Type="http://schemas.openxmlformats.org/officeDocument/2006/relationships/image" Target="/ppt/media/image2.png" Id="R6177b5a6236040a3" /><Relationship Type="http://schemas.openxmlformats.org/officeDocument/2006/relationships/notesSlide" Target="/ppt/notesSlides/notesSlide24.xml" Id="R69b3eedaac164b14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093e1bfd655434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AF8C36D-021F-4278-9471-6BE2EF8C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57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 A｜数智中枢型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FFF9968-6855-46ED-9D7D-ADCB98B0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ontology3.0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连接数据、语义、决策和行动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5A22CD5-C2B3-4AB6-B4B0-A4D00CB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AF5FF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EAF5FF"/>
                </a:solidFill>
                <a:latin typeface="微软雅黑"/>
                <a:ea typeface="微软雅黑"/>
                <a:cs typeface="微软雅黑"/>
              </a:rPr>
              <a:t>面向集团财务的企业级 AI 与大数据平台设计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4BD90EB1-BB11-4204-A9BF-C53AD25F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5B4A226B-DFE8-4FB2-AD8F-C96D5817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6F0F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E6F0F8"/>
                </a:solidFill>
                <a:latin typeface="微软雅黑"/>
                <a:ea typeface="微软雅黑"/>
                <a:cs typeface="微软雅黑"/>
              </a:rPr>
              <a:t>项目背景介绍｜2026</a:t>
            </a:r>
          </a:p>
        </p:txBody>
      </p:sp>
    </p:spTree>
    <p:extLst>
      <p:ext uri="{BB962C8B-B14F-4D97-AF65-F5344CB8AC3E}">
        <p14:creationId xmlns:p14="http://schemas.microsoft.com/office/powerpoint/2010/main" val="6580299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a4ccf7add47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07691c870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44E36C78-9A49-41A0-B119-A0E6C907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团队介绍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74188076-3018-44AE-AE72-7E0F1F4F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四类专业分工支撑平台与三个业务场景</a:t>
            </a:r>
          </a:p>
        </p:txBody>
      </p:sp>
      <p:sp>
        <p:nvSpPr>
          <p:cNvPr id="5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0731B800-A907-4CFD-B37E-56D002C5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team-card-1">
            <a:extLst xmlns:a="http://schemas.openxmlformats.org/drawingml/2006/main">
              <a:ext uri="{FF2B5EF4-FFF2-40B4-BE49-F238E27FC236}">
                <a16:creationId xmlns:a16="http://schemas.microsoft.com/office/drawing/2014/main" id="{C88968FB-9921-447A-987F-6F0A8251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hoto-placeholder-1">
            <a:extLst xmlns:a="http://schemas.openxmlformats.org/drawingml/2006/main">
              <a:ext uri="{FF2B5EF4-FFF2-40B4-BE49-F238E27FC236}">
                <a16:creationId xmlns:a16="http://schemas.microsoft.com/office/drawing/2014/main" id="{0A346528-27D4-416C-B332-4D56C8D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hoto-head-1">
            <a:extLst xmlns:a="http://schemas.openxmlformats.org/drawingml/2006/main">
              <a:ext uri="{FF2B5EF4-FFF2-40B4-BE49-F238E27FC236}">
                <a16:creationId xmlns:a16="http://schemas.microsoft.com/office/drawing/2014/main" id="{49DB28C3-6629-4C6F-8B06-7ED9A1C5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9" name="photo-body-1">
            <a:extLst xmlns:a="http://schemas.openxmlformats.org/drawingml/2006/main">
              <a:ext uri="{FF2B5EF4-FFF2-40B4-BE49-F238E27FC236}">
                <a16:creationId xmlns:a16="http://schemas.microsoft.com/office/drawing/2014/main" id="{F7AAD8AA-C676-4608-82C6-3E3DA8C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0" name="photo-label-1">
            <a:extLst xmlns:a="http://schemas.openxmlformats.org/drawingml/2006/main">
              <a:ext uri="{FF2B5EF4-FFF2-40B4-BE49-F238E27FC236}">
                <a16:creationId xmlns:a16="http://schemas.microsoft.com/office/drawing/2014/main" id="{77762145-A381-4A50-853D-FACED899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11" name="team-role-1">
            <a:extLst xmlns:a="http://schemas.openxmlformats.org/drawingml/2006/main">
              <a:ext uri="{FF2B5EF4-FFF2-40B4-BE49-F238E27FC236}">
                <a16:creationId xmlns:a16="http://schemas.microsoft.com/office/drawing/2014/main" id="{D99D462C-7E5C-41B4-AF5D-A14B725E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组长</a:t>
            </a:r>
          </a:p>
        </p:txBody>
      </p:sp>
      <p:sp>
        <p:nvSpPr>
          <p:cNvPr id="12" name="team-name-1">
            <a:extLst xmlns:a="http://schemas.openxmlformats.org/drawingml/2006/main">
              <a:ext uri="{FF2B5EF4-FFF2-40B4-BE49-F238E27FC236}">
                <a16:creationId xmlns:a16="http://schemas.microsoft.com/office/drawing/2014/main" id="{ADC53177-A6E6-4953-A949-3BBB3B7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张栋</a:t>
            </a:r>
          </a:p>
        </p:txBody>
      </p:sp>
      <p:sp>
        <p:nvSpPr>
          <p:cNvPr id="13" name="team-dept-1">
            <a:extLst xmlns:a="http://schemas.openxmlformats.org/drawingml/2006/main">
              <a:ext uri="{FF2B5EF4-FFF2-40B4-BE49-F238E27FC236}">
                <a16:creationId xmlns:a16="http://schemas.microsoft.com/office/drawing/2014/main" id="{45B6D1BC-7387-4AA7-BFB1-A30CF631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财务公司规划财务部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BF318-FF07-4CAC-AE8C-71BF7BFD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5" name="team-duty-1">
            <a:extLst xmlns:a="http://schemas.openxmlformats.org/drawingml/2006/main">
              <a:ext uri="{FF2B5EF4-FFF2-40B4-BE49-F238E27FC236}">
                <a16:creationId xmlns:a16="http://schemas.microsoft.com/office/drawing/2014/main" id="{47C51F2D-788A-4BB4-B2C6-CD1382D4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平台架构和功能建设</a:t>
            </a:r>
          </a:p>
        </p:txBody>
      </p:sp>
      <p:sp>
        <p:nvSpPr>
          <p:cNvPr id="16" name="team-card-2">
            <a:extLst xmlns:a="http://schemas.openxmlformats.org/drawingml/2006/main">
              <a:ext uri="{FF2B5EF4-FFF2-40B4-BE49-F238E27FC236}">
                <a16:creationId xmlns:a16="http://schemas.microsoft.com/office/drawing/2014/main" id="{C19F7138-BCBE-4A5A-8A0B-8F3401D5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photo-placeholder-2">
            <a:extLst xmlns:a="http://schemas.openxmlformats.org/drawingml/2006/main">
              <a:ext uri="{FF2B5EF4-FFF2-40B4-BE49-F238E27FC236}">
                <a16:creationId xmlns:a16="http://schemas.microsoft.com/office/drawing/2014/main" id="{4B51B948-E487-4BB4-A007-2148723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8" name="photo-head-2">
            <a:extLst xmlns:a="http://schemas.openxmlformats.org/drawingml/2006/main">
              <a:ext uri="{FF2B5EF4-FFF2-40B4-BE49-F238E27FC236}">
                <a16:creationId xmlns:a16="http://schemas.microsoft.com/office/drawing/2014/main" id="{E83A49C0-3639-4EDB-AA79-E9044D35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9" name="photo-body-2">
            <a:extLst xmlns:a="http://schemas.openxmlformats.org/drawingml/2006/main">
              <a:ext uri="{FF2B5EF4-FFF2-40B4-BE49-F238E27FC236}">
                <a16:creationId xmlns:a16="http://schemas.microsoft.com/office/drawing/2014/main" id="{9FB7057D-666C-4E6B-BB9F-1FB2CB6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photo-label-2">
            <a:extLst xmlns:a="http://schemas.openxmlformats.org/drawingml/2006/main">
              <a:ext uri="{FF2B5EF4-FFF2-40B4-BE49-F238E27FC236}">
                <a16:creationId xmlns:a16="http://schemas.microsoft.com/office/drawing/2014/main" id="{2DCD8AC4-BA70-4682-AE36-BA474D20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21" name="team-role-2">
            <a:extLst xmlns:a="http://schemas.openxmlformats.org/drawingml/2006/main">
              <a:ext uri="{FF2B5EF4-FFF2-40B4-BE49-F238E27FC236}">
                <a16:creationId xmlns:a16="http://schemas.microsoft.com/office/drawing/2014/main" id="{C5998720-E24C-4658-A8C8-C15F61B2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22" name="team-name-2">
            <a:extLst xmlns:a="http://schemas.openxmlformats.org/drawingml/2006/main">
              <a:ext uri="{FF2B5EF4-FFF2-40B4-BE49-F238E27FC236}">
                <a16:creationId xmlns:a16="http://schemas.microsoft.com/office/drawing/2014/main" id="{7357077F-CF5F-491F-9B72-7CAA5D98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谢航雨</a:t>
            </a:r>
          </a:p>
        </p:txBody>
      </p:sp>
      <p:sp>
        <p:nvSpPr>
          <p:cNvPr id="23" name="team-dept-2">
            <a:extLst xmlns:a="http://schemas.openxmlformats.org/drawingml/2006/main">
              <a:ext uri="{FF2B5EF4-FFF2-40B4-BE49-F238E27FC236}">
                <a16:creationId xmlns:a16="http://schemas.microsoft.com/office/drawing/2014/main" id="{BF832AF9-712E-4396-801B-B439EB1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财务公司信贷融资部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DF2D0-BDC6-4557-9E7F-9CBAC1C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5" name="team-duty-2">
            <a:extLst xmlns:a="http://schemas.openxmlformats.org/drawingml/2006/main">
              <a:ext uri="{FF2B5EF4-FFF2-40B4-BE49-F238E27FC236}">
                <a16:creationId xmlns:a16="http://schemas.microsoft.com/office/drawing/2014/main" id="{77C75011-830C-4B22-B5CE-62B02F9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集团债务风险监控场景开发</a:t>
            </a:r>
          </a:p>
        </p:txBody>
      </p:sp>
      <p:sp>
        <p:nvSpPr>
          <p:cNvPr id="26" name="team-card-3">
            <a:extLst xmlns:a="http://schemas.openxmlformats.org/drawingml/2006/main">
              <a:ext uri="{FF2B5EF4-FFF2-40B4-BE49-F238E27FC236}">
                <a16:creationId xmlns:a16="http://schemas.microsoft.com/office/drawing/2014/main" id="{0C438263-4789-4858-8278-DD556BA1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7" name="photo-placeholder-3">
            <a:extLst xmlns:a="http://schemas.openxmlformats.org/drawingml/2006/main">
              <a:ext uri="{FF2B5EF4-FFF2-40B4-BE49-F238E27FC236}">
                <a16:creationId xmlns:a16="http://schemas.microsoft.com/office/drawing/2014/main" id="{E7F7A0EA-EAFB-4C48-B6CA-E0AEF418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8" name="photo-head-3">
            <a:extLst xmlns:a="http://schemas.openxmlformats.org/drawingml/2006/main">
              <a:ext uri="{FF2B5EF4-FFF2-40B4-BE49-F238E27FC236}">
                <a16:creationId xmlns:a16="http://schemas.microsoft.com/office/drawing/2014/main" id="{5EA58448-A7E2-4AA9-B6AE-790041C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9" name="photo-body-3">
            <a:extLst xmlns:a="http://schemas.openxmlformats.org/drawingml/2006/main">
              <a:ext uri="{FF2B5EF4-FFF2-40B4-BE49-F238E27FC236}">
                <a16:creationId xmlns:a16="http://schemas.microsoft.com/office/drawing/2014/main" id="{DFECA701-1F33-41A2-B840-5557467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0" name="photo-label-3">
            <a:extLst xmlns:a="http://schemas.openxmlformats.org/drawingml/2006/main">
              <a:ext uri="{FF2B5EF4-FFF2-40B4-BE49-F238E27FC236}">
                <a16:creationId xmlns:a16="http://schemas.microsoft.com/office/drawing/2014/main" id="{C8339494-E165-45A4-811C-8603D11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31" name="team-role-3">
            <a:extLst xmlns:a="http://schemas.openxmlformats.org/drawingml/2006/main">
              <a:ext uri="{FF2B5EF4-FFF2-40B4-BE49-F238E27FC236}">
                <a16:creationId xmlns:a16="http://schemas.microsoft.com/office/drawing/2014/main" id="{8087EC21-8092-4C37-9232-5ADEB3B4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32" name="team-name-3">
            <a:extLst xmlns:a="http://schemas.openxmlformats.org/drawingml/2006/main">
              <a:ext uri="{FF2B5EF4-FFF2-40B4-BE49-F238E27FC236}">
                <a16:creationId xmlns:a16="http://schemas.microsoft.com/office/drawing/2014/main" id="{4C13CF3A-D4F6-4AB6-8ADF-4442A5E5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刘明明</a:t>
            </a:r>
          </a:p>
        </p:txBody>
      </p:sp>
      <p:sp>
        <p:nvSpPr>
          <p:cNvPr id="33" name="team-dept-3">
            <a:extLst xmlns:a="http://schemas.openxmlformats.org/drawingml/2006/main">
              <a:ext uri="{FF2B5EF4-FFF2-40B4-BE49-F238E27FC236}">
                <a16:creationId xmlns:a16="http://schemas.microsoft.com/office/drawing/2014/main" id="{4CCEC765-B48D-4014-B6A6-D3AD1FD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财务公司信贷融资部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6933DF-D073-40FC-AAED-1389A82C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team-duty-3">
            <a:extLst xmlns:a="http://schemas.openxmlformats.org/drawingml/2006/main">
              <a:ext uri="{FF2B5EF4-FFF2-40B4-BE49-F238E27FC236}">
                <a16:creationId xmlns:a16="http://schemas.microsoft.com/office/drawing/2014/main" id="{FB61BDB6-25F9-491B-935C-7B3A249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财务公司贷前报告场景开发</a:t>
            </a:r>
          </a:p>
        </p:txBody>
      </p:sp>
      <p:sp>
        <p:nvSpPr>
          <p:cNvPr id="36" name="team-card-4">
            <a:extLst xmlns:a="http://schemas.openxmlformats.org/drawingml/2006/main">
              <a:ext uri="{FF2B5EF4-FFF2-40B4-BE49-F238E27FC236}">
                <a16:creationId xmlns:a16="http://schemas.microsoft.com/office/drawing/2014/main" id="{67BA8F89-002B-4121-9B84-ADDFF227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19300"/>
            <a:ext cx="2571750" cy="33147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7" name="photo-placeholder-4">
            <a:extLst xmlns:a="http://schemas.openxmlformats.org/drawingml/2006/main">
              <a:ext uri="{FF2B5EF4-FFF2-40B4-BE49-F238E27FC236}">
                <a16:creationId xmlns:a16="http://schemas.microsoft.com/office/drawing/2014/main" id="{D169C778-79A9-48B7-82D8-98322184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9800"/>
            <a:ext cx="1162050" cy="12573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8" name="photo-head-4">
            <a:extLst xmlns:a="http://schemas.openxmlformats.org/drawingml/2006/main">
              <a:ext uri="{FF2B5EF4-FFF2-40B4-BE49-F238E27FC236}">
                <a16:creationId xmlns:a16="http://schemas.microsoft.com/office/drawing/2014/main" id="{0D13E788-70E4-4116-9921-6784E8A5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3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9" name="photo-body-4">
            <a:extLst xmlns:a="http://schemas.openxmlformats.org/drawingml/2006/main">
              <a:ext uri="{FF2B5EF4-FFF2-40B4-BE49-F238E27FC236}">
                <a16:creationId xmlns:a16="http://schemas.microsoft.com/office/drawing/2014/main" id="{D0259529-1F84-4FE9-9E95-32DD6461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38450"/>
            <a:ext cx="590550" cy="476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40" name="photo-label-4">
            <a:extLst xmlns:a="http://schemas.openxmlformats.org/drawingml/2006/main">
              <a:ext uri="{FF2B5EF4-FFF2-40B4-BE49-F238E27FC236}">
                <a16:creationId xmlns:a16="http://schemas.microsoft.com/office/drawing/2014/main" id="{7813F146-C574-44C0-A002-DADB476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623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照片</a:t>
            </a:r>
          </a:p>
        </p:txBody>
      </p:sp>
      <p:sp>
        <p:nvSpPr>
          <p:cNvPr id="41" name="team-role-4">
            <a:extLst xmlns:a="http://schemas.openxmlformats.org/drawingml/2006/main">
              <a:ext uri="{FF2B5EF4-FFF2-40B4-BE49-F238E27FC236}">
                <a16:creationId xmlns:a16="http://schemas.microsoft.com/office/drawing/2014/main" id="{319CFCC6-EE02-40C9-A44C-D98A05C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组员</a:t>
            </a:r>
          </a:p>
        </p:txBody>
      </p:sp>
      <p:sp>
        <p:nvSpPr>
          <p:cNvPr id="42" name="team-name-4">
            <a:extLst xmlns:a="http://schemas.openxmlformats.org/drawingml/2006/main">
              <a:ext uri="{FF2B5EF4-FFF2-40B4-BE49-F238E27FC236}">
                <a16:creationId xmlns:a16="http://schemas.microsoft.com/office/drawing/2014/main" id="{3754EF81-53A5-4780-A7B3-69CDC1F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林擎妍</a:t>
            </a:r>
          </a:p>
        </p:txBody>
      </p:sp>
      <p:sp>
        <p:nvSpPr>
          <p:cNvPr id="43" name="team-dept-4">
            <a:extLst xmlns:a="http://schemas.openxmlformats.org/drawingml/2006/main">
              <a:ext uri="{FF2B5EF4-FFF2-40B4-BE49-F238E27FC236}">
                <a16:creationId xmlns:a16="http://schemas.microsoft.com/office/drawing/2014/main" id="{086F6AF5-CAC1-4226-960B-D01874CF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76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苏州院财务部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03D21E-85D0-4C3B-BB20-35390FB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9582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45" name="team-duty-4">
            <a:extLst xmlns:a="http://schemas.openxmlformats.org/drawingml/2006/main">
              <a:ext uri="{FF2B5EF4-FFF2-40B4-BE49-F238E27FC236}">
                <a16:creationId xmlns:a16="http://schemas.microsoft.com/office/drawing/2014/main" id="{4C002FEC-CC99-4920-B83F-3C2EEBD8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10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预算管理监督场景开发</a:t>
            </a:r>
          </a:p>
        </p:txBody>
      </p:sp>
      <p:sp>
        <p:nvSpPr>
          <p:cNvPr id="46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F9C2402A-D0DD-43CB-A8A0-E717D958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平台建设团队｜架构与三类业务场景</a:t>
            </a:r>
          </a:p>
        </p:txBody>
      </p:sp>
      <p:sp>
        <p:nvSpPr>
          <p:cNvPr id="4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017EB26E-0B01-47A4-8E43-B246A6EE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79932705f4b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5d7e0a4ae4f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D34AF120-30D3-4DDC-9EBF-80D9D530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平台机制与系统架构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FC6E0848-0166-4ACA-AD9A-1F61CF09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项目要补齐的是数据进入行动前的控制链</a:t>
            </a:r>
          </a:p>
        </p:txBody>
      </p:sp>
      <p:sp>
        <p:nvSpPr>
          <p:cNvPr id="5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38255C78-1F06-4870-8B09-33607364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opening-edge-1">
            <a:extLst xmlns:a="http://schemas.openxmlformats.org/drawingml/2006/main">
              <a:ext uri="{FF2B5EF4-FFF2-40B4-BE49-F238E27FC236}">
                <a16:creationId xmlns:a16="http://schemas.microsoft.com/office/drawing/2014/main" id="{E9F6BA15-023A-4B90-8152-ADB77827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opening-edge-1-arrowhead">
            <a:extLst xmlns:a="http://schemas.openxmlformats.org/drawingml/2006/main">
              <a:ext uri="{FF2B5EF4-FFF2-40B4-BE49-F238E27FC236}">
                <a16:creationId xmlns:a16="http://schemas.microsoft.com/office/drawing/2014/main" id="{93B3E467-A89B-4851-9279-420595A6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861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opening-edge-2">
            <a:extLst xmlns:a="http://schemas.openxmlformats.org/drawingml/2006/main">
              <a:ext uri="{FF2B5EF4-FFF2-40B4-BE49-F238E27FC236}">
                <a16:creationId xmlns:a16="http://schemas.microsoft.com/office/drawing/2014/main" id="{DC1A6F08-AC62-4368-BD45-6B8CE47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opening-edge-2-arrowhead">
            <a:extLst xmlns:a="http://schemas.openxmlformats.org/drawingml/2006/main">
              <a:ext uri="{FF2B5EF4-FFF2-40B4-BE49-F238E27FC236}">
                <a16:creationId xmlns:a16="http://schemas.microsoft.com/office/drawing/2014/main" id="{079E4EE7-426C-4300-8FA9-203C6D09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7215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opening-edge-3">
            <a:extLst xmlns:a="http://schemas.openxmlformats.org/drawingml/2006/main">
              <a:ext uri="{FF2B5EF4-FFF2-40B4-BE49-F238E27FC236}">
                <a16:creationId xmlns:a16="http://schemas.microsoft.com/office/drawing/2014/main" id="{38A2D043-0376-4B2F-9361-35DA78A5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opening-edge-3-arrowhead">
            <a:extLst xmlns:a="http://schemas.openxmlformats.org/drawingml/2006/main">
              <a:ext uri="{FF2B5EF4-FFF2-40B4-BE49-F238E27FC236}">
                <a16:creationId xmlns:a16="http://schemas.microsoft.com/office/drawing/2014/main" id="{F9E82809-410C-4B55-8AFB-AA72C10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582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opening-node-1">
            <a:extLst xmlns:a="http://schemas.openxmlformats.org/drawingml/2006/main">
              <a:ext uri="{FF2B5EF4-FFF2-40B4-BE49-F238E27FC236}">
                <a16:creationId xmlns:a16="http://schemas.microsoft.com/office/drawing/2014/main" id="{72F35961-43B4-42CD-9471-0950C09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13" name="opening-index-1">
            <a:extLst xmlns:a="http://schemas.openxmlformats.org/drawingml/2006/main">
              <a:ext uri="{FF2B5EF4-FFF2-40B4-BE49-F238E27FC236}">
                <a16:creationId xmlns:a16="http://schemas.microsoft.com/office/drawing/2014/main" id="{40F60C9F-781E-4689-872A-7C0D2D02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opening-label-1">
            <a:extLst xmlns:a="http://schemas.openxmlformats.org/drawingml/2006/main">
              <a:ext uri="{FF2B5EF4-FFF2-40B4-BE49-F238E27FC236}">
                <a16:creationId xmlns:a16="http://schemas.microsoft.com/office/drawing/2014/main" id="{5A3C761D-FFA7-471D-B40E-0389A11F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数据有版本</a:t>
            </a:r>
          </a:p>
        </p:txBody>
      </p:sp>
      <p:sp>
        <p:nvSpPr>
          <p:cNvPr id="15" name="opening-node-2">
            <a:extLst xmlns:a="http://schemas.openxmlformats.org/drawingml/2006/main">
              <a:ext uri="{FF2B5EF4-FFF2-40B4-BE49-F238E27FC236}">
                <a16:creationId xmlns:a16="http://schemas.microsoft.com/office/drawing/2014/main" id="{386413BC-4AAE-479A-B7C9-2598100A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6" name="opening-index-2">
            <a:extLst xmlns:a="http://schemas.openxmlformats.org/drawingml/2006/main">
              <a:ext uri="{FF2B5EF4-FFF2-40B4-BE49-F238E27FC236}">
                <a16:creationId xmlns:a16="http://schemas.microsoft.com/office/drawing/2014/main" id="{4C7AAAE2-27C3-4FFA-9BAA-040F647A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opening-label-2">
            <a:extLst xmlns:a="http://schemas.openxmlformats.org/drawingml/2006/main">
              <a:ext uri="{FF2B5EF4-FFF2-40B4-BE49-F238E27FC236}">
                <a16:creationId xmlns:a16="http://schemas.microsoft.com/office/drawing/2014/main" id="{AF61BBC5-2ABD-416B-8EFE-167944C9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语义有定义</a:t>
            </a:r>
          </a:p>
        </p:txBody>
      </p:sp>
      <p:sp>
        <p:nvSpPr>
          <p:cNvPr id="18" name="opening-node-3">
            <a:extLst xmlns:a="http://schemas.openxmlformats.org/drawingml/2006/main">
              <a:ext uri="{FF2B5EF4-FFF2-40B4-BE49-F238E27FC236}">
                <a16:creationId xmlns:a16="http://schemas.microsoft.com/office/drawing/2014/main" id="{C6E61CD2-796D-4372-B55F-F791086B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9" name="opening-index-3">
            <a:extLst xmlns:a="http://schemas.openxmlformats.org/drawingml/2006/main">
              <a:ext uri="{FF2B5EF4-FFF2-40B4-BE49-F238E27FC236}">
                <a16:creationId xmlns:a16="http://schemas.microsoft.com/office/drawing/2014/main" id="{B6325B86-A165-4D13-9D9D-7E320F3F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opening-label-3">
            <a:extLst xmlns:a="http://schemas.openxmlformats.org/drawingml/2006/main">
              <a:ext uri="{FF2B5EF4-FFF2-40B4-BE49-F238E27FC236}">
                <a16:creationId xmlns:a16="http://schemas.microsoft.com/office/drawing/2014/main" id="{1DC9DD81-19D8-4B06-8B67-D1728A6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结果有证据</a:t>
            </a:r>
          </a:p>
        </p:txBody>
      </p:sp>
      <p:sp>
        <p:nvSpPr>
          <p:cNvPr id="21" name="opening-node-4">
            <a:extLst xmlns:a="http://schemas.openxmlformats.org/drawingml/2006/main">
              <a:ext uri="{FF2B5EF4-FFF2-40B4-BE49-F238E27FC236}">
                <a16:creationId xmlns:a16="http://schemas.microsoft.com/office/drawing/2014/main" id="{E1C90C34-B4F1-4285-AEED-4F54E967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2" name="opening-index-4">
            <a:extLst xmlns:a="http://schemas.openxmlformats.org/drawingml/2006/main">
              <a:ext uri="{FF2B5EF4-FFF2-40B4-BE49-F238E27FC236}">
                <a16:creationId xmlns:a16="http://schemas.microsoft.com/office/drawing/2014/main" id="{96F924AD-8DAE-4803-B608-E1CB26C0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opening-label-4">
            <a:extLst xmlns:a="http://schemas.openxmlformats.org/drawingml/2006/main">
              <a:ext uri="{FF2B5EF4-FFF2-40B4-BE49-F238E27FC236}">
                <a16:creationId xmlns:a16="http://schemas.microsoft.com/office/drawing/2014/main" id="{40C4C720-9B9D-4EAC-81F1-A5074C6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行动经人确认</a:t>
            </a:r>
          </a:p>
        </p:txBody>
      </p:sp>
      <p:sp>
        <p:nvSpPr>
          <p:cNvPr id="24" name="opening-summary">
            <a:extLst xmlns:a="http://schemas.openxmlformats.org/drawingml/2006/main">
              <a:ext uri="{FF2B5EF4-FFF2-40B4-BE49-F238E27FC236}">
                <a16:creationId xmlns:a16="http://schemas.microsoft.com/office/drawing/2014/main" id="{66EC6D60-69AB-4EBA-B4EB-4155C02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平台把控制点放在版本、定义、证据和人工确认上，而不是让每个应用各自解释数据。</a:t>
            </a:r>
          </a:p>
        </p:txBody>
      </p:sp>
      <p:sp>
        <p:nvSpPr>
          <p:cNvPr id="25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14D8EAA3-0A5C-4D17-A770-1D4A74A6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一期目标链路｜真实运行、联调和验收证据待补齐</a:t>
            </a:r>
          </a:p>
        </p:txBody>
      </p:sp>
      <p:sp>
        <p:nvSpPr>
          <p:cNvPr id="2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4DFEF9F-DC60-4333-856F-26CF6C12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66c955152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4d7830b9b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3F54E362-041A-4FA2-8CE1-2D27A13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99F647F1-B206-49D7-8F75-C6129BC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大宽表把数据结构和业务逻辑绑得太紧</a:t>
            </a:r>
          </a:p>
        </p:txBody>
      </p:sp>
      <p:sp>
        <p:nvSpPr>
          <p:cNvPr id="5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710BB323-D2F2-41C0-A668-120C36F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67957894-3F9F-409C-9662-F40C521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D6B076D1-0D09-4998-AC2E-B0DC6FBF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0199E51E-4978-4000-8F0F-D82F0B37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117D11D3-4134-4994-86F6-95512F70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27905358-4151-42BF-95A9-C949E5DD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字段变化容易同时牵动加工、报表、问数和规则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表名、字段名难以承担稳定的业务身份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同一逻辑被复制到多个消费端后，变更难同步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7ED936DE-0827-49E1-B1C2-FF2380C1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数据工程负责有质量、有时点的数据资产版本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本体按对象、关系、指标和规则组织业务语义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下游只引用已发布资源，不各自重建口径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4C81A4F2-79B0-4958-97EF-BBB6C6C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C36C33F6-3EBD-44F5-A83D-80F37C25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4E1AD04E-1FD8-4A7A-9FDE-DD80A435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3B503C8C-8AD6-4AC2-90C6-8846B37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B1493716-AC55-48C7-ADC8-186782CB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管理关注｜以平台机制降低结构与口径变更的耦合</a:t>
            </a:r>
          </a:p>
        </p:txBody>
      </p:sp>
      <p:sp>
        <p:nvSpPr>
          <p:cNvPr id="1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A8DC872-9B7C-4420-B614-8A291D77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43127d169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4df87b2f6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D37ACDA9-A5AC-488A-BE90-C2D88920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2AE7FE20-0890-4552-AB90-1D61DBD8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文件已经可读，不等于数据已经可消费</a:t>
            </a:r>
          </a:p>
        </p:txBody>
      </p:sp>
      <p:sp>
        <p:nvSpPr>
          <p:cNvPr id="5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5FE0B074-558B-456B-8527-41DDDDA5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084A51C8-688A-4715-90AE-25B1165F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B190BD6D-8573-4F73-8D21-13270EBD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6ED6860C-D8FE-416A-886C-4CEA9951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4A640733-FB92-4D10-AC89-62F2DB0C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4DB5C59F-EAAA-4799-B608-C9584488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当前脱敏工作簿没有统一业务截至时间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“利率形式”空 212 条，“担保方式”空 1,868 条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融资事实与负责人映射分在不同工作表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FA35A15F-02D6-4B64-A5DD-066278B9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登记业务时点并明确缺失、未知与不适用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经过受控处理和质量门形成不可变数据资产版本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由 T019 固定正式可消费的数据与语义组合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EA400A01-792A-4B4A-A234-A8C146EB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39ADE1F4-7DC9-43EA-9C42-E83BFFE1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60F5DEFE-C012-4AA9-8DB1-05DA42DA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BFE32C0E-2FD5-49D3-A389-BDF39A7A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5">
            <a:extLst xmlns:a="http://schemas.openxmlformats.org/drawingml/2006/main">
              <a:ext uri="{FF2B5EF4-FFF2-40B4-BE49-F238E27FC236}">
                <a16:creationId xmlns:a16="http://schemas.microsoft.com/office/drawing/2014/main" id="{E9C2DABA-7CC3-4A9E-B7B6-4FBA127E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当前可核验脱敏数据集｜不代表集团真实经营规模</a:t>
            </a:r>
          </a:p>
        </p:txBody>
      </p:sp>
      <p:sp>
        <p:nvSpPr>
          <p:cNvPr id="1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ABB831C-15B8-4E31-8433-4D3DA9F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7a68c3c9647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8ca858e2a4f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9AAC41C6-DB5E-4326-8D61-D3A82E02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40C3A79D-1B81-4003-A8EA-FB169AD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能看某张表，不等于能对某个对象采取行动</a:t>
            </a:r>
          </a:p>
        </p:txBody>
      </p:sp>
      <p:sp>
        <p:nvSpPr>
          <p:cNvPr id="5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CE7A7013-2214-486B-A8A5-AD5FECCB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B54FC80B-740B-45BF-8B07-B289FCB6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B95B793D-AF2D-4A0B-A62B-77213D8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715B5738-4614-45BF-B270-F525100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A7B9D6D5-3D11-4492-8322-2C3DC7AA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90E9D709-72F2-4601-B801-DCD0C511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系统级或表级权限无法完整表达业务边界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查看资源、查看对象、查看属性和发起行动是不同资格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权限不足不能被混同为数据不存在或版本失效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93F84EBB-759C-4433-9531-CF586276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生产蓝图区分资源、对象、属性和 Action 四个权限平面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权限结果与数据质量、版本状态并列呈现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一期仅有单演示账号，权限能力尚未生产化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548D0611-FA6D-44DC-B96C-0DC47595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4E79CC30-CA64-4E40-9120-54F6548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682CA105-5AAF-46F2-A774-8CCB859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D5C2190F-B37E-46F3-842A-7D66E090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6">
            <a:extLst xmlns:a="http://schemas.openxmlformats.org/drawingml/2006/main">
              <a:ext uri="{FF2B5EF4-FFF2-40B4-BE49-F238E27FC236}">
                <a16:creationId xmlns:a16="http://schemas.microsoft.com/office/drawing/2014/main" id="{FDDBD470-AF86-41C1-BF6E-C94EE468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生产蓝图｜一期不声称已具备生产权限治理</a:t>
            </a:r>
          </a:p>
        </p:txBody>
      </p:sp>
      <p:sp>
        <p:nvSpPr>
          <p:cNvPr id="1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BB6F23D-B0DA-4BBC-ADC7-FE204BA7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052d8b6d0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1ee3f16c84a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EB5107CD-1A81-4A2E-A8E2-0C01EBD5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AE45FDB2-75FB-4A3A-9588-1978C527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回答流畅，不等于结果可以复核</a:t>
            </a:r>
          </a:p>
        </p:txBody>
      </p:sp>
      <p:sp>
        <p:nvSpPr>
          <p:cNvPr id="5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FC3C8E56-82B5-433C-99DB-5F2F1C1D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2C7F44F9-CCFC-4C5F-BB0E-312E6706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37039A6D-A282-4D3B-8C37-3AD3C2B7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743A08C0-86ED-4A6F-8D59-BA52BE0C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8BB41049-0315-44E3-BA4F-5A7204E9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3D9701F0-0042-40F6-834F-5409650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没有主体范围，无法确认回答针对谁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没有时点、口径和版本，无法复现结果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没有证据定位，结果不能进入正式判断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6B87B5E-104C-4588-B5F5-52CAFEE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每轮固定配置、语义、查询和数据可信度上下文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受控查询先形成结构化结果与证据映射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LLM 只组织文字，不补数、不改口径、不判断 Rule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18E29330-C0AB-448F-8DB4-BFD8947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C92043FE-E65A-47C3-9C14-CB1D0B9C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C5DDD205-FEDA-46DB-BF65-95FA7D5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ED12E833-55D0-4831-90B6-B49D8174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7">
            <a:extLst xmlns:a="http://schemas.openxmlformats.org/drawingml/2006/main">
              <a:ext uri="{FF2B5EF4-FFF2-40B4-BE49-F238E27FC236}">
                <a16:creationId xmlns:a16="http://schemas.microsoft.com/office/drawing/2014/main" id="{8F3D0A65-B0BD-41F7-B4DD-66CE9460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问数结果必须同时带主体、时点、口径、版本与证据</a:t>
            </a:r>
          </a:p>
        </p:txBody>
      </p:sp>
      <p:sp>
        <p:nvSpPr>
          <p:cNvPr id="1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2F9238D7-265C-4143-8720-A83F2260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97890ef2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bc8f9123b4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22CC3EED-67F4-4891-AE0F-D7D2F40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71B508B6-95E4-4660-A086-85BA8855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个人工具提速，不等于组织能力沉淀</a:t>
            </a:r>
          </a:p>
        </p:txBody>
      </p:sp>
      <p:sp>
        <p:nvSpPr>
          <p:cNvPr id="5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86CE7B40-E9E3-4515-BBA9-ECD05344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E6EB30A1-3AA3-404B-B291-F7C88153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9DD702BC-E5FE-4156-A9ED-D467BB0B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3BFF71E4-7B82-46BE-8445-C738A1DC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0B20E04C-1B0A-4769-BCFB-281BF5EF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7238ABB1-E619-4CDD-94C1-DA48070D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Prompt、经验和临时口径留在个人环境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换人或换场景后仍要重新解释、重新校对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结果难追溯，也难稳定复用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265B46F0-310A-49AF-BBF2-8DFED21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版本化 Prompt、Skill、本体绑定和工具白名单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固定 Agent Release、结构化结果和问数视图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将可复用配置、证据和边界沉淀为组织资产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4D0D3EF0-3955-43EC-9F9B-23672B29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1F6CD3F5-F109-4B7A-8A99-48066D1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DF7BD43C-EF3E-4C9C-884A-99B19130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B369306E-CBD9-4BBD-B4E8-B5F9439B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8">
            <a:extLst xmlns:a="http://schemas.openxmlformats.org/drawingml/2006/main">
              <a:ext uri="{FF2B5EF4-FFF2-40B4-BE49-F238E27FC236}">
                <a16:creationId xmlns:a16="http://schemas.microsoft.com/office/drawing/2014/main" id="{294C9D74-0791-4BED-A576-7260562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个人效率通过受控资产转化为组织复用能力</a:t>
            </a:r>
          </a:p>
        </p:txBody>
      </p:sp>
      <p:sp>
        <p:nvSpPr>
          <p:cNvPr id="1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3D06826F-FE74-4919-BBB7-E66DE4C6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f37afe59246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cda88a6554d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9">
            <a:extLst xmlns:a="http://schemas.openxmlformats.org/drawingml/2006/main">
              <a:ext uri="{FF2B5EF4-FFF2-40B4-BE49-F238E27FC236}">
                <a16:creationId xmlns:a16="http://schemas.microsoft.com/office/drawing/2014/main" id="{F58D7261-9852-4E72-BDA6-002248F0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9296369B-5C5F-439B-8D27-AACF8131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看见异常，不等于完成决策</a:t>
            </a:r>
          </a:p>
        </p:txBody>
      </p:sp>
      <p:sp>
        <p:nvSpPr>
          <p:cNvPr id="5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5D6D8BA-EDAF-4D57-AA5A-2768251F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F0E31596-FEDD-47F8-9EF9-D41B0CEC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A3323870-891F-414A-913B-7D92BA4C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8FC5E07B-97DC-41ED-8300-E2623516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9F508C86-6686-43E0-8B84-E8AA18E0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A734BE73-8D0D-4B30-8E46-C5CF543B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看板若直接确认或建待办，会产生第二套运行状态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责任人、确认依据和执行进度无法统一追踪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“看见了”与“已经处理”容易被混为一谈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C9AA895B-AAD0-47AE-9FAF-F4667A2B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看板、问数、Agent 和 Rule 只提交 Action Request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决策中心统一提醒、人工确认、待办与失败恢复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报告中心只读状态，不维护第二套执行事实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5C702AF9-2D83-4154-B23E-54C1D62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C194B909-745C-4099-B5DD-9EFFD8EA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963BADFA-F48C-4848-94F8-7ADB6F6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E0EE280C-B8C3-4930-97D5-129009F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9">
            <a:extLst xmlns:a="http://schemas.openxmlformats.org/drawingml/2006/main">
              <a:ext uri="{FF2B5EF4-FFF2-40B4-BE49-F238E27FC236}">
                <a16:creationId xmlns:a16="http://schemas.microsoft.com/office/drawing/2014/main" id="{58FD3CFA-CD46-4F0F-A662-1131046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Action Request 是进入决策中心的唯一标准运行入口</a:t>
            </a:r>
          </a:p>
        </p:txBody>
      </p:sp>
      <p:sp>
        <p:nvSpPr>
          <p:cNvPr id="17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0D1FF570-8388-4EA6-BD59-D78AB6B9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603347713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35c9a4e1b40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0">
            <a:extLst xmlns:a="http://schemas.openxmlformats.org/drawingml/2006/main">
              <a:ext uri="{FF2B5EF4-FFF2-40B4-BE49-F238E27FC236}">
                <a16:creationId xmlns:a16="http://schemas.microsoft.com/office/drawing/2014/main" id="{DDD8F885-26F3-4D4C-AE4B-3A3CE52F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8C444479-49DD-4C73-BA0B-C2266DBF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人才结构调整需要新的工作载体</a:t>
            </a:r>
          </a:p>
        </p:txBody>
      </p:sp>
      <p:sp>
        <p:nvSpPr>
          <p:cNvPr id="5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4C5E4088-AF60-4F0C-95FB-DB071E8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ACD0B17A-BD7B-42EA-8C9A-18610DD8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923D89EB-63C0-4352-A889-21C1E6A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3F337E66-E4BE-47D8-AC04-4369034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F97577F7-DDC9-47DA-B6BF-9F5EE28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63BDCDDA-9115-4D79-B9B4-1EAC8C5A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目标是从金字塔向纺锤形转变，加厚战略财务和业务财务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重复找数、对口径和拼报告挤占判断时间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缺少把分析、证据、决策和行动连起来的方法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92E03702-0CAB-4FD3-99CB-FACD6476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用统一口径和固定证据减少重复核对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让财务人员把时间转向解释、判断与协同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平台提供工作载体，不承诺自然带来人员压降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5A7E100C-354B-4AFA-B08C-1E660245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38EBF4FE-1873-462A-B5E8-BB500C83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958F4FA9-1AF3-4DC5-93A0-35C50B58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0C8CA26C-39B6-4E27-A633-7C8EA293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10">
            <a:extLst xmlns:a="http://schemas.openxmlformats.org/drawingml/2006/main">
              <a:ext uri="{FF2B5EF4-FFF2-40B4-BE49-F238E27FC236}">
                <a16:creationId xmlns:a16="http://schemas.microsoft.com/office/drawing/2014/main" id="{A70A2CCC-F838-40ED-9104-A8DB4238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人才转型目标｜实际组织成效需后续验证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069CD8DC-807F-4807-B8F5-EF2C9D17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6c446393f4c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f45daac264c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1">
            <a:extLst xmlns:a="http://schemas.openxmlformats.org/drawingml/2006/main">
              <a:ext uri="{FF2B5EF4-FFF2-40B4-BE49-F238E27FC236}">
                <a16:creationId xmlns:a16="http://schemas.microsoft.com/office/drawing/2014/main" id="{8428539A-8D38-41A8-A1E9-3B814D7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当前痛点与项目机制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DC60C6BA-69A4-4498-B05C-3A0BA17A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跨场景复用首先需要共同方法</a:t>
            </a:r>
          </a:p>
        </p:txBody>
      </p:sp>
      <p:sp>
        <p:nvSpPr>
          <p:cNvPr id="5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9D0DD5A1-4C3C-4FC2-A3BD-9F7FE026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in-left-surface">
            <a:extLst xmlns:a="http://schemas.openxmlformats.org/drawingml/2006/main">
              <a:ext uri="{FF2B5EF4-FFF2-40B4-BE49-F238E27FC236}">
                <a16:creationId xmlns:a16="http://schemas.microsoft.com/office/drawing/2014/main" id="{7261FE77-3E6C-4920-AF98-872C69A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pain-right-surface">
            <a:extLst xmlns:a="http://schemas.openxmlformats.org/drawingml/2006/main">
              <a:ext uri="{FF2B5EF4-FFF2-40B4-BE49-F238E27FC236}">
                <a16:creationId xmlns:a16="http://schemas.microsoft.com/office/drawing/2014/main" id="{8F331A41-E5EB-4AB3-9E87-39C8AEA5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5295900" cy="3371850"/>
          </a:xfrm>
          <a:prstGeom xmlns:a="http://schemas.openxmlformats.org/drawingml/2006/main" prst="roundRect">
            <a:avLst>
              <a:gd name="adj" fmla="val 84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pain-label">
            <a:extLst xmlns:a="http://schemas.openxmlformats.org/drawingml/2006/main">
              <a:ext uri="{FF2B5EF4-FFF2-40B4-BE49-F238E27FC236}">
                <a16:creationId xmlns:a16="http://schemas.microsoft.com/office/drawing/2014/main" id="{3AAC54ED-90FA-4475-AF4F-C7E9C6F2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当前断点</a:t>
            </a:r>
          </a:p>
        </p:txBody>
      </p:sp>
      <p:sp>
        <p:nvSpPr>
          <p:cNvPr id="9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E7EC51E0-7B30-49F1-94C8-7759785E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项目机制</a:t>
            </a:r>
          </a:p>
        </p:txBody>
      </p:sp>
      <p:sp>
        <p:nvSpPr>
          <p:cNvPr id="10" name="pain-list">
            <a:extLst xmlns:a="http://schemas.openxmlformats.org/drawingml/2006/main">
              <a:ext uri="{FF2B5EF4-FFF2-40B4-BE49-F238E27FC236}">
                <a16:creationId xmlns:a16="http://schemas.microsoft.com/office/drawing/2014/main" id="{9157C5DA-3C7D-4897-9D88-640ADFF7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对象、指标、规则、证据和责任缺少共同建模方式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专家经验换一个场景就要重新解释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未经确认的结论容易被误当成可复用能力</a:t>
            </a:r>
          </a:p>
        </p:txBody>
      </p:sp>
      <p:sp>
        <p:nvSpPr>
          <p:cNvPr id="11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9ED4184B-CD05-44BF-A02C-9B9552C0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667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从决策和行动出发，反推对象、指标、规则和证据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为资源指定 Owner、版本、门禁和跨模块合同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复用机制与方法，不复制未经确认的业务结论</a:t>
            </a:r>
          </a:p>
        </p:txBody>
      </p:sp>
      <p:sp>
        <p:nvSpPr>
          <p:cNvPr id="12" name="pain-direction-label">
            <a:extLst xmlns:a="http://schemas.openxmlformats.org/drawingml/2006/main">
              <a:ext uri="{FF2B5EF4-FFF2-40B4-BE49-F238E27FC236}">
                <a16:creationId xmlns:a16="http://schemas.microsoft.com/office/drawing/2014/main" id="{452A9CF3-6328-4F52-9C3B-8E1E5CBF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B54545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3" name="pain-solution-arrow">
            <a:extLst xmlns:a="http://schemas.openxmlformats.org/drawingml/2006/main">
              <a:ext uri="{FF2B5EF4-FFF2-40B4-BE49-F238E27FC236}">
                <a16:creationId xmlns:a16="http://schemas.microsoft.com/office/drawing/2014/main" id="{9B405495-8B5F-41A0-B127-6E502EA2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4" name="pain-solution-arrow-arrowhead">
            <a:extLst xmlns:a="http://schemas.openxmlformats.org/drawingml/2006/main">
              <a:ext uri="{FF2B5EF4-FFF2-40B4-BE49-F238E27FC236}">
                <a16:creationId xmlns:a16="http://schemas.microsoft.com/office/drawing/2014/main" id="{A2B3D9AA-C037-4C7F-8296-9E38EB9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29350" y="4895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5" name="solution-direction-label">
            <a:extLst xmlns:a="http://schemas.openxmlformats.org/drawingml/2006/main">
              <a:ext uri="{FF2B5EF4-FFF2-40B4-BE49-F238E27FC236}">
                <a16:creationId xmlns:a16="http://schemas.microsoft.com/office/drawing/2014/main" id="{17BC6AA2-D377-416F-87DB-A32C94A4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16" name="footer-note-11">
            <a:extLst xmlns:a="http://schemas.openxmlformats.org/drawingml/2006/main">
              <a:ext uri="{FF2B5EF4-FFF2-40B4-BE49-F238E27FC236}">
                <a16:creationId xmlns:a16="http://schemas.microsoft.com/office/drawing/2014/main" id="{AAD024F4-71C8-40A7-93EB-8CD1BB53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共同方法先于场景复制</a:t>
            </a:r>
          </a:p>
        </p:txBody>
      </p:sp>
      <p:sp>
        <p:nvSpPr>
          <p:cNvPr id="17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683AAE95-D7B4-43E6-8B52-29492D9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33b4a03c44d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5b6800c5c43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2">
            <a:extLst xmlns:a="http://schemas.openxmlformats.org/drawingml/2006/main">
              <a:ext uri="{FF2B5EF4-FFF2-40B4-BE49-F238E27FC236}">
                <a16:creationId xmlns:a16="http://schemas.microsoft.com/office/drawing/2014/main" id="{8636BF9B-B3AA-4FD9-84D2-6005D5EF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本体为什么重要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0DD4DDD1-0875-435B-AB7C-C016FEE7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本体是共同词典、关系地图和行动合同</a:t>
            </a:r>
          </a:p>
        </p:txBody>
      </p:sp>
      <p:sp>
        <p:nvSpPr>
          <p:cNvPr id="5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1FD00C27-0E8A-46DD-9D07-621B3FE2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ont-edge-1">
            <a:extLst xmlns:a="http://schemas.openxmlformats.org/drawingml/2006/main">
              <a:ext uri="{FF2B5EF4-FFF2-40B4-BE49-F238E27FC236}">
                <a16:creationId xmlns:a16="http://schemas.microsoft.com/office/drawing/2014/main" id="{8BBE0D93-C2D9-4F2D-A7AF-B564C9D6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909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7" name="ont-edge-1-arrowhead">
            <a:extLst xmlns:a="http://schemas.openxmlformats.org/drawingml/2006/main">
              <a:ext uri="{FF2B5EF4-FFF2-40B4-BE49-F238E27FC236}">
                <a16:creationId xmlns:a16="http://schemas.microsoft.com/office/drawing/2014/main" id="{08F8D12B-5416-4264-AE4E-6D1B37E8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623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ont-edge-2">
            <a:extLst xmlns:a="http://schemas.openxmlformats.org/drawingml/2006/main">
              <a:ext uri="{FF2B5EF4-FFF2-40B4-BE49-F238E27FC236}">
                <a16:creationId xmlns:a16="http://schemas.microsoft.com/office/drawing/2014/main" id="{14DBB3CB-5A6F-4397-BA6B-D0F2A099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9" name="ont-edge-2-arrowhead">
            <a:extLst xmlns:a="http://schemas.openxmlformats.org/drawingml/2006/main">
              <a:ext uri="{FF2B5EF4-FFF2-40B4-BE49-F238E27FC236}">
                <a16:creationId xmlns:a16="http://schemas.microsoft.com/office/drawing/2014/main" id="{74CE2885-086A-4FA7-9A0D-92D7AD94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912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ont-edge-3">
            <a:extLst xmlns:a="http://schemas.openxmlformats.org/drawingml/2006/main">
              <a:ext uri="{FF2B5EF4-FFF2-40B4-BE49-F238E27FC236}">
                <a16:creationId xmlns:a16="http://schemas.microsoft.com/office/drawing/2014/main" id="{F7CFF0A7-1F7C-4EFD-9E94-20BA478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0450"/>
            <a:ext cx="681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CE1"/>
            </a:solidFill>
            <a:prstDash val="solid"/>
          </a:ln>
        </p:spPr>
      </p:sp>
      <p:sp>
        <p:nvSpPr>
          <p:cNvPr id="11" name="ont-edge-3-arrowhead">
            <a:extLst xmlns:a="http://schemas.openxmlformats.org/drawingml/2006/main">
              <a:ext uri="{FF2B5EF4-FFF2-40B4-BE49-F238E27FC236}">
                <a16:creationId xmlns:a16="http://schemas.microsoft.com/office/drawing/2014/main" id="{72AE894A-89A9-402A-9AAD-BF9CB10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20150" y="3543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30D79-7B53-4945-AE78-14A30190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拥有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039FB-541C-4672-B6FC-5117DD62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融资于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20545-94BB-43E5-81C9-C1D0F19F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责任归属</a:t>
            </a:r>
          </a:p>
        </p:txBody>
      </p:sp>
      <p:sp>
        <p:nvSpPr>
          <p:cNvPr id="15" name="ont-node-1">
            <a:extLst xmlns:a="http://schemas.openxmlformats.org/drawingml/2006/main">
              <a:ext uri="{FF2B5EF4-FFF2-40B4-BE49-F238E27FC236}">
                <a16:creationId xmlns:a16="http://schemas.microsoft.com/office/drawing/2014/main" id="{87582837-C5ED-4D54-8B73-EE15D7D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6" name="ont-label-1">
            <a:extLst xmlns:a="http://schemas.openxmlformats.org/drawingml/2006/main">
              <a:ext uri="{FF2B5EF4-FFF2-40B4-BE49-F238E27FC236}">
                <a16:creationId xmlns:a16="http://schemas.microsoft.com/office/drawing/2014/main" id="{8F3EA73B-269E-45F3-8CF9-301D9D0A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融资主体</a:t>
            </a:r>
          </a:p>
        </p:txBody>
      </p:sp>
      <p:sp>
        <p:nvSpPr>
          <p:cNvPr id="17" name="ont-sub-1">
            <a:extLst xmlns:a="http://schemas.openxmlformats.org/drawingml/2006/main">
              <a:ext uri="{FF2B5EF4-FFF2-40B4-BE49-F238E27FC236}">
                <a16:creationId xmlns:a16="http://schemas.microsoft.com/office/drawing/2014/main" id="{8459F865-0786-4852-A14C-05CD70D8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18" name="ont-node-2">
            <a:extLst xmlns:a="http://schemas.openxmlformats.org/drawingml/2006/main">
              <a:ext uri="{FF2B5EF4-FFF2-40B4-BE49-F238E27FC236}">
                <a16:creationId xmlns:a16="http://schemas.microsoft.com/office/drawing/2014/main" id="{3E2092DE-322A-4CBC-8FC3-DF4AC0B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19" name="ont-label-2">
            <a:extLst xmlns:a="http://schemas.openxmlformats.org/drawingml/2006/main">
              <a:ext uri="{FF2B5EF4-FFF2-40B4-BE49-F238E27FC236}">
                <a16:creationId xmlns:a16="http://schemas.microsoft.com/office/drawing/2014/main" id="{F0C6799C-F952-4B68-904A-620BCD8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融资明细</a:t>
            </a:r>
          </a:p>
        </p:txBody>
      </p:sp>
      <p:sp>
        <p:nvSpPr>
          <p:cNvPr id="20" name="ont-sub-2">
            <a:extLst xmlns:a="http://schemas.openxmlformats.org/drawingml/2006/main">
              <a:ext uri="{FF2B5EF4-FFF2-40B4-BE49-F238E27FC236}">
                <a16:creationId xmlns:a16="http://schemas.microsoft.com/office/drawing/2014/main" id="{B0C3C4AA-D548-4693-8638-D86954B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EAF5FF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EAF5FF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1" name="ont-node-3">
            <a:extLst xmlns:a="http://schemas.openxmlformats.org/drawingml/2006/main">
              <a:ext uri="{FF2B5EF4-FFF2-40B4-BE49-F238E27FC236}">
                <a16:creationId xmlns:a16="http://schemas.microsoft.com/office/drawing/2014/main" id="{27BFF804-B6F0-431B-A462-9C83C4E0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2" name="ont-label-3">
            <a:extLst xmlns:a="http://schemas.openxmlformats.org/drawingml/2006/main">
              <a:ext uri="{FF2B5EF4-FFF2-40B4-BE49-F238E27FC236}">
                <a16:creationId xmlns:a16="http://schemas.microsoft.com/office/drawing/2014/main" id="{2539E3EE-00FD-44F1-BB9C-3838A64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金融机构</a:t>
            </a:r>
          </a:p>
        </p:txBody>
      </p:sp>
      <p:sp>
        <p:nvSpPr>
          <p:cNvPr id="23" name="ont-sub-3">
            <a:extLst xmlns:a="http://schemas.openxmlformats.org/drawingml/2006/main">
              <a:ext uri="{FF2B5EF4-FFF2-40B4-BE49-F238E27FC236}">
                <a16:creationId xmlns:a16="http://schemas.microsoft.com/office/drawing/2014/main" id="{4CA53063-1357-4C14-B5AB-DC4E8076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4" name="ont-node-4">
            <a:extLst xmlns:a="http://schemas.openxmlformats.org/drawingml/2006/main">
              <a:ext uri="{FF2B5EF4-FFF2-40B4-BE49-F238E27FC236}">
                <a16:creationId xmlns:a16="http://schemas.microsoft.com/office/drawing/2014/main" id="{C51B0DEA-07B7-4257-AFBD-D39735AC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5" name="ont-label-4">
            <a:extLst xmlns:a="http://schemas.openxmlformats.org/drawingml/2006/main">
              <a:ext uri="{FF2B5EF4-FFF2-40B4-BE49-F238E27FC236}">
                <a16:creationId xmlns:a16="http://schemas.microsoft.com/office/drawing/2014/main" id="{387C0801-1326-482E-AE99-82D13CF8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负责人</a:t>
            </a:r>
          </a:p>
        </p:txBody>
      </p:sp>
      <p:sp>
        <p:nvSpPr>
          <p:cNvPr id="26" name="ont-sub-4">
            <a:extLst xmlns:a="http://schemas.openxmlformats.org/drawingml/2006/main">
              <a:ext uri="{FF2B5EF4-FFF2-40B4-BE49-F238E27FC236}">
                <a16:creationId xmlns:a16="http://schemas.microsoft.com/office/drawing/2014/main" id="{F3CCC3D2-0EEA-4BFE-AF96-23D9CD2D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业务对象</a:t>
            </a:r>
          </a:p>
        </p:txBody>
      </p:sp>
      <p:sp>
        <p:nvSpPr>
          <p:cNvPr id="27" name="ont-definition-1">
            <a:extLst xmlns:a="http://schemas.openxmlformats.org/drawingml/2006/main">
              <a:ext uri="{FF2B5EF4-FFF2-40B4-BE49-F238E27FC236}">
                <a16:creationId xmlns:a16="http://schemas.microsoft.com/office/drawing/2014/main" id="{04818288-DEAB-4696-9919-37682FEC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C398F4-34F7-4680-A106-72DF4748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共同词典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215C8E-D6F1-42F9-AA76-93ACB9AD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对象与属性</a:t>
            </a:r>
          </a:p>
        </p:txBody>
      </p:sp>
      <p:sp>
        <p:nvSpPr>
          <p:cNvPr id="30" name="ont-definition-2">
            <a:extLst xmlns:a="http://schemas.openxmlformats.org/drawingml/2006/main">
              <a:ext uri="{FF2B5EF4-FFF2-40B4-BE49-F238E27FC236}">
                <a16:creationId xmlns:a16="http://schemas.microsoft.com/office/drawing/2014/main" id="{AF01DF35-C1F9-4023-9AA2-96D7FFE2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D3039-496F-4106-97A7-26C9C0B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关系地图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4E258B-62FB-4441-A9E8-D60DB906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对象如何关联</a:t>
            </a:r>
          </a:p>
        </p:txBody>
      </p:sp>
      <p:sp>
        <p:nvSpPr>
          <p:cNvPr id="33" name="ont-definition-3">
            <a:extLst xmlns:a="http://schemas.openxmlformats.org/drawingml/2006/main">
              <a:ext uri="{FF2B5EF4-FFF2-40B4-BE49-F238E27FC236}">
                <a16:creationId xmlns:a16="http://schemas.microsoft.com/office/drawing/2014/main" id="{AB41C592-EEF2-49B6-8796-1BE296B4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C71AA-9DFC-40E1-95DD-8D93E37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计算口径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CE2F15-648C-4A7B-91F8-29A82C7E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Metric</a:t>
            </a:r>
          </a:p>
        </p:txBody>
      </p:sp>
      <p:sp>
        <p:nvSpPr>
          <p:cNvPr id="36" name="ont-definition-4">
            <a:extLst xmlns:a="http://schemas.openxmlformats.org/drawingml/2006/main">
              <a:ext uri="{FF2B5EF4-FFF2-40B4-BE49-F238E27FC236}">
                <a16:creationId xmlns:a16="http://schemas.microsoft.com/office/drawing/2014/main" id="{D85EAD13-F58C-47B9-AB4F-EF363E5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952182-EC5C-4E74-8193-BF343B8E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判断规则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1C9D1D-12EC-4AB4-8BFE-FCFA691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Rule</a:t>
            </a:r>
          </a:p>
        </p:txBody>
      </p:sp>
      <p:sp>
        <p:nvSpPr>
          <p:cNvPr id="39" name="ont-definition-5">
            <a:extLst xmlns:a="http://schemas.openxmlformats.org/drawingml/2006/main">
              <a:ext uri="{FF2B5EF4-FFF2-40B4-BE49-F238E27FC236}">
                <a16:creationId xmlns:a16="http://schemas.microsoft.com/office/drawing/2014/main" id="{B8AD4E24-04F5-4003-B1F1-DB2F401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17526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BC8DF0-D5A6-4613-89EA-1D228C80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行动合同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D79C9D-C435-42B3-AE7E-9DF687A3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14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Action Type</a:t>
            </a:r>
          </a:p>
        </p:txBody>
      </p:sp>
      <p:sp>
        <p:nvSpPr>
          <p:cNvPr id="42" name="footer-note-12">
            <a:extLst xmlns:a="http://schemas.openxmlformats.org/drawingml/2006/main">
              <a:ext uri="{FF2B5EF4-FFF2-40B4-BE49-F238E27FC236}">
                <a16:creationId xmlns:a16="http://schemas.microsoft.com/office/drawing/2014/main" id="{1CF53DD1-16DA-4C92-8575-3CF60A02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本体不是再建一张表，也不只是画知识图谱</a:t>
            </a:r>
          </a:p>
        </p:txBody>
      </p:sp>
      <p:sp>
        <p:nvSpPr>
          <p:cNvPr id="43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5D8C4FB4-7E27-4D91-8F24-4AE6E70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1d1b3b4134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3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43e9cdd27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3">
            <a:extLst xmlns:a="http://schemas.openxmlformats.org/drawingml/2006/main">
              <a:ext uri="{FF2B5EF4-FFF2-40B4-BE49-F238E27FC236}">
                <a16:creationId xmlns:a16="http://schemas.microsoft.com/office/drawing/2014/main" id="{F74FE628-00BE-4351-B800-0739874E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本体与传统平台</a:t>
            </a:r>
          </a:p>
        </p:txBody>
      </p:sp>
      <p:sp>
        <p:nvSpPr>
          <p:cNvPr id="4" name="title-13">
            <a:extLst xmlns:a="http://schemas.openxmlformats.org/drawingml/2006/main">
              <a:ext uri="{FF2B5EF4-FFF2-40B4-BE49-F238E27FC236}">
                <a16:creationId xmlns:a16="http://schemas.microsoft.com/office/drawing/2014/main" id="{BBABB952-21E2-4CAE-877F-A920B04D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本体不是替代数据平台，而是在其上补齐业务语义</a:t>
            </a:r>
          </a:p>
        </p:txBody>
      </p:sp>
      <p:sp>
        <p:nvSpPr>
          <p:cNvPr id="5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9CFA43A1-FFB4-4A7E-93B5-8FDB7AE1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compare-edge-1">
            <a:extLst xmlns:a="http://schemas.openxmlformats.org/drawingml/2006/main">
              <a:ext uri="{FF2B5EF4-FFF2-40B4-BE49-F238E27FC236}">
                <a16:creationId xmlns:a16="http://schemas.microsoft.com/office/drawing/2014/main" id="{5AD55537-5E3C-4572-96EA-BD69D686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compare-edge-1-arrowhead">
            <a:extLst xmlns:a="http://schemas.openxmlformats.org/drawingml/2006/main">
              <a:ext uri="{FF2B5EF4-FFF2-40B4-BE49-F238E27FC236}">
                <a16:creationId xmlns:a16="http://schemas.microsoft.com/office/drawing/2014/main" id="{F2E1732F-3012-4D7D-8ED1-79F49D3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4810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compare-edge-2">
            <a:extLst xmlns:a="http://schemas.openxmlformats.org/drawingml/2006/main">
              <a:ext uri="{FF2B5EF4-FFF2-40B4-BE49-F238E27FC236}">
                <a16:creationId xmlns:a16="http://schemas.microsoft.com/office/drawing/2014/main" id="{266FDC23-71A9-40E7-8DD5-CB65F865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33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compare-edge-2-arrowhead">
            <a:extLst xmlns:a="http://schemas.openxmlformats.org/drawingml/2006/main">
              <a:ext uri="{FF2B5EF4-FFF2-40B4-BE49-F238E27FC236}">
                <a16:creationId xmlns:a16="http://schemas.microsoft.com/office/drawing/2014/main" id="{E4EE142F-49E2-4751-A26F-3F1EB3E9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86650" y="3276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compare-col-1">
            <a:extLst xmlns:a="http://schemas.openxmlformats.org/drawingml/2006/main">
              <a:ext uri="{FF2B5EF4-FFF2-40B4-BE49-F238E27FC236}">
                <a16:creationId xmlns:a16="http://schemas.microsoft.com/office/drawing/2014/main" id="{9C207B59-B89E-42D9-929C-E922A61D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1" name="compare-bar-1">
            <a:extLst xmlns:a="http://schemas.openxmlformats.org/drawingml/2006/main">
              <a:ext uri="{FF2B5EF4-FFF2-40B4-BE49-F238E27FC236}">
                <a16:creationId xmlns:a16="http://schemas.microsoft.com/office/drawing/2014/main" id="{FBD1BC8B-63E0-4C47-856C-5DC7E748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A73"/>
          </a:solidFill>
          <a:ln xmlns:a="http://schemas.openxmlformats.org/drawingml/2006/main" w="9525">
            <a:solidFill>
              <a:srgbClr val="5E6A73"/>
            </a:solidFill>
            <a:prstDash val="solid"/>
          </a:ln>
        </p:spPr>
      </p:sp>
      <p:sp>
        <p:nvSpPr>
          <p:cNvPr id="12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BD643AC9-92AD-4E5D-8F3E-8F2284D3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数据平台</a:t>
            </a:r>
          </a:p>
        </p:txBody>
      </p:sp>
      <p:sp>
        <p:nvSpPr>
          <p:cNvPr id="13" name="compare-sub-1">
            <a:extLst xmlns:a="http://schemas.openxmlformats.org/drawingml/2006/main">
              <a:ext uri="{FF2B5EF4-FFF2-40B4-BE49-F238E27FC236}">
                <a16:creationId xmlns:a16="http://schemas.microsoft.com/office/drawing/2014/main" id="{2AC69183-082F-4024-9291-8EB2D088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让数据可用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8A189-6BB8-4426-83A8-3EA78469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5" name="compare-list-1">
            <a:extLst xmlns:a="http://schemas.openxmlformats.org/drawingml/2006/main">
              <a:ext uri="{FF2B5EF4-FFF2-40B4-BE49-F238E27FC236}">
                <a16:creationId xmlns:a16="http://schemas.microsoft.com/office/drawing/2014/main" id="{4B0712FE-80C6-4EFA-BB9E-4628F823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来源与快照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加工与质量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时点与版本</a:t>
            </a:r>
          </a:p>
        </p:txBody>
      </p:sp>
      <p:sp>
        <p:nvSpPr>
          <p:cNvPr id="16" name="compare-col-2">
            <a:extLst xmlns:a="http://schemas.openxmlformats.org/drawingml/2006/main">
              <a:ext uri="{FF2B5EF4-FFF2-40B4-BE49-F238E27FC236}">
                <a16:creationId xmlns:a16="http://schemas.microsoft.com/office/drawing/2014/main" id="{BBE99274-09FF-4BF3-A48F-64667D16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17" name="compare-bar-2">
            <a:extLst xmlns:a="http://schemas.openxmlformats.org/drawingml/2006/main">
              <a:ext uri="{FF2B5EF4-FFF2-40B4-BE49-F238E27FC236}">
                <a16:creationId xmlns:a16="http://schemas.microsoft.com/office/drawing/2014/main" id="{5A88F6BD-41E5-4B9C-9EE5-DF721CDB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18" name="compare-title-2">
            <a:extLst xmlns:a="http://schemas.openxmlformats.org/drawingml/2006/main">
              <a:ext uri="{FF2B5EF4-FFF2-40B4-BE49-F238E27FC236}">
                <a16:creationId xmlns:a16="http://schemas.microsoft.com/office/drawing/2014/main" id="{029C5CE0-0FAB-4517-ACC0-8942E653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本体平台</a:t>
            </a:r>
          </a:p>
        </p:txBody>
      </p:sp>
      <p:sp>
        <p:nvSpPr>
          <p:cNvPr id="19" name="compare-sub-2">
            <a:extLst xmlns:a="http://schemas.openxmlformats.org/drawingml/2006/main">
              <a:ext uri="{FF2B5EF4-FFF2-40B4-BE49-F238E27FC236}">
                <a16:creationId xmlns:a16="http://schemas.microsoft.com/office/drawing/2014/main" id="{4E364BEB-1323-4A19-8CE3-C3489794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让业务可理解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73AB9-4BD3-43ED-9E36-CF67CC01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1" name="compare-list-2">
            <a:extLst xmlns:a="http://schemas.openxmlformats.org/drawingml/2006/main">
              <a:ext uri="{FF2B5EF4-FFF2-40B4-BE49-F238E27FC236}">
                <a16:creationId xmlns:a16="http://schemas.microsoft.com/office/drawing/2014/main" id="{33E81412-2B9E-48C5-AB99-4BBA5A1B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指标与规则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行动定义</a:t>
            </a:r>
          </a:p>
        </p:txBody>
      </p:sp>
      <p:sp>
        <p:nvSpPr>
          <p:cNvPr id="22" name="compare-col-3">
            <a:extLst xmlns:a="http://schemas.openxmlformats.org/drawingml/2006/main">
              <a:ext uri="{FF2B5EF4-FFF2-40B4-BE49-F238E27FC236}">
                <a16:creationId xmlns:a16="http://schemas.microsoft.com/office/drawing/2014/main" id="{FE0B2218-95A3-4B69-8BC8-C926A634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3219450" cy="2990850"/>
          </a:xfrm>
          <a:prstGeom xmlns:a="http://schemas.openxmlformats.org/drawingml/2006/main" prst="roundRect">
            <a:avLst>
              <a:gd name="adj" fmla="val 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3" name="compare-bar-3">
            <a:extLst xmlns:a="http://schemas.openxmlformats.org/drawingml/2006/main">
              <a:ext uri="{FF2B5EF4-FFF2-40B4-BE49-F238E27FC236}">
                <a16:creationId xmlns:a16="http://schemas.microsoft.com/office/drawing/2014/main" id="{44FA20EA-E3BF-4B41-9491-FA9BF88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24" name="compare-title-3">
            <a:extLst xmlns:a="http://schemas.openxmlformats.org/drawingml/2006/main">
              <a:ext uri="{FF2B5EF4-FFF2-40B4-BE49-F238E27FC236}">
                <a16:creationId xmlns:a16="http://schemas.microsoft.com/office/drawing/2014/main" id="{C20E5C0B-FEB2-4C34-A94C-1595EED4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智能消费</a:t>
            </a:r>
          </a:p>
        </p:txBody>
      </p:sp>
      <p:sp>
        <p:nvSpPr>
          <p:cNvPr id="25" name="compare-sub-3">
            <a:extLst xmlns:a="http://schemas.openxmlformats.org/drawingml/2006/main">
              <a:ext uri="{FF2B5EF4-FFF2-40B4-BE49-F238E27FC236}">
                <a16:creationId xmlns:a16="http://schemas.microsoft.com/office/drawing/2014/main" id="{B4A82444-B4BF-4142-AB3F-F293086A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F8F5B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2F8F5B"/>
                </a:solidFill>
                <a:latin typeface="微软雅黑"/>
                <a:ea typeface="微软雅黑"/>
                <a:cs typeface="微软雅黑"/>
              </a:rPr>
              <a:t>让结果可复核、行动可追踪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6C14E-C99E-4004-A471-3A55AFC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7" name="compare-list-3">
            <a:extLst xmlns:a="http://schemas.openxmlformats.org/drawingml/2006/main">
              <a:ext uri="{FF2B5EF4-FFF2-40B4-BE49-F238E27FC236}">
                <a16:creationId xmlns:a16="http://schemas.microsoft.com/office/drawing/2014/main" id="{6BD33D93-142E-476C-B47C-FFF613D5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问数与报告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Agent 解释</a:t>
            </a:r>
          </a:p>
          <a:p xmlns:a="http://schemas.openxmlformats.org/drawingml/2006/main">
            <a:pPr marL="20" indent="-12">
              <a:lnSpc>
                <a:spcPct val="105000"/>
              </a:lnSpc>
              <a:spcAft>
                <a:spcPts val="11"/>
              </a:spcAft>
              <a:buNone/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8" name="footer-note-13">
            <a:extLst xmlns:a="http://schemas.openxmlformats.org/drawingml/2006/main">
              <a:ext uri="{FF2B5EF4-FFF2-40B4-BE49-F238E27FC236}">
                <a16:creationId xmlns:a16="http://schemas.microsoft.com/office/drawing/2014/main" id="{A7303560-EEB6-45B6-A840-A31161B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上下层协作，不相互替代；正式消费只读取兼容的精确版本</a:t>
            </a:r>
          </a:p>
        </p:txBody>
      </p:sp>
      <p:sp>
        <p:nvSpPr>
          <p:cNvPr id="29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7D5A7043-4AE9-4EDF-82B0-2606696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63a6157d548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e52741f204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4">
            <a:extLst xmlns:a="http://schemas.openxmlformats.org/drawingml/2006/main">
              <a:ext uri="{FF2B5EF4-FFF2-40B4-BE49-F238E27FC236}">
                <a16:creationId xmlns:a16="http://schemas.microsoft.com/office/drawing/2014/main" id="{C877581E-F638-4335-9790-E7C6B25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应用架构</a:t>
            </a:r>
          </a:p>
        </p:txBody>
      </p:sp>
      <p:sp>
        <p:nvSpPr>
          <p:cNvPr id="4" name="title-14">
            <a:extLst xmlns:a="http://schemas.openxmlformats.org/drawingml/2006/main">
              <a:ext uri="{FF2B5EF4-FFF2-40B4-BE49-F238E27FC236}">
                <a16:creationId xmlns:a16="http://schemas.microsoft.com/office/drawing/2014/main" id="{BFF6A6C6-83B7-42C5-972B-5D4A6EC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六模块分别拥有数据、语义、智能消费和决策职责</a:t>
            </a:r>
          </a:p>
        </p:txBody>
      </p:sp>
      <p:sp>
        <p:nvSpPr>
          <p:cNvPr id="5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F3EF2756-EC50-4BFB-B360-065E97A1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arch-layer-1">
            <a:extLst xmlns:a="http://schemas.openxmlformats.org/drawingml/2006/main">
              <a:ext uri="{FF2B5EF4-FFF2-40B4-BE49-F238E27FC236}">
                <a16:creationId xmlns:a16="http://schemas.microsoft.com/office/drawing/2014/main" id="{0A0038C0-7EF0-48E7-9D7F-3758193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7" name="arch-label-bg-1">
            <a:extLst xmlns:a="http://schemas.openxmlformats.org/drawingml/2006/main">
              <a:ext uri="{FF2B5EF4-FFF2-40B4-BE49-F238E27FC236}">
                <a16:creationId xmlns:a16="http://schemas.microsoft.com/office/drawing/2014/main" id="{E5B4149A-CFBB-4A0D-B305-71D468D5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8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D61C4B1B-0D91-43D6-A5DB-97A8C3E2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消费与呈现</a:t>
            </a:r>
          </a:p>
        </p:txBody>
      </p:sp>
      <p:sp>
        <p:nvSpPr>
          <p:cNvPr id="9" name="arch-mod-1-1">
            <a:extLst xmlns:a="http://schemas.openxmlformats.org/drawingml/2006/main">
              <a:ext uri="{FF2B5EF4-FFF2-40B4-BE49-F238E27FC236}">
                <a16:creationId xmlns:a16="http://schemas.microsoft.com/office/drawing/2014/main" id="{BBBB46E2-D343-4749-B591-59BBC195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智能问数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8BC27-2D18-47DF-A7EF-F06FA7C8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1" name="arch-mod-1-2">
            <a:extLst xmlns:a="http://schemas.openxmlformats.org/drawingml/2006/main">
              <a:ext uri="{FF2B5EF4-FFF2-40B4-BE49-F238E27FC236}">
                <a16:creationId xmlns:a16="http://schemas.microsoft.com/office/drawing/2014/main" id="{20FF6917-CBBA-4E77-872C-B13A8D3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Agent 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E6101-F7FE-4361-8AA3-0D50952B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3" name="arch-mod-1-3">
            <a:extLst xmlns:a="http://schemas.openxmlformats.org/drawingml/2006/main">
              <a:ext uri="{FF2B5EF4-FFF2-40B4-BE49-F238E27FC236}">
                <a16:creationId xmlns:a16="http://schemas.microsoft.com/office/drawing/2014/main" id="{DCC1F51B-3A0D-4F37-B65A-A3A3D663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报告中心</a:t>
            </a:r>
          </a:p>
        </p:txBody>
      </p:sp>
      <p:sp>
        <p:nvSpPr>
          <p:cNvPr id="14" name="arch-layer-2">
            <a:extLst xmlns:a="http://schemas.openxmlformats.org/drawingml/2006/main">
              <a:ext uri="{FF2B5EF4-FFF2-40B4-BE49-F238E27FC236}">
                <a16:creationId xmlns:a16="http://schemas.microsoft.com/office/drawing/2014/main" id="{6B8C35DC-C814-4489-929E-5D13999D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5" name="arch-label-bg-2">
            <a:extLst xmlns:a="http://schemas.openxmlformats.org/drawingml/2006/main">
              <a:ext uri="{FF2B5EF4-FFF2-40B4-BE49-F238E27FC236}">
                <a16:creationId xmlns:a16="http://schemas.microsoft.com/office/drawing/2014/main" id="{91183B9C-8BD9-4D3A-B655-ECABA07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6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87795223-8D31-4D20-82D2-9C03D58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决策与行动</a:t>
            </a:r>
          </a:p>
        </p:txBody>
      </p:sp>
      <p:sp>
        <p:nvSpPr>
          <p:cNvPr id="17" name="arch-mod-2-1">
            <a:extLst xmlns:a="http://schemas.openxmlformats.org/drawingml/2006/main">
              <a:ext uri="{FF2B5EF4-FFF2-40B4-BE49-F238E27FC236}">
                <a16:creationId xmlns:a16="http://schemas.microsoft.com/office/drawing/2014/main" id="{CE357E71-E0EB-4D8C-8BFD-8AF7D75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28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决策中心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0D694-809F-47C4-AC4A-9D62AC2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9" name="arch-mod-2-2">
            <a:extLst xmlns:a="http://schemas.openxmlformats.org/drawingml/2006/main">
              <a:ext uri="{FF2B5EF4-FFF2-40B4-BE49-F238E27FC236}">
                <a16:creationId xmlns:a16="http://schemas.microsoft.com/office/drawing/2014/main" id="{D3773DDA-1D9A-4C8A-ACC0-36D3931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AFE7B-CA13-46F1-85C4-705206F4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1" name="arch-mod-2-3">
            <a:extLst xmlns:a="http://schemas.openxmlformats.org/drawingml/2006/main">
              <a:ext uri="{FF2B5EF4-FFF2-40B4-BE49-F238E27FC236}">
                <a16:creationId xmlns:a16="http://schemas.microsoft.com/office/drawing/2014/main" id="{011BCC72-EAE3-4136-ADE3-812920D0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人工确认 / 待办</a:t>
            </a:r>
          </a:p>
        </p:txBody>
      </p:sp>
      <p:sp>
        <p:nvSpPr>
          <p:cNvPr id="22" name="arch-layer-3">
            <a:extLst xmlns:a="http://schemas.openxmlformats.org/drawingml/2006/main">
              <a:ext uri="{FF2B5EF4-FFF2-40B4-BE49-F238E27FC236}">
                <a16:creationId xmlns:a16="http://schemas.microsoft.com/office/drawing/2014/main" id="{53921567-E1D4-4D4E-89B1-BD6DCBD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3" name="arch-label-bg-3">
            <a:extLst xmlns:a="http://schemas.openxmlformats.org/drawingml/2006/main">
              <a:ext uri="{FF2B5EF4-FFF2-40B4-BE49-F238E27FC236}">
                <a16:creationId xmlns:a16="http://schemas.microsoft.com/office/drawing/2014/main" id="{3FF57949-D5C7-4D0B-9CB4-7B0CFB03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4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7C458662-2544-4033-9ADA-2FA96A0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业务语义</a:t>
            </a:r>
          </a:p>
        </p:txBody>
      </p:sp>
      <p:sp>
        <p:nvSpPr>
          <p:cNvPr id="25" name="arch-mod-3-1">
            <a:extLst xmlns:a="http://schemas.openxmlformats.org/drawingml/2006/main">
              <a:ext uri="{FF2B5EF4-FFF2-40B4-BE49-F238E27FC236}">
                <a16:creationId xmlns:a16="http://schemas.microsoft.com/office/drawing/2014/main" id="{07653E3B-B988-4F24-A2BC-1071969A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67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本体管理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8B4DA-DA8B-43F5-8039-87CF2E11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862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7" name="arch-mod-3-2">
            <a:extLst xmlns:a="http://schemas.openxmlformats.org/drawingml/2006/main">
              <a:ext uri="{FF2B5EF4-FFF2-40B4-BE49-F238E27FC236}">
                <a16:creationId xmlns:a16="http://schemas.microsoft.com/office/drawing/2014/main" id="{5B9E3B4E-1F75-4C17-9869-5A958B1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67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Object / 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BE30A-8687-4187-AB9E-B99E6F31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9" name="arch-mod-3-3">
            <a:extLst xmlns:a="http://schemas.openxmlformats.org/drawingml/2006/main">
              <a:ext uri="{FF2B5EF4-FFF2-40B4-BE49-F238E27FC236}">
                <a16:creationId xmlns:a16="http://schemas.microsoft.com/office/drawing/2014/main" id="{3DF6A56E-4BE7-4327-A349-8064393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67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Metric / Rule / Action Type</a:t>
            </a:r>
          </a:p>
        </p:txBody>
      </p:sp>
      <p:sp>
        <p:nvSpPr>
          <p:cNvPr id="30" name="arch-layer-4">
            <a:extLst xmlns:a="http://schemas.openxmlformats.org/drawingml/2006/main">
              <a:ext uri="{FF2B5EF4-FFF2-40B4-BE49-F238E27FC236}">
                <a16:creationId xmlns:a16="http://schemas.microsoft.com/office/drawing/2014/main" id="{E5171C67-021B-407E-BC54-819FFBFF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1" name="arch-label-bg-4">
            <a:extLst xmlns:a="http://schemas.openxmlformats.org/drawingml/2006/main">
              <a:ext uri="{FF2B5EF4-FFF2-40B4-BE49-F238E27FC236}">
                <a16:creationId xmlns:a16="http://schemas.microsoft.com/office/drawing/2014/main" id="{7CF4A798-6391-4BB5-BEB0-964B66F2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6002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2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98D0F491-CB80-4DF3-994B-A4BD4FE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数据基础</a:t>
            </a:r>
          </a:p>
        </p:txBody>
      </p:sp>
      <p:sp>
        <p:nvSpPr>
          <p:cNvPr id="33" name="arch-mod-4-1">
            <a:extLst xmlns:a="http://schemas.openxmlformats.org/drawingml/2006/main">
              <a:ext uri="{FF2B5EF4-FFF2-40B4-BE49-F238E27FC236}">
                <a16:creationId xmlns:a16="http://schemas.microsoft.com/office/drawing/2014/main" id="{7522F928-B8D4-4887-A9A1-54FC6DBA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数据工程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966440-3420-4D29-865C-9738AECA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244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arch-mod-4-2">
            <a:extLst xmlns:a="http://schemas.openxmlformats.org/drawingml/2006/main">
              <a:ext uri="{FF2B5EF4-FFF2-40B4-BE49-F238E27FC236}">
                <a16:creationId xmlns:a16="http://schemas.microsoft.com/office/drawing/2014/main" id="{39190C3F-AFAF-4519-873B-F0585643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05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T007 / T008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66894B-8415-4FB8-8DFA-D0E643E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244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7" name="arch-mod-4-3">
            <a:extLst xmlns:a="http://schemas.openxmlformats.org/drawingml/2006/main">
              <a:ext uri="{FF2B5EF4-FFF2-40B4-BE49-F238E27FC236}">
                <a16:creationId xmlns:a16="http://schemas.microsoft.com/office/drawing/2014/main" id="{235FCC81-39A3-4D22-9E44-DBDF87C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05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来源 / 质量 / 版本</a:t>
            </a:r>
          </a:p>
        </p:txBody>
      </p:sp>
      <p:sp>
        <p:nvSpPr>
          <p:cNvPr id="38" name="footer-note-14">
            <a:extLst xmlns:a="http://schemas.openxmlformats.org/drawingml/2006/main">
              <a:ext uri="{FF2B5EF4-FFF2-40B4-BE49-F238E27FC236}">
                <a16:creationId xmlns:a16="http://schemas.microsoft.com/office/drawing/2014/main" id="{B1997CC1-0C0A-441C-B6E6-0314E95B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数据版本、语义版本、报告版本和运行状态分别拥有 Owner，不合并成“一个版本”</a:t>
            </a:r>
          </a:p>
        </p:txBody>
      </p:sp>
      <p:sp>
        <p:nvSpPr>
          <p:cNvPr id="39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D21EC8A1-D99D-4E42-B303-A71CF407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1b5cd026c4a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7bcd2277747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5">
            <a:extLst xmlns:a="http://schemas.openxmlformats.org/drawingml/2006/main">
              <a:ext uri="{FF2B5EF4-FFF2-40B4-BE49-F238E27FC236}">
                <a16:creationId xmlns:a16="http://schemas.microsoft.com/office/drawing/2014/main" id="{26D56B5A-8626-4722-91C5-0953EF5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数据消费路径</a:t>
            </a:r>
          </a:p>
        </p:txBody>
      </p:sp>
      <p:sp>
        <p:nvSpPr>
          <p:cNvPr id="4" name="title-15">
            <a:extLst xmlns:a="http://schemas.openxmlformats.org/drawingml/2006/main">
              <a:ext uri="{FF2B5EF4-FFF2-40B4-BE49-F238E27FC236}">
                <a16:creationId xmlns:a16="http://schemas.microsoft.com/office/drawing/2014/main" id="{516CED79-FB8A-45CE-BE0D-72B930F8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数据资产经权威语义绑定后，才能进入正式消费</a:t>
            </a:r>
          </a:p>
        </p:txBody>
      </p:sp>
      <p:sp>
        <p:nvSpPr>
          <p:cNvPr id="5" name="title-rule-15">
            <a:extLst xmlns:a="http://schemas.openxmlformats.org/drawingml/2006/main">
              <a:ext uri="{FF2B5EF4-FFF2-40B4-BE49-F238E27FC236}">
                <a16:creationId xmlns:a16="http://schemas.microsoft.com/office/drawing/2014/main" id="{9E8BC1EF-1CAF-4D13-A10D-67B0E1B8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path-edge-1">
            <a:extLst xmlns:a="http://schemas.openxmlformats.org/drawingml/2006/main">
              <a:ext uri="{FF2B5EF4-FFF2-40B4-BE49-F238E27FC236}">
                <a16:creationId xmlns:a16="http://schemas.microsoft.com/office/drawing/2014/main" id="{0149DCC0-B936-4AC5-B374-FECA0636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path-edge-1-arrowhead">
            <a:extLst xmlns:a="http://schemas.openxmlformats.org/drawingml/2006/main">
              <a:ext uri="{FF2B5EF4-FFF2-40B4-BE49-F238E27FC236}">
                <a16:creationId xmlns:a16="http://schemas.microsoft.com/office/drawing/2014/main" id="{05A54083-2FD5-4D66-A0FD-5CD6B828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145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path-edge-2">
            <a:extLst xmlns:a="http://schemas.openxmlformats.org/drawingml/2006/main">
              <a:ext uri="{FF2B5EF4-FFF2-40B4-BE49-F238E27FC236}">
                <a16:creationId xmlns:a16="http://schemas.microsoft.com/office/drawing/2014/main" id="{D69C8E33-4C96-4C28-ACB6-958FAC7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path-edge-2-arrowhead">
            <a:extLst xmlns:a="http://schemas.openxmlformats.org/drawingml/2006/main">
              <a:ext uri="{FF2B5EF4-FFF2-40B4-BE49-F238E27FC236}">
                <a16:creationId xmlns:a16="http://schemas.microsoft.com/office/drawing/2014/main" id="{FFA4CCF2-04A4-4459-9538-6AD5806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814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path-edge-3">
            <a:extLst xmlns:a="http://schemas.openxmlformats.org/drawingml/2006/main">
              <a:ext uri="{FF2B5EF4-FFF2-40B4-BE49-F238E27FC236}">
                <a16:creationId xmlns:a16="http://schemas.microsoft.com/office/drawing/2014/main" id="{BB9C8FBC-9C96-40EE-A9F8-85287946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path-edge-3-arrowhead">
            <a:extLst xmlns:a="http://schemas.openxmlformats.org/drawingml/2006/main">
              <a:ext uri="{FF2B5EF4-FFF2-40B4-BE49-F238E27FC236}">
                <a16:creationId xmlns:a16="http://schemas.microsoft.com/office/drawing/2014/main" id="{13695EDC-2FBC-4EC1-BD17-BA144D41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483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path-edge-4">
            <a:extLst xmlns:a="http://schemas.openxmlformats.org/drawingml/2006/main">
              <a:ext uri="{FF2B5EF4-FFF2-40B4-BE49-F238E27FC236}">
                <a16:creationId xmlns:a16="http://schemas.microsoft.com/office/drawing/2014/main" id="{AE70ED1A-E04F-48E4-84F4-D03C2689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path-edge-4-arrowhead">
            <a:extLst xmlns:a="http://schemas.openxmlformats.org/drawingml/2006/main">
              <a:ext uri="{FF2B5EF4-FFF2-40B4-BE49-F238E27FC236}">
                <a16:creationId xmlns:a16="http://schemas.microsoft.com/office/drawing/2014/main" id="{7196F435-2224-4809-ABBC-DDE51FD7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path-edge-5">
            <a:extLst xmlns:a="http://schemas.openxmlformats.org/drawingml/2006/main">
              <a:ext uri="{FF2B5EF4-FFF2-40B4-BE49-F238E27FC236}">
                <a16:creationId xmlns:a16="http://schemas.microsoft.com/office/drawing/2014/main" id="{D8C99E8B-A15C-4280-BFF3-C7528111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29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path-edge-5-arrowhead">
            <a:extLst xmlns:a="http://schemas.openxmlformats.org/drawingml/2006/main">
              <a:ext uri="{FF2B5EF4-FFF2-40B4-BE49-F238E27FC236}">
                <a16:creationId xmlns:a16="http://schemas.microsoft.com/office/drawing/2014/main" id="{F2519F4F-1926-4512-9745-7D2148A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8215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path-node-1">
            <a:extLst xmlns:a="http://schemas.openxmlformats.org/drawingml/2006/main">
              <a:ext uri="{FF2B5EF4-FFF2-40B4-BE49-F238E27FC236}">
                <a16:creationId xmlns:a16="http://schemas.microsoft.com/office/drawing/2014/main" id="{59DE2076-2B67-4360-9289-1912A095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path-index-1">
            <a:extLst xmlns:a="http://schemas.openxmlformats.org/drawingml/2006/main">
              <a:ext uri="{FF2B5EF4-FFF2-40B4-BE49-F238E27FC236}">
                <a16:creationId xmlns:a16="http://schemas.microsoft.com/office/drawing/2014/main" id="{1B98502D-7952-4111-B52F-2F630C5D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path-label-1">
            <a:extLst xmlns:a="http://schemas.openxmlformats.org/drawingml/2006/main">
              <a:ext uri="{FF2B5EF4-FFF2-40B4-BE49-F238E27FC236}">
                <a16:creationId xmlns:a16="http://schemas.microsoft.com/office/drawing/2014/main" id="{7CFCB026-C477-482A-B17F-1B2EA811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来源 / 快照</a:t>
            </a:r>
          </a:p>
        </p:txBody>
      </p:sp>
      <p:sp>
        <p:nvSpPr>
          <p:cNvPr id="19" name="path-sub-1">
            <a:extLst xmlns:a="http://schemas.openxmlformats.org/drawingml/2006/main">
              <a:ext uri="{FF2B5EF4-FFF2-40B4-BE49-F238E27FC236}">
                <a16:creationId xmlns:a16="http://schemas.microsoft.com/office/drawing/2014/main" id="{24AD9B44-E169-499B-8CC3-BC6C7393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T001 / T002</a:t>
            </a:r>
          </a:p>
        </p:txBody>
      </p:sp>
      <p:sp>
        <p:nvSpPr>
          <p:cNvPr id="20" name="path-node-2">
            <a:extLst xmlns:a="http://schemas.openxmlformats.org/drawingml/2006/main">
              <a:ext uri="{FF2B5EF4-FFF2-40B4-BE49-F238E27FC236}">
                <a16:creationId xmlns:a16="http://schemas.microsoft.com/office/drawing/2014/main" id="{E3272E19-DC81-4BA6-B7F8-99EE74C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1" name="path-index-2">
            <a:extLst xmlns:a="http://schemas.openxmlformats.org/drawingml/2006/main">
              <a:ext uri="{FF2B5EF4-FFF2-40B4-BE49-F238E27FC236}">
                <a16:creationId xmlns:a16="http://schemas.microsoft.com/office/drawing/2014/main" id="{2B7A9AA0-5487-4197-A005-9EA8AB80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path-label-2">
            <a:extLst xmlns:a="http://schemas.openxmlformats.org/drawingml/2006/main">
              <a:ext uri="{FF2B5EF4-FFF2-40B4-BE49-F238E27FC236}">
                <a16:creationId xmlns:a16="http://schemas.microsoft.com/office/drawing/2014/main" id="{D13E1D2C-ED9B-4E86-8A17-EB2A341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数据资产</a:t>
            </a:r>
          </a:p>
        </p:txBody>
      </p:sp>
      <p:sp>
        <p:nvSpPr>
          <p:cNvPr id="23" name="path-sub-2">
            <a:extLst xmlns:a="http://schemas.openxmlformats.org/drawingml/2006/main">
              <a:ext uri="{FF2B5EF4-FFF2-40B4-BE49-F238E27FC236}">
                <a16:creationId xmlns:a16="http://schemas.microsoft.com/office/drawing/2014/main" id="{06403A52-7924-4FA4-9148-8913FAAA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T007 / T008</a:t>
            </a:r>
          </a:p>
        </p:txBody>
      </p:sp>
      <p:sp>
        <p:nvSpPr>
          <p:cNvPr id="24" name="path-node-3">
            <a:extLst xmlns:a="http://schemas.openxmlformats.org/drawingml/2006/main">
              <a:ext uri="{FF2B5EF4-FFF2-40B4-BE49-F238E27FC236}">
                <a16:creationId xmlns:a16="http://schemas.microsoft.com/office/drawing/2014/main" id="{8687F54B-B59A-4295-9263-2DD2D799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5" name="path-index-3">
            <a:extLst xmlns:a="http://schemas.openxmlformats.org/drawingml/2006/main">
              <a:ext uri="{FF2B5EF4-FFF2-40B4-BE49-F238E27FC236}">
                <a16:creationId xmlns:a16="http://schemas.microsoft.com/office/drawing/2014/main" id="{6084951B-76A7-49AA-8E4C-AAC6382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6" name="path-label-3">
            <a:extLst xmlns:a="http://schemas.openxmlformats.org/drawingml/2006/main">
              <a:ext uri="{FF2B5EF4-FFF2-40B4-BE49-F238E27FC236}">
                <a16:creationId xmlns:a16="http://schemas.microsoft.com/office/drawing/2014/main" id="{3693D279-339A-426B-9747-8D28F54D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语义发布</a:t>
            </a:r>
          </a:p>
        </p:txBody>
      </p:sp>
      <p:sp>
        <p:nvSpPr>
          <p:cNvPr id="27" name="path-sub-3">
            <a:extLst xmlns:a="http://schemas.openxmlformats.org/drawingml/2006/main">
              <a:ext uri="{FF2B5EF4-FFF2-40B4-BE49-F238E27FC236}">
                <a16:creationId xmlns:a16="http://schemas.microsoft.com/office/drawing/2014/main" id="{158E7A36-CFB7-488B-8A16-8E474A34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C028 / C029</a:t>
            </a:r>
          </a:p>
        </p:txBody>
      </p:sp>
      <p:sp>
        <p:nvSpPr>
          <p:cNvPr id="28" name="path-node-4">
            <a:extLst xmlns:a="http://schemas.openxmlformats.org/drawingml/2006/main">
              <a:ext uri="{FF2B5EF4-FFF2-40B4-BE49-F238E27FC236}">
                <a16:creationId xmlns:a16="http://schemas.microsoft.com/office/drawing/2014/main" id="{CE7FA2D0-E577-48B3-A087-C7A8FB1D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9" name="path-index-4">
            <a:extLst xmlns:a="http://schemas.openxmlformats.org/drawingml/2006/main">
              <a:ext uri="{FF2B5EF4-FFF2-40B4-BE49-F238E27FC236}">
                <a16:creationId xmlns:a16="http://schemas.microsoft.com/office/drawing/2014/main" id="{FE5819C8-973F-4EB0-9038-AC0A0A30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0" name="path-label-4">
            <a:extLst xmlns:a="http://schemas.openxmlformats.org/drawingml/2006/main">
              <a:ext uri="{FF2B5EF4-FFF2-40B4-BE49-F238E27FC236}">
                <a16:creationId xmlns:a16="http://schemas.microsoft.com/office/drawing/2014/main" id="{B9DF17BD-1015-40DA-8C76-5979C37C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权威绑定</a:t>
            </a:r>
          </a:p>
        </p:txBody>
      </p:sp>
      <p:sp>
        <p:nvSpPr>
          <p:cNvPr id="31" name="path-sub-4">
            <a:extLst xmlns:a="http://schemas.openxmlformats.org/drawingml/2006/main">
              <a:ext uri="{FF2B5EF4-FFF2-40B4-BE49-F238E27FC236}">
                <a16:creationId xmlns:a16="http://schemas.microsoft.com/office/drawing/2014/main" id="{77F1301E-7187-4E0B-B871-3A3BD971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T018 / T019</a:t>
            </a:r>
          </a:p>
        </p:txBody>
      </p:sp>
      <p:sp>
        <p:nvSpPr>
          <p:cNvPr id="32" name="path-node-5">
            <a:extLst xmlns:a="http://schemas.openxmlformats.org/drawingml/2006/main">
              <a:ext uri="{FF2B5EF4-FFF2-40B4-BE49-F238E27FC236}">
                <a16:creationId xmlns:a16="http://schemas.microsoft.com/office/drawing/2014/main" id="{FE1D2A61-0E7E-495A-8A13-01004C15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3" name="path-index-5">
            <a:extLst xmlns:a="http://schemas.openxmlformats.org/drawingml/2006/main">
              <a:ext uri="{FF2B5EF4-FFF2-40B4-BE49-F238E27FC236}">
                <a16:creationId xmlns:a16="http://schemas.microsoft.com/office/drawing/2014/main" id="{0418F861-CA08-4B42-B84C-5867BA1C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4" name="path-label-5">
            <a:extLst xmlns:a="http://schemas.openxmlformats.org/drawingml/2006/main">
              <a:ext uri="{FF2B5EF4-FFF2-40B4-BE49-F238E27FC236}">
                <a16:creationId xmlns:a16="http://schemas.microsoft.com/office/drawing/2014/main" id="{CB15A132-62D3-4AD0-8C32-3CF2B131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问数 / 报告 / Agent</a:t>
            </a:r>
          </a:p>
        </p:txBody>
      </p:sp>
      <p:sp>
        <p:nvSpPr>
          <p:cNvPr id="35" name="path-sub-5">
            <a:extLst xmlns:a="http://schemas.openxmlformats.org/drawingml/2006/main">
              <a:ext uri="{FF2B5EF4-FFF2-40B4-BE49-F238E27FC236}">
                <a16:creationId xmlns:a16="http://schemas.microsoft.com/office/drawing/2014/main" id="{C42EDA1D-4D89-429B-974A-3563FFC1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固定结果与证据</a:t>
            </a:r>
          </a:p>
        </p:txBody>
      </p:sp>
      <p:sp>
        <p:nvSpPr>
          <p:cNvPr id="36" name="path-node-6">
            <a:extLst xmlns:a="http://schemas.openxmlformats.org/drawingml/2006/main">
              <a:ext uri="{FF2B5EF4-FFF2-40B4-BE49-F238E27FC236}">
                <a16:creationId xmlns:a16="http://schemas.microsoft.com/office/drawing/2014/main" id="{2B927010-6922-413C-AB44-1A72B09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1562100" cy="14097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7" name="path-index-6">
            <a:extLst xmlns:a="http://schemas.openxmlformats.org/drawingml/2006/main">
              <a:ext uri="{FF2B5EF4-FFF2-40B4-BE49-F238E27FC236}">
                <a16:creationId xmlns:a16="http://schemas.microsoft.com/office/drawing/2014/main" id="{0B60E4A7-33E2-4592-8EDD-B75C4313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8" name="path-label-6">
            <a:extLst xmlns:a="http://schemas.openxmlformats.org/drawingml/2006/main">
              <a:ext uri="{FF2B5EF4-FFF2-40B4-BE49-F238E27FC236}">
                <a16:creationId xmlns:a16="http://schemas.microsoft.com/office/drawing/2014/main" id="{01E62011-6E51-4960-BC81-852406F3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决策与行动</a:t>
            </a:r>
          </a:p>
        </p:txBody>
      </p:sp>
      <p:sp>
        <p:nvSpPr>
          <p:cNvPr id="39" name="path-sub-6">
            <a:extLst xmlns:a="http://schemas.openxmlformats.org/drawingml/2006/main">
              <a:ext uri="{FF2B5EF4-FFF2-40B4-BE49-F238E27FC236}">
                <a16:creationId xmlns:a16="http://schemas.microsoft.com/office/drawing/2014/main" id="{560CD3EB-CDF9-49E6-81B9-7A59BE7D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76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9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C011 → 人工确认</a:t>
            </a:r>
          </a:p>
        </p:txBody>
      </p:sp>
      <p:sp>
        <p:nvSpPr>
          <p:cNvPr id="40" name="path-gate-top">
            <a:extLst xmlns:a="http://schemas.openxmlformats.org/drawingml/2006/main">
              <a:ext uri="{FF2B5EF4-FFF2-40B4-BE49-F238E27FC236}">
                <a16:creationId xmlns:a16="http://schemas.microsoft.com/office/drawing/2014/main" id="{AA4A536C-5645-4E87-A6D7-4077A089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72D2"/>
            </a:solidFill>
            <a:prstDash val="dash"/>
          </a:ln>
        </p:spPr>
      </p:sp>
      <p:sp>
        <p:nvSpPr>
          <p:cNvPr id="41" name="path-gate-box">
            <a:extLst xmlns:a="http://schemas.openxmlformats.org/drawingml/2006/main">
              <a:ext uri="{FF2B5EF4-FFF2-40B4-BE49-F238E27FC236}">
                <a16:creationId xmlns:a16="http://schemas.microsoft.com/office/drawing/2014/main" id="{5B508EDD-CD78-471A-9B32-A39CBC48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6667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42" name="path-gate-label">
            <a:extLst xmlns:a="http://schemas.openxmlformats.org/drawingml/2006/main">
              <a:ext uri="{FF2B5EF4-FFF2-40B4-BE49-F238E27FC236}">
                <a16:creationId xmlns:a16="http://schemas.microsoft.com/office/drawing/2014/main" id="{46B200C3-6DA6-45DD-8D28-94F96515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719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权威门</a:t>
            </a:r>
          </a:p>
        </p:txBody>
      </p:sp>
      <p:sp>
        <p:nvSpPr>
          <p:cNvPr id="43" name="path-gate-bottom">
            <a:extLst xmlns:a="http://schemas.openxmlformats.org/drawingml/2006/main">
              <a:ext uri="{FF2B5EF4-FFF2-40B4-BE49-F238E27FC236}">
                <a16:creationId xmlns:a16="http://schemas.microsoft.com/office/drawing/2014/main" id="{66E03256-F865-4FDA-947E-BD9323C0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91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72D2"/>
            </a:solidFill>
            <a:prstDash val="dash"/>
          </a:ln>
        </p:spPr>
      </p:sp>
      <p:sp>
        <p:nvSpPr>
          <p:cNvPr id="44" name="path-summary">
            <a:extLst xmlns:a="http://schemas.openxmlformats.org/drawingml/2006/main">
              <a:ext uri="{FF2B5EF4-FFF2-40B4-BE49-F238E27FC236}">
                <a16:creationId xmlns:a16="http://schemas.microsoft.com/office/drawing/2014/main" id="{B1D2EEA1-8CE3-4980-8D3B-83FDD57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消费者不自行选择“最新文件”或重算指标；正式消费依据 T019 指向的精确兼容组合。</a:t>
            </a:r>
          </a:p>
        </p:txBody>
      </p:sp>
      <p:sp>
        <p:nvSpPr>
          <p:cNvPr id="45" name="footer-note-15">
            <a:extLst xmlns:a="http://schemas.openxmlformats.org/drawingml/2006/main">
              <a:ext uri="{FF2B5EF4-FFF2-40B4-BE49-F238E27FC236}">
                <a16:creationId xmlns:a16="http://schemas.microsoft.com/office/drawing/2014/main" id="{69263114-990D-4FF4-891F-B0C40BE4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权威路径：数据版本 → 语义版本 → 固定结果与证据 → 人工确认后的行动</a:t>
            </a:r>
          </a:p>
        </p:txBody>
      </p:sp>
      <p:sp>
        <p:nvSpPr>
          <p:cNvPr id="4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654DF123-68BD-405C-9F0A-36449E57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6c1d4937e4f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1bc5306044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6">
            <a:extLst xmlns:a="http://schemas.openxmlformats.org/drawingml/2006/main">
              <a:ext uri="{FF2B5EF4-FFF2-40B4-BE49-F238E27FC236}">
                <a16:creationId xmlns:a16="http://schemas.microsoft.com/office/drawing/2014/main" id="{91128D1D-7C03-4A78-8251-E127E5CA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数据工程</a:t>
            </a:r>
          </a:p>
        </p:txBody>
      </p:sp>
      <p:sp>
        <p:nvSpPr>
          <p:cNvPr id="4" name="title-16">
            <a:extLst xmlns:a="http://schemas.openxmlformats.org/drawingml/2006/main">
              <a:ext uri="{FF2B5EF4-FFF2-40B4-BE49-F238E27FC236}">
                <a16:creationId xmlns:a16="http://schemas.microsoft.com/office/drawing/2014/main" id="{A7E93F78-DC99-41A0-B745-DFEFB91B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数据工程把变化的来源变成可发布的数据资产版本</a:t>
            </a:r>
          </a:p>
        </p:txBody>
      </p:sp>
      <p:sp>
        <p:nvSpPr>
          <p:cNvPr id="5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5F168618-54B6-4C61-AC6E-78807346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482AD706-1414-45CB-A9A5-C6653191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470934F4-2B43-4455-B356-B549CDA2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5A64A125-8CE9-4EC6-A9B5-B698CEAB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55D7040C-F047-487C-B750-8B780D4F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E5C87656-B6AC-4C94-AEF1-553F11B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08400D04-0715-4926-81D6-60827D02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CEF9AF14-A033-4494-AF4A-548D90C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A4C87F0E-29B1-4CCB-BC7D-82C817AB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088CAF82-8FC0-42AA-BDB2-90739F65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1EC1C4F3-5DCE-424A-BED7-02F5B157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202C9505-97FD-44F8-BF76-DFE9F880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9FB16542-3EF7-42D8-8E85-A350C421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F289DDDC-E60A-4182-9FF5-ACD034E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来源登记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598D4715-CD3F-4CE7-A0E6-6275DD6F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F49338C8-48CA-49D1-91FF-C5F8E28C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17C87932-C46E-4682-BE70-0F1BF256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原始快照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0C1ACECA-0C0C-4965-BA54-FE7C4611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3620F435-9FC5-4A4A-ABE7-101528E4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F43EF345-FD76-4F05-A6F8-1AF1225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受控处理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9CA4AA2D-9FFA-40AD-BE10-F218E1C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B88C6A7F-C60A-47D7-9A0E-B20DD72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A042969B-D573-4737-B07D-4034A483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质量门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5940A309-85F6-4A0F-8A5C-0B67733E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DB799CED-58EE-49B0-93A1-75C17302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FF7CF34D-56D0-444C-AFBA-03516871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T007 数据资产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06C7EB10-DEFC-4898-A232-AC7AE407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2C3059F5-9862-4E50-A924-A6596E4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BDA28D8D-2C4E-4583-B479-8C2741DB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刷新请求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B7B409F2-52A2-4BB2-9E23-AFFCA31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FC06EF1E-9942-4350-A8FA-6BA86AC9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CCEEB5A5-E53F-4488-AD93-5C090222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负责来源、处理、质量、时点与数据资产版本；不定义业务指标。</a:t>
            </a:r>
          </a:p>
        </p:txBody>
      </p:sp>
      <p:sp>
        <p:nvSpPr>
          <p:cNvPr id="37" name="footer-note-16">
            <a:extLst xmlns:a="http://schemas.openxmlformats.org/drawingml/2006/main">
              <a:ext uri="{FF2B5EF4-FFF2-40B4-BE49-F238E27FC236}">
                <a16:creationId xmlns:a16="http://schemas.microsoft.com/office/drawing/2014/main" id="{201548FF-11CF-47FE-8E82-601A8784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数据工程｜模块拥有自己的资源与状态边界</a:t>
            </a:r>
          </a:p>
        </p:txBody>
      </p:sp>
      <p:sp>
        <p:nvSpPr>
          <p:cNvPr id="38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09681D8D-9519-4E9A-9E7E-686449F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0760b139641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49bff879b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7">
            <a:extLst xmlns:a="http://schemas.openxmlformats.org/drawingml/2006/main">
              <a:ext uri="{FF2B5EF4-FFF2-40B4-BE49-F238E27FC236}">
                <a16:creationId xmlns:a16="http://schemas.microsoft.com/office/drawing/2014/main" id="{F839420D-0832-4059-B63B-B8DFC1A4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本体管理</a:t>
            </a:r>
          </a:p>
        </p:txBody>
      </p:sp>
      <p:sp>
        <p:nvSpPr>
          <p:cNvPr id="4" name="title-17">
            <a:extLst xmlns:a="http://schemas.openxmlformats.org/drawingml/2006/main">
              <a:ext uri="{FF2B5EF4-FFF2-40B4-BE49-F238E27FC236}">
                <a16:creationId xmlns:a16="http://schemas.microsoft.com/office/drawing/2014/main" id="{A25ADD5B-320E-494F-BE46-D311CCB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本体管理发布对象、关系、指标、规则和行动定义</a:t>
            </a:r>
          </a:p>
        </p:txBody>
      </p:sp>
      <p:sp>
        <p:nvSpPr>
          <p:cNvPr id="5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1E0C5B4F-2A20-4242-B092-542CD3F3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6A259B7E-B533-4683-9D8C-18B393F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1D35DC89-F528-4A1A-8658-3CAACC5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DA46F6F3-2659-4699-B9F1-7D57C82F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EE831886-F85D-47BD-B06B-A71C71C5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F635B2F1-37BD-4F6E-A9FA-6B8E260A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136D6059-7F9D-44A0-B40D-E4E99D6C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3F0C1CD4-1EF8-4046-87F0-4C407AA6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265AEDAA-4BF0-43A2-8AE9-CBD9C28C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799B2DC6-1722-4489-90F2-779756A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CC485A21-FBD6-4C48-97AA-5470158E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5B278DB2-903E-4739-82B9-A58906F8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F16BF761-39FD-4CE5-830A-E6B1254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41D37FED-29F8-4F8E-B230-A7BA503B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业务问题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62E712AA-CD53-452E-9373-9FD3421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0547BADF-6127-4784-998B-36D27AE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A3375EAB-25D6-439C-9293-BC531133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A8BA8587-7442-4258-9C10-25234AA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FCA58877-4F74-4322-B39C-B46FF6C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8915AAB1-018E-4617-8D34-4C2386D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Metric / Rule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6EBC52CB-72BF-4E32-AF40-A776E696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15FD44EA-C4E8-42C4-885B-4035DDF4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B52FC85A-AC82-4597-85D0-E3198CBE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Action Type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EFA1FF33-2BC3-4D8E-B2A8-861C24DA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9768DD68-FCC1-4344-B3BE-D735932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0F5E6F16-4EA1-42D9-9F20-5AD7961E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映射与校验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9EA76B59-7057-4FD3-925A-402242EE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A01AE881-BFAC-48E7-86E8-799920C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2F2A3A4F-94BD-4D40-B7AD-CA1D1DA5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Published / T019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8C325FBB-F2C7-4A9B-9369-8C187498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A40EB891-F081-47B5-AEE7-C442CDA7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9CAABE75-1771-47CD-A264-B2895516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把共同语言、计算口径、规则和可请求行动发布为受控语义资源。</a:t>
            </a:r>
          </a:p>
        </p:txBody>
      </p:sp>
      <p:sp>
        <p:nvSpPr>
          <p:cNvPr id="37" name="footer-note-17">
            <a:extLst xmlns:a="http://schemas.openxmlformats.org/drawingml/2006/main">
              <a:ext uri="{FF2B5EF4-FFF2-40B4-BE49-F238E27FC236}">
                <a16:creationId xmlns:a16="http://schemas.microsoft.com/office/drawing/2014/main" id="{5029762C-214F-4701-A837-280D6FA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本体管理｜模块拥有自己的资源与状态边界</a:t>
            </a:r>
          </a:p>
        </p:txBody>
      </p:sp>
      <p:sp>
        <p:nvSpPr>
          <p:cNvPr id="38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8B59BFFD-FB9A-463B-AAFC-646E08D6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bca98b9dc4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dca5862ad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8">
            <a:extLst xmlns:a="http://schemas.openxmlformats.org/drawingml/2006/main">
              <a:ext uri="{FF2B5EF4-FFF2-40B4-BE49-F238E27FC236}">
                <a16:creationId xmlns:a16="http://schemas.microsoft.com/office/drawing/2014/main" id="{FA0EC283-7D6E-4236-A08A-E95E7403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智能问数</a:t>
            </a:r>
          </a:p>
        </p:txBody>
      </p:sp>
      <p:sp>
        <p:nvSpPr>
          <p:cNvPr id="4" name="title-18">
            <a:extLst xmlns:a="http://schemas.openxmlformats.org/drawingml/2006/main">
              <a:ext uri="{FF2B5EF4-FFF2-40B4-BE49-F238E27FC236}">
                <a16:creationId xmlns:a16="http://schemas.microsoft.com/office/drawing/2014/main" id="{B88B9C17-BB92-4ED7-8957-DD4892E4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智能问数先固定上下文和结果，再由 LLM 解释</a:t>
            </a:r>
          </a:p>
        </p:txBody>
      </p:sp>
      <p:sp>
        <p:nvSpPr>
          <p:cNvPr id="5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0113147E-8F1A-4234-9191-83E4FB6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1F7EE29E-C253-4DFD-A7A6-F533474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057552DF-6CBE-4EC8-9705-F4F1EB17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AA0C8B2E-88E2-47CE-93C3-94D387B2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BC3309A1-A75C-40B3-9F7C-DFC6F2D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1015CDF5-C4D7-4781-927A-4EFF4141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20CE9782-EC4D-4C07-A3CE-2363A62E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37582DBF-8981-4E1B-B35A-BC0E12E9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40C67F2F-791F-4183-AB54-2E6EDDA5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86C0EC2C-6F8E-4483-AC0A-0ED3F9E3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1C9A6E31-DF2B-4875-85B4-283C13A9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CE5D0B30-5C9C-4E76-9DF9-2253A917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38A8A2D6-5CFE-4663-B18F-A124FCA1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ACED7A08-9BF5-4D10-A795-56F5DA0A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用户问题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72DB9466-E08E-48F0-840D-CE723B8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E20583EA-5A76-45D8-A67F-13B22A5C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F9880BAA-5B83-4C9A-B2A1-451F693B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消歧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3E0E9922-D9E5-4ED5-9FC8-646F603F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F1780F6C-462F-4AE9-836C-A6A783AC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8FD78CCE-4F2E-429A-B876-0B5BB8F7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上下文门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7B8CA838-4BBE-421F-9DDE-55F9A672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7DA3BF8D-846B-49F4-87EC-F21D912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3A7DE278-4F3B-450E-BD14-4004C43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受控查询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318F1EF9-9DD8-4AA8-8501-AE00A7D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97C2686C-7585-4C20-B273-CBC560E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4B85966C-4185-4355-A31D-55D4E71E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结果与证据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B6654582-8FE0-48B6-99BB-83738F3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6233F3FE-7764-4033-B2BD-B6609CEC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89161D19-9E04-4546-A0CB-784D625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解释 / 请求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F1E001A5-173A-4C50-9B89-7CBF35D7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427DDE0C-7534-421B-8DD8-3A0B97F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942765F2-D735-46F9-9D73-E273CA5F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LLM 不补数、不改单位、不计算 Metric、不判断 Rule。</a:t>
            </a:r>
          </a:p>
        </p:txBody>
      </p:sp>
      <p:sp>
        <p:nvSpPr>
          <p:cNvPr id="37" name="footer-note-18">
            <a:extLst xmlns:a="http://schemas.openxmlformats.org/drawingml/2006/main">
              <a:ext uri="{FF2B5EF4-FFF2-40B4-BE49-F238E27FC236}">
                <a16:creationId xmlns:a16="http://schemas.microsoft.com/office/drawing/2014/main" id="{514EB169-E92F-40C8-8DA2-456282E8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智能问数｜模块拥有自己的资源与状态边界</a:t>
            </a:r>
          </a:p>
        </p:txBody>
      </p:sp>
      <p:sp>
        <p:nvSpPr>
          <p:cNvPr id="38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15555037-5B08-4B88-A0A0-242CF1B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783e5700f4b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c59b29684e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19">
            <a:extLst xmlns:a="http://schemas.openxmlformats.org/drawingml/2006/main">
              <a:ext uri="{FF2B5EF4-FFF2-40B4-BE49-F238E27FC236}">
                <a16:creationId xmlns:a16="http://schemas.microsoft.com/office/drawing/2014/main" id="{74C92F1B-D6D2-474E-A31C-21B08CD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Agent 应用</a:t>
            </a:r>
          </a:p>
        </p:txBody>
      </p:sp>
      <p:sp>
        <p:nvSpPr>
          <p:cNvPr id="4" name="title-19">
            <a:extLst xmlns:a="http://schemas.openxmlformats.org/drawingml/2006/main">
              <a:ext uri="{FF2B5EF4-FFF2-40B4-BE49-F238E27FC236}">
                <a16:creationId xmlns:a16="http://schemas.microsoft.com/office/drawing/2014/main" id="{95C8AB98-422C-4FD8-9B4C-96111364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Agent 应用只在固定证据包上生成结构化内容</a:t>
            </a:r>
          </a:p>
        </p:txBody>
      </p:sp>
      <p:sp>
        <p:nvSpPr>
          <p:cNvPr id="5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E32CBAC4-2A03-434C-A427-5667AAFA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943D6951-F5E3-40D4-93EF-9BACCB81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3B742684-7B53-4C29-995F-069FBE49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BC3734A1-9A7C-46C0-A750-F1342D6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1C3A9F21-4154-40BE-802D-1C18179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5DC9718C-C7B7-4FB0-9324-A901300D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354C62B1-8592-4744-86F0-F804CAA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87FEE1DA-5F36-4B15-B11A-F900E229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D7139EA5-2DB3-432B-9B11-8C011E83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FBC79C6C-F459-45C0-A7E5-1B24A949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7754BF35-BCBE-4335-83E4-3F9845BF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5E258E18-F1D2-43D3-A331-FF402A81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F13001DB-237D-4CF9-9EE5-9F3914C9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AD15F56B-A7E6-43C3-8C91-04F4569C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固定证据包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02B9F2DC-33D8-4F78-A5D3-63AA9C66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0DF7AAFE-0A96-484B-BB24-DA0F6CA1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D927654B-5F61-425D-871F-CC33F0FD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Agent Release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1336E43B-2BEB-42B8-B9F9-8668172B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A213FEDC-EA62-4C32-AB6E-F5A23CFB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5781D882-10D6-444A-82F2-BFB2313B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受控运行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8C0EA622-9D9A-46DA-B90F-89DCFA62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7306816E-9BCA-4888-978D-FB366E54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A58EA6A8-46DB-4E4A-8885-91094BE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结构化洞察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55EEB5EE-BF70-49C7-AA55-735FEA0E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9D4AA28C-4409-481D-B3A3-CA8CC02B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C0A5AD7C-6F18-422D-B246-3AC7A826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3BE91650-DECC-4ADD-BC14-7F980369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13256744-E1EB-4D59-84A8-6DEFBCC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206D1CFE-41DF-4EB4-9B8F-0B643B95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移交模块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79800C1A-4D2D-441C-9D05-7D7FC052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6E0290E4-9CE4-426F-B812-B083AAB4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5B433BA6-ABA7-4862-B7FF-F7B16951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Agent 不选择权威版本，不改写业务口径，不直接维护决策运行状态。</a:t>
            </a:r>
          </a:p>
        </p:txBody>
      </p:sp>
      <p:sp>
        <p:nvSpPr>
          <p:cNvPr id="37" name="footer-note-19">
            <a:extLst xmlns:a="http://schemas.openxmlformats.org/drawingml/2006/main">
              <a:ext uri="{FF2B5EF4-FFF2-40B4-BE49-F238E27FC236}">
                <a16:creationId xmlns:a16="http://schemas.microsoft.com/office/drawing/2014/main" id="{7A15BB7B-659D-4AB1-9802-D46776B6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Agent 应用｜模块拥有自己的资源与状态边界</a:t>
            </a:r>
          </a:p>
        </p:txBody>
      </p:sp>
      <p:sp>
        <p:nvSpPr>
          <p:cNvPr id="38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62958371-EBD8-462F-99E0-4BAB6B2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94a42d07446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e44897e264c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0">
            <a:extLst xmlns:a="http://schemas.openxmlformats.org/drawingml/2006/main">
              <a:ext uri="{FF2B5EF4-FFF2-40B4-BE49-F238E27FC236}">
                <a16:creationId xmlns:a16="http://schemas.microsoft.com/office/drawing/2014/main" id="{E26CB27F-F8C5-435D-A72C-B80FCE1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报告中心</a:t>
            </a:r>
          </a:p>
        </p:txBody>
      </p:sp>
      <p:sp>
        <p:nvSpPr>
          <p:cNvPr id="4" name="title-20">
            <a:extLst xmlns:a="http://schemas.openxmlformats.org/drawingml/2006/main">
              <a:ext uri="{FF2B5EF4-FFF2-40B4-BE49-F238E27FC236}">
                <a16:creationId xmlns:a16="http://schemas.microsoft.com/office/drawing/2014/main" id="{C99D9976-DF7A-49F8-8B35-B0D47521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报告中心把固定证据变成可复核的正式产物</a:t>
            </a:r>
          </a:p>
        </p:txBody>
      </p:sp>
      <p:sp>
        <p:nvSpPr>
          <p:cNvPr id="5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80F07369-815B-4B56-9707-B340288F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1D2C54A5-89AC-4744-A936-12EB9871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5D2F413F-3728-4B05-B8B8-80FAC53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7F595DAF-DBDE-4A76-8C96-0A2C24DA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E4B8B017-AD4D-4B34-BA0C-6C78407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6FAC9291-58E1-4066-AF79-D4171E2C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5EFC4C41-B02A-466D-BC47-ADDDE10B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710040E2-8979-46FD-B638-B40B3A7D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186A5EAD-D986-493E-9F8C-45C24BDC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37EE6713-F0B8-4666-92A2-328D9531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D64AA25C-0C9C-4C04-806E-448F98D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6E1064F6-D247-4F8C-8349-964723D7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20085F39-9412-41AC-8C21-F238D54F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3F6EB87C-AB17-40A7-B166-26EBBDBB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报告定义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67D0E3E5-02CE-4FCF-A5E5-869BB20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8E27A9C5-C8A8-40D8-B978-52BFA9B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09CFBDD3-00C8-44CF-82AF-45DA9C5D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固定证据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C48E4953-82A5-4D8A-92B6-7CCB3D1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41EE77FF-D4B8-4F61-B7A2-A2CFB4A6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89129C2D-63F4-48C5-BE77-1639B92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Agent 草稿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7075689B-C0D4-4EA5-97AF-9A6E66E5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870C1C35-974D-4338-B297-1505212F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513BDCE7-F2E5-493D-A884-D4C5ED74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确定性核验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8AD15CBE-8D0B-4E94-8CE8-4865B1EE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5E599110-F900-4306-A1A6-36E3FB2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8D15AC27-EF28-4772-B7E7-3A814912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D09186AC-F827-4F8D-8D4B-54BF4579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22CF11C3-519A-4995-BC29-A0334BC1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FDC9F18E-68C0-4EF5-ACEE-B0101977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HTML / PDF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9D12E643-3ED3-4479-ACE5-A8D1B500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E24E8B30-62F7-4ACA-B9D1-BBFE8E84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D0351F33-5966-49C5-BFA3-78BA2B6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驾驶舱用于当前视野，正式报告固定证据和版本；两者不混用。</a:t>
            </a:r>
          </a:p>
        </p:txBody>
      </p:sp>
      <p:sp>
        <p:nvSpPr>
          <p:cNvPr id="37" name="footer-note-20">
            <a:extLst xmlns:a="http://schemas.openxmlformats.org/drawingml/2006/main">
              <a:ext uri="{FF2B5EF4-FFF2-40B4-BE49-F238E27FC236}">
                <a16:creationId xmlns:a16="http://schemas.microsoft.com/office/drawing/2014/main" id="{601AB3DE-4C1F-44D1-B1F3-10FA0BE3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报告中心｜模块拥有自己的资源与状态边界</a:t>
            </a:r>
          </a:p>
        </p:txBody>
      </p:sp>
      <p:sp>
        <p:nvSpPr>
          <p:cNvPr id="38" name="footer-page-20">
            <a:extLst xmlns:a="http://schemas.openxmlformats.org/drawingml/2006/main">
              <a:ext uri="{FF2B5EF4-FFF2-40B4-BE49-F238E27FC236}">
                <a16:creationId xmlns:a16="http://schemas.microsoft.com/office/drawing/2014/main" id="{56462F4A-FE21-4072-AB00-3433DC30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d9d42ab4a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5917d7feb4a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1">
            <a:extLst xmlns:a="http://schemas.openxmlformats.org/drawingml/2006/main">
              <a:ext uri="{FF2B5EF4-FFF2-40B4-BE49-F238E27FC236}">
                <a16:creationId xmlns:a16="http://schemas.microsoft.com/office/drawing/2014/main" id="{5C566062-A85A-4C12-9FBF-3CE9AA2E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决策中心</a:t>
            </a:r>
          </a:p>
        </p:txBody>
      </p:sp>
      <p:sp>
        <p:nvSpPr>
          <p:cNvPr id="4" name="title-21">
            <a:extLst xmlns:a="http://schemas.openxmlformats.org/drawingml/2006/main">
              <a:ext uri="{FF2B5EF4-FFF2-40B4-BE49-F238E27FC236}">
                <a16:creationId xmlns:a16="http://schemas.microsoft.com/office/drawing/2014/main" id="{FDCD5D3F-5280-466A-9B8A-F2A07819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决策中心以 Action Request 为唯一标准入口</a:t>
            </a:r>
          </a:p>
        </p:txBody>
      </p:sp>
      <p:sp>
        <p:nvSpPr>
          <p:cNvPr id="5" name="title-rule-21">
            <a:extLst xmlns:a="http://schemas.openxmlformats.org/drawingml/2006/main">
              <a:ext uri="{FF2B5EF4-FFF2-40B4-BE49-F238E27FC236}">
                <a16:creationId xmlns:a16="http://schemas.microsoft.com/office/drawing/2014/main" id="{014EBF66-C210-4342-88DD-251DF4AA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module-edge-1">
            <a:extLst xmlns:a="http://schemas.openxmlformats.org/drawingml/2006/main">
              <a:ext uri="{FF2B5EF4-FFF2-40B4-BE49-F238E27FC236}">
                <a16:creationId xmlns:a16="http://schemas.microsoft.com/office/drawing/2014/main" id="{4052FB8C-7F51-4546-9A51-41F59771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module-edge-1-arrowhead">
            <a:extLst xmlns:a="http://schemas.openxmlformats.org/drawingml/2006/main">
              <a:ext uri="{FF2B5EF4-FFF2-40B4-BE49-F238E27FC236}">
                <a16:creationId xmlns:a16="http://schemas.microsoft.com/office/drawing/2014/main" id="{98666A0F-AC68-4F7D-9D59-E140BE5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717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module-edge-2">
            <a:extLst xmlns:a="http://schemas.openxmlformats.org/drawingml/2006/main">
              <a:ext uri="{FF2B5EF4-FFF2-40B4-BE49-F238E27FC236}">
                <a16:creationId xmlns:a16="http://schemas.microsoft.com/office/drawing/2014/main" id="{91281AEE-80A7-43B0-900C-4069232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module-edge-2-arrowhead">
            <a:extLst xmlns:a="http://schemas.openxmlformats.org/drawingml/2006/main">
              <a:ext uri="{FF2B5EF4-FFF2-40B4-BE49-F238E27FC236}">
                <a16:creationId xmlns:a16="http://schemas.microsoft.com/office/drawing/2014/main" id="{84A7BDB7-097C-423D-8C62-EDE4780E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95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module-edge-3">
            <a:extLst xmlns:a="http://schemas.openxmlformats.org/drawingml/2006/main">
              <a:ext uri="{FF2B5EF4-FFF2-40B4-BE49-F238E27FC236}">
                <a16:creationId xmlns:a16="http://schemas.microsoft.com/office/drawing/2014/main" id="{546E69B8-FA1E-4DC1-BF2B-547F0E0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module-edge-3-arrowhead">
            <a:extLst xmlns:a="http://schemas.openxmlformats.org/drawingml/2006/main">
              <a:ext uri="{FF2B5EF4-FFF2-40B4-BE49-F238E27FC236}">
                <a16:creationId xmlns:a16="http://schemas.microsoft.com/office/drawing/2014/main" id="{42D5FCEF-6FC3-4B56-AF9D-452BE24B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674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module-edge-4">
            <a:extLst xmlns:a="http://schemas.openxmlformats.org/drawingml/2006/main">
              <a:ext uri="{FF2B5EF4-FFF2-40B4-BE49-F238E27FC236}">
                <a16:creationId xmlns:a16="http://schemas.microsoft.com/office/drawing/2014/main" id="{05299CD9-8E66-4F9D-9657-9DA9441D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module-edge-4-arrowhead">
            <a:extLst xmlns:a="http://schemas.openxmlformats.org/drawingml/2006/main">
              <a:ext uri="{FF2B5EF4-FFF2-40B4-BE49-F238E27FC236}">
                <a16:creationId xmlns:a16="http://schemas.microsoft.com/office/drawing/2014/main" id="{73606F22-144C-4E1C-BB58-0B5386F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1525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module-edge-5">
            <a:extLst xmlns:a="http://schemas.openxmlformats.org/drawingml/2006/main">
              <a:ext uri="{FF2B5EF4-FFF2-40B4-BE49-F238E27FC236}">
                <a16:creationId xmlns:a16="http://schemas.microsoft.com/office/drawing/2014/main" id="{0A0A4CB1-ECA6-461F-B4E0-B72084B4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module-edge-5-arrowhead">
            <a:extLst xmlns:a="http://schemas.openxmlformats.org/drawingml/2006/main">
              <a:ext uri="{FF2B5EF4-FFF2-40B4-BE49-F238E27FC236}">
                <a16:creationId xmlns:a16="http://schemas.microsoft.com/office/drawing/2014/main" id="{0EEA4EBD-A4C7-4A86-8E3D-A850E641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module-step-1">
            <a:extLst xmlns:a="http://schemas.openxmlformats.org/drawingml/2006/main">
              <a:ext uri="{FF2B5EF4-FFF2-40B4-BE49-F238E27FC236}">
                <a16:creationId xmlns:a16="http://schemas.microsoft.com/office/drawing/2014/main" id="{C6AECD1F-D267-4BB9-8490-5FB39892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module-index-1">
            <a:extLst xmlns:a="http://schemas.openxmlformats.org/drawingml/2006/main">
              <a:ext uri="{FF2B5EF4-FFF2-40B4-BE49-F238E27FC236}">
                <a16:creationId xmlns:a16="http://schemas.microsoft.com/office/drawing/2014/main" id="{F092DFD5-48CB-470D-AC2D-76A7D7E3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61CBFA6A-3D3D-4349-B049-21D0A05D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四类来源</a:t>
            </a:r>
          </a:p>
        </p:txBody>
      </p:sp>
      <p:sp>
        <p:nvSpPr>
          <p:cNvPr id="19" name="module-step-2">
            <a:extLst xmlns:a="http://schemas.openxmlformats.org/drawingml/2006/main">
              <a:ext uri="{FF2B5EF4-FFF2-40B4-BE49-F238E27FC236}">
                <a16:creationId xmlns:a16="http://schemas.microsoft.com/office/drawing/2014/main" id="{AA919942-386A-4D85-AA08-A32EBFA8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module-index-2">
            <a:extLst xmlns:a="http://schemas.openxmlformats.org/drawingml/2006/main">
              <a:ext uri="{FF2B5EF4-FFF2-40B4-BE49-F238E27FC236}">
                <a16:creationId xmlns:a16="http://schemas.microsoft.com/office/drawing/2014/main" id="{0E990122-48DB-4686-B02E-AA1A3B89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B0A8994B-697C-44A3-8B49-B475E3AB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2" name="module-step-3">
            <a:extLst xmlns:a="http://schemas.openxmlformats.org/drawingml/2006/main">
              <a:ext uri="{FF2B5EF4-FFF2-40B4-BE49-F238E27FC236}">
                <a16:creationId xmlns:a16="http://schemas.microsoft.com/office/drawing/2014/main" id="{B2FA8517-4099-4E11-BAA7-4199C10D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3" name="module-index-3">
            <a:extLst xmlns:a="http://schemas.openxmlformats.org/drawingml/2006/main">
              <a:ext uri="{FF2B5EF4-FFF2-40B4-BE49-F238E27FC236}">
                <a16:creationId xmlns:a16="http://schemas.microsoft.com/office/drawing/2014/main" id="{F534A186-D01C-4216-B67B-74741AD4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B57587A7-2125-4C75-BF4F-FFA2C63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提醒</a:t>
            </a:r>
          </a:p>
        </p:txBody>
      </p:sp>
      <p:sp>
        <p:nvSpPr>
          <p:cNvPr id="25" name="module-step-4">
            <a:extLst xmlns:a="http://schemas.openxmlformats.org/drawingml/2006/main">
              <a:ext uri="{FF2B5EF4-FFF2-40B4-BE49-F238E27FC236}">
                <a16:creationId xmlns:a16="http://schemas.microsoft.com/office/drawing/2014/main" id="{8D0BBDB6-DCF7-407F-A502-B333826C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6" name="module-index-4">
            <a:extLst xmlns:a="http://schemas.openxmlformats.org/drawingml/2006/main">
              <a:ext uri="{FF2B5EF4-FFF2-40B4-BE49-F238E27FC236}">
                <a16:creationId xmlns:a16="http://schemas.microsoft.com/office/drawing/2014/main" id="{C71D91A4-2D67-4D9F-8402-9254B832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5A928A58-E6E7-4392-AD2E-32F6C672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人工确认</a:t>
            </a:r>
          </a:p>
        </p:txBody>
      </p:sp>
      <p:sp>
        <p:nvSpPr>
          <p:cNvPr id="28" name="module-step-5">
            <a:extLst xmlns:a="http://schemas.openxmlformats.org/drawingml/2006/main">
              <a:ext uri="{FF2B5EF4-FFF2-40B4-BE49-F238E27FC236}">
                <a16:creationId xmlns:a16="http://schemas.microsoft.com/office/drawing/2014/main" id="{5BD7DD21-08F9-4C78-8A71-00DE0AF7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9" name="module-index-5">
            <a:extLst xmlns:a="http://schemas.openxmlformats.org/drawingml/2006/main">
              <a:ext uri="{FF2B5EF4-FFF2-40B4-BE49-F238E27FC236}">
                <a16:creationId xmlns:a16="http://schemas.microsoft.com/office/drawing/2014/main" id="{BD6BC666-1B5F-4AC4-9147-A3B13BAC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0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96CD954F-297F-4B85-89D0-4D73385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负责人待办</a:t>
            </a:r>
          </a:p>
        </p:txBody>
      </p:sp>
      <p:sp>
        <p:nvSpPr>
          <p:cNvPr id="31" name="module-step-6">
            <a:extLst xmlns:a="http://schemas.openxmlformats.org/drawingml/2006/main">
              <a:ext uri="{FF2B5EF4-FFF2-40B4-BE49-F238E27FC236}">
                <a16:creationId xmlns:a16="http://schemas.microsoft.com/office/drawing/2014/main" id="{885365F1-D419-4728-843A-9BCF93C4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4668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2" name="module-index-6">
            <a:extLst xmlns:a="http://schemas.openxmlformats.org/drawingml/2006/main">
              <a:ext uri="{FF2B5EF4-FFF2-40B4-BE49-F238E27FC236}">
                <a16:creationId xmlns:a16="http://schemas.microsoft.com/office/drawing/2014/main" id="{4A7B4302-12CF-4CE4-A847-D9FE79F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module-label-6">
            <a:extLst xmlns:a="http://schemas.openxmlformats.org/drawingml/2006/main">
              <a:ext uri="{FF2B5EF4-FFF2-40B4-BE49-F238E27FC236}">
                <a16:creationId xmlns:a16="http://schemas.microsoft.com/office/drawing/2014/main" id="{B6730316-8DFD-4C95-98F8-32C12024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状态与纠正</a:t>
            </a:r>
          </a:p>
        </p:txBody>
      </p:sp>
      <p:sp>
        <p:nvSpPr>
          <p:cNvPr id="34" name="module-boundary">
            <a:extLst xmlns:a="http://schemas.openxmlformats.org/drawingml/2006/main">
              <a:ext uri="{FF2B5EF4-FFF2-40B4-BE49-F238E27FC236}">
                <a16:creationId xmlns:a16="http://schemas.microsoft.com/office/drawing/2014/main" id="{64A2FAC6-9C38-4211-B2D9-922850AC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35" name="module-boundary-bar">
            <a:extLst xmlns:a="http://schemas.openxmlformats.org/drawingml/2006/main">
              <a:ext uri="{FF2B5EF4-FFF2-40B4-BE49-F238E27FC236}">
                <a16:creationId xmlns:a16="http://schemas.microsoft.com/office/drawing/2014/main" id="{CBA67C57-F45C-4629-867D-E7EB0AF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36" name="module-note">
            <a:extLst xmlns:a="http://schemas.openxmlformats.org/drawingml/2006/main">
              <a:ext uri="{FF2B5EF4-FFF2-40B4-BE49-F238E27FC236}">
                <a16:creationId xmlns:a16="http://schemas.microsoft.com/office/drawing/2014/main" id="{08EEC704-57B2-420F-9857-9897269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未经人工确认不得创建负责人待办；确认成功与待办创建成功分开记录。</a:t>
            </a:r>
          </a:p>
        </p:txBody>
      </p:sp>
      <p:sp>
        <p:nvSpPr>
          <p:cNvPr id="37" name="footer-note-21">
            <a:extLst xmlns:a="http://schemas.openxmlformats.org/drawingml/2006/main">
              <a:ext uri="{FF2B5EF4-FFF2-40B4-BE49-F238E27FC236}">
                <a16:creationId xmlns:a16="http://schemas.microsoft.com/office/drawing/2014/main" id="{5CCA722C-B635-4435-9D2E-5105612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决策中心｜模块拥有自己的资源与状态边界</a:t>
            </a:r>
          </a:p>
        </p:txBody>
      </p:sp>
      <p:sp>
        <p:nvSpPr>
          <p:cNvPr id="38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378CB110-3C2A-4E31-B656-FF68425A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d3d33a9e24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3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292bc52a14b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2">
            <a:extLst xmlns:a="http://schemas.openxmlformats.org/drawingml/2006/main">
              <a:ext uri="{FF2B5EF4-FFF2-40B4-BE49-F238E27FC236}">
                <a16:creationId xmlns:a16="http://schemas.microsoft.com/office/drawing/2014/main" id="{371F9A3F-FD24-4810-93EA-2D00D1D5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首个闭环场景</a:t>
            </a:r>
          </a:p>
        </p:txBody>
      </p:sp>
      <p:sp>
        <p:nvSpPr>
          <p:cNvPr id="4" name="title-22">
            <a:extLst xmlns:a="http://schemas.openxmlformats.org/drawingml/2006/main">
              <a:ext uri="{FF2B5EF4-FFF2-40B4-BE49-F238E27FC236}">
                <a16:creationId xmlns:a16="http://schemas.microsoft.com/office/drawing/2014/main" id="{545AA566-45C9-4557-B9BD-977BC2F5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S001 的目标是贯通规则命中、机构归因和负责人待办</a:t>
            </a:r>
          </a:p>
        </p:txBody>
      </p:sp>
      <p:sp>
        <p:nvSpPr>
          <p:cNvPr id="5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25EB95E2-3D8F-4442-8048-151560A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s001-edge-1">
            <a:extLst xmlns:a="http://schemas.openxmlformats.org/drawingml/2006/main">
              <a:ext uri="{FF2B5EF4-FFF2-40B4-BE49-F238E27FC236}">
                <a16:creationId xmlns:a16="http://schemas.microsoft.com/office/drawing/2014/main" id="{D10DB802-00F7-4DBD-A0AB-B11DC45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7" name="s001-edge-1-arrowhead">
            <a:extLst xmlns:a="http://schemas.openxmlformats.org/drawingml/2006/main">
              <a:ext uri="{FF2B5EF4-FFF2-40B4-BE49-F238E27FC236}">
                <a16:creationId xmlns:a16="http://schemas.microsoft.com/office/drawing/2014/main" id="{29844591-DAF6-44E2-8543-B95B5EF6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907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8" name="s001-edge-2">
            <a:extLst xmlns:a="http://schemas.openxmlformats.org/drawingml/2006/main">
              <a:ext uri="{FF2B5EF4-FFF2-40B4-BE49-F238E27FC236}">
                <a16:creationId xmlns:a16="http://schemas.microsoft.com/office/drawing/2014/main" id="{03AF7EA9-2137-431C-A0E8-003668D5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9" name="s001-edge-2-arrowhead">
            <a:extLst xmlns:a="http://schemas.openxmlformats.org/drawingml/2006/main">
              <a:ext uri="{FF2B5EF4-FFF2-40B4-BE49-F238E27FC236}">
                <a16:creationId xmlns:a16="http://schemas.microsoft.com/office/drawing/2014/main" id="{9C39B238-6272-4922-837A-C8AEFEB7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7670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0" name="s001-edge-3">
            <a:extLst xmlns:a="http://schemas.openxmlformats.org/drawingml/2006/main">
              <a:ext uri="{FF2B5EF4-FFF2-40B4-BE49-F238E27FC236}">
                <a16:creationId xmlns:a16="http://schemas.microsoft.com/office/drawing/2014/main" id="{6E75F596-879A-4E74-8AD1-33C916F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1" name="s001-edge-3-arrowhead">
            <a:extLst xmlns:a="http://schemas.openxmlformats.org/drawingml/2006/main">
              <a:ext uri="{FF2B5EF4-FFF2-40B4-BE49-F238E27FC236}">
                <a16:creationId xmlns:a16="http://schemas.microsoft.com/office/drawing/2014/main" id="{19033A5C-0124-48E2-8248-5F513AC3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626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2" name="s001-edge-4">
            <a:extLst xmlns:a="http://schemas.openxmlformats.org/drawingml/2006/main">
              <a:ext uri="{FF2B5EF4-FFF2-40B4-BE49-F238E27FC236}">
                <a16:creationId xmlns:a16="http://schemas.microsoft.com/office/drawing/2014/main" id="{25FE72D0-89FB-42D2-A764-8E3BD25F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3" name="s001-edge-4-arrowhead">
            <a:extLst xmlns:a="http://schemas.openxmlformats.org/drawingml/2006/main">
              <a:ext uri="{FF2B5EF4-FFF2-40B4-BE49-F238E27FC236}">
                <a16:creationId xmlns:a16="http://schemas.microsoft.com/office/drawing/2014/main" id="{259AF136-7FD5-41C7-BCDE-DE7C9DB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4860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4" name="s001-edge-5">
            <a:extLst xmlns:a="http://schemas.openxmlformats.org/drawingml/2006/main">
              <a:ext uri="{FF2B5EF4-FFF2-40B4-BE49-F238E27FC236}">
                <a16:creationId xmlns:a16="http://schemas.microsoft.com/office/drawing/2014/main" id="{16E98E82-3E0F-490A-92C8-2841FF56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CE1"/>
            </a:solidFill>
            <a:prstDash val="solid"/>
          </a:ln>
        </p:spPr>
      </p:sp>
      <p:sp>
        <p:nvSpPr>
          <p:cNvPr id="15" name="s001-edge-5-arrowhead">
            <a:extLst xmlns:a="http://schemas.openxmlformats.org/drawingml/2006/main">
              <a:ext uri="{FF2B5EF4-FFF2-40B4-BE49-F238E27FC236}">
                <a16:creationId xmlns:a16="http://schemas.microsoft.com/office/drawing/2014/main" id="{0773C33E-57B7-463F-B2FB-F1E5C0B4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34550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CE1"/>
          </a:solidFill>
          <a:ln xmlns:a="http://schemas.openxmlformats.org/drawingml/2006/main" w="0">
            <a:solidFill>
              <a:srgbClr val="D7DCE1"/>
            </a:solidFill>
            <a:prstDash val="solid"/>
          </a:ln>
        </p:spPr>
      </p:sp>
      <p:sp>
        <p:nvSpPr>
          <p:cNvPr id="16" name="s001-node-1">
            <a:extLst xmlns:a="http://schemas.openxmlformats.org/drawingml/2006/main">
              <a:ext uri="{FF2B5EF4-FFF2-40B4-BE49-F238E27FC236}">
                <a16:creationId xmlns:a16="http://schemas.microsoft.com/office/drawing/2014/main" id="{F0E28812-C26A-4D4C-8B50-C6A71C95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7" name="s001-label-1">
            <a:extLst xmlns:a="http://schemas.openxmlformats.org/drawingml/2006/main">
              <a:ext uri="{FF2B5EF4-FFF2-40B4-BE49-F238E27FC236}">
                <a16:creationId xmlns:a16="http://schemas.microsoft.com/office/drawing/2014/main" id="{5C1E4B31-96AB-4670-8612-A1DC43E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融资数据</a:t>
            </a:r>
          </a:p>
        </p:txBody>
      </p:sp>
      <p:sp>
        <p:nvSpPr>
          <p:cNvPr id="18" name="s001-node-2">
            <a:extLst xmlns:a="http://schemas.openxmlformats.org/drawingml/2006/main">
              <a:ext uri="{FF2B5EF4-FFF2-40B4-BE49-F238E27FC236}">
                <a16:creationId xmlns:a16="http://schemas.microsoft.com/office/drawing/2014/main" id="{C798BCFB-3307-478B-BCE5-F92965CC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9" name="s001-label-2">
            <a:extLst xmlns:a="http://schemas.openxmlformats.org/drawingml/2006/main">
              <a:ext uri="{FF2B5EF4-FFF2-40B4-BE49-F238E27FC236}">
                <a16:creationId xmlns:a16="http://schemas.microsoft.com/office/drawing/2014/main" id="{3171FD36-2AD9-49CC-A205-E3F9552F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对象与关系</a:t>
            </a:r>
          </a:p>
        </p:txBody>
      </p:sp>
      <p:sp>
        <p:nvSpPr>
          <p:cNvPr id="20" name="s001-node-3">
            <a:extLst xmlns:a="http://schemas.openxmlformats.org/drawingml/2006/main">
              <a:ext uri="{FF2B5EF4-FFF2-40B4-BE49-F238E27FC236}">
                <a16:creationId xmlns:a16="http://schemas.microsoft.com/office/drawing/2014/main" id="{F26547E8-3E09-47B5-A9FE-2D5489D2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1" name="s001-label-3">
            <a:extLst xmlns:a="http://schemas.openxmlformats.org/drawingml/2006/main">
              <a:ext uri="{FF2B5EF4-FFF2-40B4-BE49-F238E27FC236}">
                <a16:creationId xmlns:a16="http://schemas.microsoft.com/office/drawing/2014/main" id="{0FF983E3-734F-489F-9022-A1FB328D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Metric / Rule</a:t>
            </a:r>
          </a:p>
        </p:txBody>
      </p:sp>
      <p:sp>
        <p:nvSpPr>
          <p:cNvPr id="22" name="s001-node-4">
            <a:extLst xmlns:a="http://schemas.openxmlformats.org/drawingml/2006/main">
              <a:ext uri="{FF2B5EF4-FFF2-40B4-BE49-F238E27FC236}">
                <a16:creationId xmlns:a16="http://schemas.microsoft.com/office/drawing/2014/main" id="{41ECFAC3-303E-4447-833D-EAD48E54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3" name="s001-label-4">
            <a:extLst xmlns:a="http://schemas.openxmlformats.org/drawingml/2006/main">
              <a:ext uri="{FF2B5EF4-FFF2-40B4-BE49-F238E27FC236}">
                <a16:creationId xmlns:a16="http://schemas.microsoft.com/office/drawing/2014/main" id="{DD10A96E-9C84-42F3-A7C3-2494D8F4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Action Request</a:t>
            </a:r>
          </a:p>
        </p:txBody>
      </p:sp>
      <p:sp>
        <p:nvSpPr>
          <p:cNvPr id="24" name="s001-node-5">
            <a:extLst xmlns:a="http://schemas.openxmlformats.org/drawingml/2006/main">
              <a:ext uri="{FF2B5EF4-FFF2-40B4-BE49-F238E27FC236}">
                <a16:creationId xmlns:a16="http://schemas.microsoft.com/office/drawing/2014/main" id="{BBE6D5BB-60D5-4353-BF5C-EFA57FD8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5" name="s001-label-5">
            <a:extLst xmlns:a="http://schemas.openxmlformats.org/drawingml/2006/main">
              <a:ext uri="{FF2B5EF4-FFF2-40B4-BE49-F238E27FC236}">
                <a16:creationId xmlns:a16="http://schemas.microsoft.com/office/drawing/2014/main" id="{F585F0FA-31EA-43A9-B5C3-9ACE39CD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人工确认</a:t>
            </a:r>
          </a:p>
        </p:txBody>
      </p:sp>
      <p:sp>
        <p:nvSpPr>
          <p:cNvPr id="26" name="s001-node-6">
            <a:extLst xmlns:a="http://schemas.openxmlformats.org/drawingml/2006/main">
              <a:ext uri="{FF2B5EF4-FFF2-40B4-BE49-F238E27FC236}">
                <a16:creationId xmlns:a16="http://schemas.microsoft.com/office/drawing/2014/main" id="{F82EC199-5D0E-41FC-A96D-3677CD93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142875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27" name="s001-label-6">
            <a:extLst xmlns:a="http://schemas.openxmlformats.org/drawingml/2006/main">
              <a:ext uri="{FF2B5EF4-FFF2-40B4-BE49-F238E27FC236}">
                <a16:creationId xmlns:a16="http://schemas.microsoft.com/office/drawing/2014/main" id="{DB9FF2DA-49C1-4646-804F-74B26074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480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负责人待办</a:t>
            </a:r>
          </a:p>
        </p:txBody>
      </p:sp>
      <p:sp>
        <p:nvSpPr>
          <p:cNvPr id="28" name="s001-target">
            <a:extLst xmlns:a="http://schemas.openxmlformats.org/drawingml/2006/main">
              <a:ext uri="{FF2B5EF4-FFF2-40B4-BE49-F238E27FC236}">
                <a16:creationId xmlns:a16="http://schemas.microsoft.com/office/drawing/2014/main" id="{864033CA-6085-435C-94DE-D82F0D8C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一期目标链路</a:t>
            </a:r>
          </a:p>
        </p:txBody>
      </p:sp>
      <p:sp>
        <p:nvSpPr>
          <p:cNvPr id="29" name="s001-boundary">
            <a:extLst xmlns:a="http://schemas.openxmlformats.org/drawingml/2006/main">
              <a:ext uri="{FF2B5EF4-FFF2-40B4-BE49-F238E27FC236}">
                <a16:creationId xmlns:a16="http://schemas.microsoft.com/office/drawing/2014/main" id="{88D9381D-B151-4DA9-BFCF-8191BBDC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33900"/>
            <a:ext cx="811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真实运行、联调和验收证据仍待补齐；本页不表示链路已经上线或通过验收。</a:t>
            </a:r>
          </a:p>
        </p:txBody>
      </p:sp>
      <p:sp>
        <p:nvSpPr>
          <p:cNvPr id="30" name="footer-note-22">
            <a:extLst xmlns:a="http://schemas.openxmlformats.org/drawingml/2006/main">
              <a:ext uri="{FF2B5EF4-FFF2-40B4-BE49-F238E27FC236}">
                <a16:creationId xmlns:a16="http://schemas.microsoft.com/office/drawing/2014/main" id="{759FAFBE-BCD2-44A4-AD79-B57E516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融资主体、融资明细、金融机构和负责人使用同一组业务定义</a:t>
            </a:r>
          </a:p>
        </p:txBody>
      </p:sp>
      <p:sp>
        <p:nvSpPr>
          <p:cNvPr id="31" name="footer-page-22">
            <a:extLst xmlns:a="http://schemas.openxmlformats.org/drawingml/2006/main">
              <a:ext uri="{FF2B5EF4-FFF2-40B4-BE49-F238E27FC236}">
                <a16:creationId xmlns:a16="http://schemas.microsoft.com/office/drawing/2014/main" id="{5C8DB801-DBAE-4A1B-B93F-B6CBF045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6bba080ca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d7d410adc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3">
            <a:extLst xmlns:a="http://schemas.openxmlformats.org/drawingml/2006/main">
              <a:ext uri="{FF2B5EF4-FFF2-40B4-BE49-F238E27FC236}">
                <a16:creationId xmlns:a16="http://schemas.microsoft.com/office/drawing/2014/main" id="{A2772D69-BC70-4B2C-B724-433A32E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场景扩展</a:t>
            </a:r>
          </a:p>
        </p:txBody>
      </p:sp>
      <p:sp>
        <p:nvSpPr>
          <p:cNvPr id="4" name="title-23">
            <a:extLst xmlns:a="http://schemas.openxmlformats.org/drawingml/2006/main">
              <a:ext uri="{FF2B5EF4-FFF2-40B4-BE49-F238E27FC236}">
                <a16:creationId xmlns:a16="http://schemas.microsoft.com/office/drawing/2014/main" id="{B71EA763-B8AA-4EEF-B468-49F3905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四个场景共用平台合同，但当前建设状态不同</a:t>
            </a:r>
          </a:p>
        </p:txBody>
      </p:sp>
      <p:sp>
        <p:nvSpPr>
          <p:cNvPr id="5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5F5C80E2-42AA-4471-AEA1-2029CAA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scenario-code-1">
            <a:extLst xmlns:a="http://schemas.openxmlformats.org/drawingml/2006/main">
              <a:ext uri="{FF2B5EF4-FFF2-40B4-BE49-F238E27FC236}">
                <a16:creationId xmlns:a16="http://schemas.microsoft.com/office/drawing/2014/main" id="{F66CA6A2-0949-417D-9F23-DC0FCDE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S001</a:t>
            </a:r>
          </a:p>
        </p:txBody>
      </p:sp>
      <p:sp>
        <p:nvSpPr>
          <p:cNvPr id="7" name="scenario-row-1">
            <a:extLst xmlns:a="http://schemas.openxmlformats.org/drawingml/2006/main">
              <a:ext uri="{FF2B5EF4-FFF2-40B4-BE49-F238E27FC236}">
                <a16:creationId xmlns:a16="http://schemas.microsoft.com/office/drawing/2014/main" id="{0F1CACF7-1EFA-4284-8D88-1F96CA9F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8" name="scenario-name-1">
            <a:extLst xmlns:a="http://schemas.openxmlformats.org/drawingml/2006/main">
              <a:ext uri="{FF2B5EF4-FFF2-40B4-BE49-F238E27FC236}">
                <a16:creationId xmlns:a16="http://schemas.microsoft.com/office/drawing/2014/main" id="{A83216D5-65D9-4237-87D9-BAB28272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98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集团债务风险监控</a:t>
            </a:r>
          </a:p>
        </p:txBody>
      </p:sp>
      <p:sp>
        <p:nvSpPr>
          <p:cNvPr id="9" name="scenario-status-1">
            <a:extLst xmlns:a="http://schemas.openxmlformats.org/drawingml/2006/main">
              <a:ext uri="{FF2B5EF4-FFF2-40B4-BE49-F238E27FC236}">
                <a16:creationId xmlns:a16="http://schemas.microsoft.com/office/drawing/2014/main" id="{2E9F0898-11E8-49DA-944E-BEBC2A6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首个完整闭环建设对象</a:t>
            </a:r>
          </a:p>
        </p:txBody>
      </p:sp>
      <p:sp>
        <p:nvSpPr>
          <p:cNvPr id="10" name="scenario-code-2">
            <a:extLst xmlns:a="http://schemas.openxmlformats.org/drawingml/2006/main">
              <a:ext uri="{FF2B5EF4-FFF2-40B4-BE49-F238E27FC236}">
                <a16:creationId xmlns:a16="http://schemas.microsoft.com/office/drawing/2014/main" id="{E68154D1-8BB5-4B39-9DB2-E1C0FBF6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S002</a:t>
            </a:r>
          </a:p>
        </p:txBody>
      </p:sp>
      <p:sp>
        <p:nvSpPr>
          <p:cNvPr id="11" name="scenario-row-2">
            <a:extLst xmlns:a="http://schemas.openxmlformats.org/drawingml/2006/main">
              <a:ext uri="{FF2B5EF4-FFF2-40B4-BE49-F238E27FC236}">
                <a16:creationId xmlns:a16="http://schemas.microsoft.com/office/drawing/2014/main" id="{F0DDFD31-BCA7-4933-9575-A3DC8F5C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2" name="scenario-name-2">
            <a:extLst xmlns:a="http://schemas.openxmlformats.org/drawingml/2006/main">
              <a:ext uri="{FF2B5EF4-FFF2-40B4-BE49-F238E27FC236}">
                <a16:creationId xmlns:a16="http://schemas.microsoft.com/office/drawing/2014/main" id="{311F17A6-543F-4E12-8E1B-D3BD829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财务公司贷前报告</a:t>
            </a:r>
          </a:p>
        </p:txBody>
      </p:sp>
      <p:sp>
        <p:nvSpPr>
          <p:cNvPr id="13" name="scenario-status-2">
            <a:extLst xmlns:a="http://schemas.openxmlformats.org/drawingml/2006/main">
              <a:ext uri="{FF2B5EF4-FFF2-40B4-BE49-F238E27FC236}">
                <a16:creationId xmlns:a16="http://schemas.microsoft.com/office/drawing/2014/main" id="{962C00BD-D223-4479-9780-D8280499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稳定入口｜业务资料待补充</a:t>
            </a:r>
          </a:p>
        </p:txBody>
      </p:sp>
      <p:sp>
        <p:nvSpPr>
          <p:cNvPr id="14" name="scenario-code-3">
            <a:extLst xmlns:a="http://schemas.openxmlformats.org/drawingml/2006/main">
              <a:ext uri="{FF2B5EF4-FFF2-40B4-BE49-F238E27FC236}">
                <a16:creationId xmlns:a16="http://schemas.microsoft.com/office/drawing/2014/main" id="{F3830DBB-2F3D-46EA-8B5D-49B57CD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F5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F8F5B"/>
                </a:solidFill>
                <a:latin typeface="微软雅黑"/>
                <a:ea typeface="微软雅黑"/>
                <a:cs typeface="微软雅黑"/>
              </a:rPr>
              <a:t>S003</a:t>
            </a:r>
          </a:p>
        </p:txBody>
      </p:sp>
      <p:sp>
        <p:nvSpPr>
          <p:cNvPr id="15" name="scenario-row-3">
            <a:extLst xmlns:a="http://schemas.openxmlformats.org/drawingml/2006/main">
              <a:ext uri="{FF2B5EF4-FFF2-40B4-BE49-F238E27FC236}">
                <a16:creationId xmlns:a16="http://schemas.microsoft.com/office/drawing/2014/main" id="{1C4777F2-842B-4085-B378-AF3C5F7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6" name="scenario-name-3">
            <a:extLst xmlns:a="http://schemas.openxmlformats.org/drawingml/2006/main">
              <a:ext uri="{FF2B5EF4-FFF2-40B4-BE49-F238E27FC236}">
                <a16:creationId xmlns:a16="http://schemas.microsoft.com/office/drawing/2014/main" id="{EAE4154F-BF4E-4882-8B24-36CE30DE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企业债务风险评估</a:t>
            </a:r>
          </a:p>
        </p:txBody>
      </p:sp>
      <p:sp>
        <p:nvSpPr>
          <p:cNvPr id="17" name="scenario-status-3">
            <a:extLst xmlns:a="http://schemas.openxmlformats.org/drawingml/2006/main">
              <a:ext uri="{FF2B5EF4-FFF2-40B4-BE49-F238E27FC236}">
                <a16:creationId xmlns:a16="http://schemas.microsoft.com/office/drawing/2014/main" id="{2D48CCA5-673B-48A1-B2AB-470180B1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数据内容已确认｜待受控发布验证</a:t>
            </a:r>
          </a:p>
        </p:txBody>
      </p:sp>
      <p:sp>
        <p:nvSpPr>
          <p:cNvPr id="18" name="scenario-code-4">
            <a:extLst xmlns:a="http://schemas.openxmlformats.org/drawingml/2006/main">
              <a:ext uri="{FF2B5EF4-FFF2-40B4-BE49-F238E27FC236}">
                <a16:creationId xmlns:a16="http://schemas.microsoft.com/office/drawing/2014/main" id="{C3CEBA3A-EE03-4CB9-8F63-F5FE55BB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S004</a:t>
            </a:r>
          </a:p>
        </p:txBody>
      </p:sp>
      <p:sp>
        <p:nvSpPr>
          <p:cNvPr id="19" name="scenario-row-4">
            <a:extLst xmlns:a="http://schemas.openxmlformats.org/drawingml/2006/main">
              <a:ext uri="{FF2B5EF4-FFF2-40B4-BE49-F238E27FC236}">
                <a16:creationId xmlns:a16="http://schemas.microsoft.com/office/drawing/2014/main" id="{8BD3189A-D12F-4642-A37C-CC496DDE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90600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20" name="scenario-name-4">
            <a:extLst xmlns:a="http://schemas.openxmlformats.org/drawingml/2006/main">
              <a:ext uri="{FF2B5EF4-FFF2-40B4-BE49-F238E27FC236}">
                <a16:creationId xmlns:a16="http://schemas.microsoft.com/office/drawing/2014/main" id="{44AA80FD-C9F9-4C35-A83A-60224B97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387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预算管理监督</a:t>
            </a:r>
          </a:p>
        </p:txBody>
      </p:sp>
      <p:sp>
        <p:nvSpPr>
          <p:cNvPr id="21" name="scenario-status-4">
            <a:extLst xmlns:a="http://schemas.openxmlformats.org/drawingml/2006/main">
              <a:ext uri="{FF2B5EF4-FFF2-40B4-BE49-F238E27FC236}">
                <a16:creationId xmlns:a16="http://schemas.microsoft.com/office/drawing/2014/main" id="{8B205892-C5AF-46DC-AA26-E69A7E36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38700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稳定入口｜业务资料待补充</a:t>
            </a:r>
          </a:p>
        </p:txBody>
      </p:sp>
      <p:sp>
        <p:nvSpPr>
          <p:cNvPr id="22" name="footer-note-23">
            <a:extLst xmlns:a="http://schemas.openxmlformats.org/drawingml/2006/main">
              <a:ext uri="{FF2B5EF4-FFF2-40B4-BE49-F238E27FC236}">
                <a16:creationId xmlns:a16="http://schemas.microsoft.com/office/drawing/2014/main" id="{D50D6E7F-8F69-460B-B921-5A75CBB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S003 完整场景尚未启动；不扩写为评分、Rule、报告或待办已建成</a:t>
            </a:r>
          </a:p>
        </p:txBody>
      </p:sp>
      <p:sp>
        <p:nvSpPr>
          <p:cNvPr id="23" name="footer-page-23">
            <a:extLst xmlns:a="http://schemas.openxmlformats.org/drawingml/2006/main">
              <a:ext uri="{FF2B5EF4-FFF2-40B4-BE49-F238E27FC236}">
                <a16:creationId xmlns:a16="http://schemas.microsoft.com/office/drawing/2014/main" id="{873BA1B6-CB42-41A0-AA47-B7D055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3506963b44f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448925" y="5724525"/>
            <a:ext cx="1743075" cy="1133475"/>
          </a:xfrm>
          <a:prstGeom xmlns:a="http://schemas.openxmlformats.org/drawingml/2006/main" prst="rect">
            <a:avLst/>
          </a:prstGeom>
        </p:spPr>
      </p:pic>
      <p:pic>
        <p:nvPicPr>
          <p:cNvPr id="2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7b5a6236040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section-24">
            <a:extLst xmlns:a="http://schemas.openxmlformats.org/drawingml/2006/main">
              <a:ext uri="{FF2B5EF4-FFF2-40B4-BE49-F238E27FC236}">
                <a16:creationId xmlns:a16="http://schemas.microsoft.com/office/drawing/2014/main" id="{0BEE4894-1062-465A-A26B-21642FAC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D72D2"/>
                </a:solidFill>
                <a:latin typeface="微软雅黑"/>
                <a:ea typeface="微软雅黑"/>
                <a:cs typeface="微软雅黑"/>
              </a:rPr>
              <a:t>项目收束</a:t>
            </a:r>
          </a:p>
        </p:txBody>
      </p:sp>
      <p:sp>
        <p:nvSpPr>
          <p:cNvPr id="4" name="title-24">
            <a:extLst xmlns:a="http://schemas.openxmlformats.org/drawingml/2006/main">
              <a:ext uri="{FF2B5EF4-FFF2-40B4-BE49-F238E27FC236}">
                <a16:creationId xmlns:a16="http://schemas.microsoft.com/office/drawing/2014/main" id="{CB699007-9FE8-4DBB-A580-584E5BF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先完成 S001 真实闭环，再按同一合同扩展场景</a:t>
            </a:r>
          </a:p>
        </p:txBody>
      </p:sp>
      <p:sp>
        <p:nvSpPr>
          <p:cNvPr id="5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2CE6EF0C-F09C-469B-A3DA-FC8B0B70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6" name="close-circle-1">
            <a:extLst xmlns:a="http://schemas.openxmlformats.org/drawingml/2006/main">
              <a:ext uri="{FF2B5EF4-FFF2-40B4-BE49-F238E27FC236}">
                <a16:creationId xmlns:a16="http://schemas.microsoft.com/office/drawing/2014/main" id="{154AA7AA-EF75-4819-990D-F0AB20B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2D2"/>
          </a:solidFill>
          <a:ln xmlns:a="http://schemas.openxmlformats.org/drawingml/2006/main" w="9525">
            <a:solidFill>
              <a:srgbClr val="2D72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7BD11-2E21-46A4-B88A-7FFDCA1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5F8C5AA7-CC9F-4D13-98C9-6522E798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版本明确</a:t>
            </a:r>
          </a:p>
        </p:txBody>
      </p:sp>
      <p:sp>
        <p:nvSpPr>
          <p:cNvPr id="9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18FFA90D-08FF-48DF-A3DD-FF33FACE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每次消费知道使用哪一版数据与语义</a:t>
            </a:r>
          </a:p>
        </p:txBody>
      </p:sp>
      <p:sp>
        <p:nvSpPr>
          <p:cNvPr id="10" name="close-circle-2">
            <a:extLst xmlns:a="http://schemas.openxmlformats.org/drawingml/2006/main">
              <a:ext uri="{FF2B5EF4-FFF2-40B4-BE49-F238E27FC236}">
                <a16:creationId xmlns:a16="http://schemas.microsoft.com/office/drawing/2014/main" id="{8DBC6D4F-E344-4783-9A7A-F9B638AB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9D5A0-D7DB-4B2D-B361-769A15B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2B61EF98-3F6A-40BB-8FF7-FEDB80B6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证据可回</a:t>
            </a:r>
          </a:p>
        </p:txBody>
      </p:sp>
      <p:sp>
        <p:nvSpPr>
          <p:cNvPr id="13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8CF70B29-02A6-4EDB-80BA-1B8576B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结论能够回到主体、时点、口径和来源</a:t>
            </a:r>
          </a:p>
        </p:txBody>
      </p:sp>
      <p:sp>
        <p:nvSpPr>
          <p:cNvPr id="14" name="close-circle-3">
            <a:extLst xmlns:a="http://schemas.openxmlformats.org/drawingml/2006/main">
              <a:ext uri="{FF2B5EF4-FFF2-40B4-BE49-F238E27FC236}">
                <a16:creationId xmlns:a16="http://schemas.microsoft.com/office/drawing/2014/main" id="{657E0ACB-2B2D-48D7-91DD-C70692B8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B1A13-464C-4832-A947-5170B586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close-label-3">
            <a:extLst xmlns:a="http://schemas.openxmlformats.org/drawingml/2006/main">
              <a:ext uri="{FF2B5EF4-FFF2-40B4-BE49-F238E27FC236}">
                <a16:creationId xmlns:a16="http://schemas.microsoft.com/office/drawing/2014/main" id="{35C5AFD9-78AB-4AC0-84EE-3C74048E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人工把关</a:t>
            </a:r>
          </a:p>
        </p:txBody>
      </p:sp>
      <p:sp>
        <p:nvSpPr>
          <p:cNvPr id="17" name="close-copy-3">
            <a:extLst xmlns:a="http://schemas.openxmlformats.org/drawingml/2006/main">
              <a:ext uri="{FF2B5EF4-FFF2-40B4-BE49-F238E27FC236}">
                <a16:creationId xmlns:a16="http://schemas.microsoft.com/office/drawing/2014/main" id="{78139272-195B-4AE6-93EC-61AD210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建议经过授权的人确认后才进入行动</a:t>
            </a:r>
          </a:p>
        </p:txBody>
      </p:sp>
      <p:sp>
        <p:nvSpPr>
          <p:cNvPr id="18" name="close-circle-4">
            <a:extLst xmlns:a="http://schemas.openxmlformats.org/drawingml/2006/main">
              <a:ext uri="{FF2B5EF4-FFF2-40B4-BE49-F238E27FC236}">
                <a16:creationId xmlns:a16="http://schemas.microsoft.com/office/drawing/2014/main" id="{71EB3478-833B-4DA5-A8B5-D3AE227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050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C9B6D-3A31-4920-AABF-0129CF12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7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close-label-4">
            <a:extLst xmlns:a="http://schemas.openxmlformats.org/drawingml/2006/main">
              <a:ext uri="{FF2B5EF4-FFF2-40B4-BE49-F238E27FC236}">
                <a16:creationId xmlns:a16="http://schemas.microsoft.com/office/drawing/2014/main" id="{B5DC5E87-8146-40D5-BD64-402D1A78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81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13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运行可追溯</a:t>
            </a:r>
          </a:p>
        </p:txBody>
      </p:sp>
      <p:sp>
        <p:nvSpPr>
          <p:cNvPr id="21" name="close-copy-4">
            <a:extLst xmlns:a="http://schemas.openxmlformats.org/drawingml/2006/main">
              <a:ext uri="{FF2B5EF4-FFF2-40B4-BE49-F238E27FC236}">
                <a16:creationId xmlns:a16="http://schemas.microsoft.com/office/drawing/2014/main" id="{C7E40490-74CA-4089-9577-623A568B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E6A73"/>
                </a:solidFill>
                <a:latin typeface="微软雅黑"/>
                <a:ea typeface="微软雅黑"/>
                <a:cs typeface="微软雅黑"/>
              </a:rPr>
              <a:t>请求、确认、待办与失败分别记录状态</a:t>
            </a:r>
          </a:p>
        </p:txBody>
      </p:sp>
      <p:sp>
        <p:nvSpPr>
          <p:cNvPr id="22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1C8E3A13-CAA1-48B7-A7A7-07C41405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2129"/>
                </a:solidFill>
                <a:latin typeface="微软雅黑"/>
                <a:ea typeface="微软雅黑"/>
                <a:cs typeface="微软雅黑"/>
              </a:rPr>
              <a:t>成功标准：版本明确、证据可回、人工把关、运行可追溯</a:t>
            </a:r>
          </a:p>
        </p:txBody>
      </p:sp>
      <p:sp>
        <p:nvSpPr>
          <p:cNvPr id="23" name="footer-note-24">
            <a:extLst xmlns:a="http://schemas.openxmlformats.org/drawingml/2006/main">
              <a:ext uri="{FF2B5EF4-FFF2-40B4-BE49-F238E27FC236}">
                <a16:creationId xmlns:a16="http://schemas.microsoft.com/office/drawing/2014/main" id="{6E1B5925-B0F0-418C-B64D-B0CB98D9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ontology3.0｜当前以 S001 作为首个完整闭环建设对象</a:t>
            </a:r>
          </a:p>
        </p:txBody>
      </p:sp>
      <p:sp>
        <p:nvSpPr>
          <p:cNvPr id="24" name="footer-page-24">
            <a:extLst xmlns:a="http://schemas.openxmlformats.org/drawingml/2006/main">
              <a:ext uri="{FF2B5EF4-FFF2-40B4-BE49-F238E27FC236}">
                <a16:creationId xmlns:a16="http://schemas.microsoft.com/office/drawing/2014/main" id="{77DA7F60-F816-427F-AD14-AF252302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7929A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1740910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2026-08-13T04:18:52.3530000Z</dcterms:created>
  <dcterms:modified xsi:type="dcterms:W3CDTF">2026-08-13T04:18:52.3530000Z</dcterms:modified>
</coreProperties>
</file>